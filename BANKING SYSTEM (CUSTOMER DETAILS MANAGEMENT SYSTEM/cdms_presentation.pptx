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1" r:id="rId12"/>
    <p:sldId id="266" r:id="rId13"/>
    <p:sldId id="267" r:id="rId14"/>
    <p:sldId id="268" r:id="rId15"/>
    <p:sldId id="269" r:id="rId16"/>
    <p:sldId id="270" r:id="rId17"/>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mmanuel joshua" initials="ej" lastIdx="1" clrIdx="0">
    <p:extLst>
      <p:ext uri="{19B8F6BF-5375-455C-9EA6-DF929625EA0E}">
        <p15:presenceInfo xmlns:p15="http://schemas.microsoft.com/office/powerpoint/2012/main" userId="0a02880503388e8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8" d="100"/>
          <a:sy n="78" d="100"/>
        </p:scale>
        <p:origin x="8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F1923"/>
                </a:solidFill>
                <a:latin typeface="Arial"/>
              </a:defRPr>
            </a:pPr>
            <a:r>
              <a:rPr lang="en-US" sz="1100" b="0" i="0" u="none" strike="noStrike">
                <a:solidFill>
                  <a:srgbClr val="0F1923"/>
                </a:solidFill>
                <a:latin typeface="Arial"/>
              </a:rPr>
              <a:t>Top 8 Accounts by Balance (USD)</a:t>
            </a:r>
          </a:p>
        </c:rich>
      </c:tx>
      <c:overlay val="0"/>
    </c:title>
    <c:autoTitleDeleted val="0"/>
    <c:plotArea>
      <c:layout/>
      <c:barChart>
        <c:barDir val="col"/>
        <c:grouping val="clustered"/>
        <c:varyColors val="0"/>
        <c:ser>
          <c:idx val="0"/>
          <c:order val="0"/>
          <c:tx>
            <c:strRef>
              <c:f>Sheet1!$B$1</c:f>
              <c:strCache>
                <c:ptCount val="1"/>
                <c:pt idx="0">
                  <c:v>Account Balance (USD)</c:v>
                </c:pt>
              </c:strCache>
            </c:strRef>
          </c:tx>
          <c:spPr>
            <a:solidFill>
              <a:srgbClr val="0A7E8C"/>
            </a:solidFill>
            <a:effectLst/>
          </c:spPr>
          <c:invertIfNegative val="0"/>
          <c:dPt>
            <c:idx val="0"/>
            <c:invertIfNegative val="0"/>
            <c:bubble3D val="0"/>
            <c:spPr>
              <a:solidFill>
                <a:srgbClr val="0A7E8C"/>
              </a:solidFill>
              <a:effectLst/>
            </c:spPr>
            <c:extLst>
              <c:ext xmlns:c16="http://schemas.microsoft.com/office/drawing/2014/chart" uri="{C3380CC4-5D6E-409C-BE32-E72D297353CC}">
                <c16:uniqueId val="{00000001-1C52-4238-A7FE-AECCC59F4F63}"/>
              </c:ext>
            </c:extLst>
          </c:dPt>
          <c:dPt>
            <c:idx val="1"/>
            <c:invertIfNegative val="0"/>
            <c:bubble3D val="0"/>
            <c:spPr>
              <a:solidFill>
                <a:srgbClr val="0A7E8C"/>
              </a:solidFill>
              <a:effectLst/>
            </c:spPr>
            <c:extLst>
              <c:ext xmlns:c16="http://schemas.microsoft.com/office/drawing/2014/chart" uri="{C3380CC4-5D6E-409C-BE32-E72D297353CC}">
                <c16:uniqueId val="{00000003-1C52-4238-A7FE-AECCC59F4F63}"/>
              </c:ext>
            </c:extLst>
          </c:dPt>
          <c:dPt>
            <c:idx val="2"/>
            <c:invertIfNegative val="0"/>
            <c:bubble3D val="0"/>
            <c:spPr>
              <a:solidFill>
                <a:srgbClr val="0A7E8C"/>
              </a:solidFill>
              <a:effectLst/>
            </c:spPr>
            <c:extLst>
              <c:ext xmlns:c16="http://schemas.microsoft.com/office/drawing/2014/chart" uri="{C3380CC4-5D6E-409C-BE32-E72D297353CC}">
                <c16:uniqueId val="{00000005-1C52-4238-A7FE-AECCC59F4F63}"/>
              </c:ext>
            </c:extLst>
          </c:dPt>
          <c:dPt>
            <c:idx val="3"/>
            <c:invertIfNegative val="0"/>
            <c:bubble3D val="0"/>
            <c:spPr>
              <a:solidFill>
                <a:srgbClr val="12B5C4"/>
              </a:solidFill>
              <a:effectLst/>
            </c:spPr>
            <c:extLst>
              <c:ext xmlns:c16="http://schemas.microsoft.com/office/drawing/2014/chart" uri="{C3380CC4-5D6E-409C-BE32-E72D297353CC}">
                <c16:uniqueId val="{00000007-1C52-4238-A7FE-AECCC59F4F63}"/>
              </c:ext>
            </c:extLst>
          </c:dPt>
          <c:dPt>
            <c:idx val="4"/>
            <c:invertIfNegative val="0"/>
            <c:bubble3D val="0"/>
            <c:spPr>
              <a:solidFill>
                <a:srgbClr val="12B5C4"/>
              </a:solidFill>
              <a:effectLst/>
            </c:spPr>
            <c:extLst>
              <c:ext xmlns:c16="http://schemas.microsoft.com/office/drawing/2014/chart" uri="{C3380CC4-5D6E-409C-BE32-E72D297353CC}">
                <c16:uniqueId val="{00000009-1C52-4238-A7FE-AECCC59F4F63}"/>
              </c:ext>
            </c:extLst>
          </c:dPt>
          <c:dPt>
            <c:idx val="5"/>
            <c:invertIfNegative val="0"/>
            <c:bubble3D val="0"/>
            <c:spPr>
              <a:solidFill>
                <a:srgbClr val="12B5C4"/>
              </a:solidFill>
              <a:effectLst/>
            </c:spPr>
            <c:extLst>
              <c:ext xmlns:c16="http://schemas.microsoft.com/office/drawing/2014/chart" uri="{C3380CC4-5D6E-409C-BE32-E72D297353CC}">
                <c16:uniqueId val="{0000000B-1C52-4238-A7FE-AECCC59F4F63}"/>
              </c:ext>
            </c:extLst>
          </c:dPt>
          <c:dPt>
            <c:idx val="6"/>
            <c:invertIfNegative val="0"/>
            <c:bubble3D val="0"/>
            <c:spPr>
              <a:solidFill>
                <a:srgbClr val="1A6B8A"/>
              </a:solidFill>
              <a:effectLst/>
            </c:spPr>
            <c:extLst>
              <c:ext xmlns:c16="http://schemas.microsoft.com/office/drawing/2014/chart" uri="{C3380CC4-5D6E-409C-BE32-E72D297353CC}">
                <c16:uniqueId val="{0000000D-1C52-4238-A7FE-AECCC59F4F63}"/>
              </c:ext>
            </c:extLst>
          </c:dPt>
          <c:dPt>
            <c:idx val="7"/>
            <c:invertIfNegative val="0"/>
            <c:bubble3D val="0"/>
            <c:spPr>
              <a:solidFill>
                <a:srgbClr val="1A6B8A"/>
              </a:solidFill>
              <a:effectLst/>
            </c:spPr>
            <c:extLst>
              <c:ext xmlns:c16="http://schemas.microsoft.com/office/drawing/2014/chart" uri="{C3380CC4-5D6E-409C-BE32-E72D297353CC}">
                <c16:uniqueId val="{0000000F-1C52-4238-A7FE-AECCC59F4F63}"/>
              </c:ext>
            </c:extLst>
          </c:dPt>
          <c:dLbls>
            <c:numFmt formatCode="#,##0" sourceLinked="0"/>
            <c:spPr>
              <a:noFill/>
              <a:ln>
                <a:noFill/>
              </a:ln>
              <a:effectLst/>
            </c:spPr>
            <c:txPr>
              <a:bodyPr/>
              <a:lstStyle/>
              <a:p>
                <a:pPr>
                  <a:defRPr sz="800" b="0" i="0" u="none" strike="noStrike">
                    <a:solidFill>
                      <a:srgbClr val="1B263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CID-1019
$22,000</c:v>
                </c:pt>
                <c:pt idx="1">
                  <c:v>CID-1008
$15,600</c:v>
                </c:pt>
                <c:pt idx="2">
                  <c:v>CID-1013
$12,400</c:v>
                </c:pt>
                <c:pt idx="3">
                  <c:v>CID-1028
$12,500</c:v>
                </c:pt>
                <c:pt idx="4">
                  <c:v>CID-1007
$9,500</c:v>
                </c:pt>
                <c:pt idx="5">
                  <c:v>CID-1023
$9,200</c:v>
                </c:pt>
                <c:pt idx="6">
                  <c:v>CID-1005
$8,900</c:v>
                </c:pt>
                <c:pt idx="7">
                  <c:v>CID-1016
$6,700</c:v>
                </c:pt>
              </c:strCache>
            </c:strRef>
          </c:cat>
          <c:val>
            <c:numRef>
              <c:f>Sheet1!$B$2:$B$9</c:f>
              <c:numCache>
                <c:formatCode>General</c:formatCode>
                <c:ptCount val="8"/>
                <c:pt idx="0">
                  <c:v>22000</c:v>
                </c:pt>
                <c:pt idx="1">
                  <c:v>15600</c:v>
                </c:pt>
                <c:pt idx="2">
                  <c:v>12400</c:v>
                </c:pt>
                <c:pt idx="3">
                  <c:v>12500</c:v>
                </c:pt>
                <c:pt idx="4">
                  <c:v>9500</c:v>
                </c:pt>
                <c:pt idx="5">
                  <c:v>9200</c:v>
                </c:pt>
                <c:pt idx="6">
                  <c:v>8900</c:v>
                </c:pt>
                <c:pt idx="7">
                  <c:v>6700</c:v>
                </c:pt>
              </c:numCache>
            </c:numRef>
          </c:val>
          <c:extLst>
            <c:ext xmlns:c16="http://schemas.microsoft.com/office/drawing/2014/chart" uri="{C3380CC4-5D6E-409C-BE32-E72D297353CC}">
              <c16:uniqueId val="{00000010-1C52-4238-A7FE-AECCC59F4F6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1175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39082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196569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7110722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9128570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7765897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8041213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946340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9323710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731836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04693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9153233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002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5/6/2026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50329583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32D46"/>
          </a:solidFill>
          <a:ln w="12700">
            <a:solidFill>
              <a:srgbClr val="132D46"/>
            </a:solidFill>
            <a:prstDash val="solid"/>
          </a:ln>
        </p:spPr>
      </p:sp>
      <p:sp>
        <p:nvSpPr>
          <p:cNvPr id="3" name="Shape 1"/>
          <p:cNvSpPr/>
          <p:nvPr/>
        </p:nvSpPr>
        <p:spPr>
          <a:xfrm>
            <a:off x="8321040" y="0"/>
            <a:ext cx="822960" cy="5143500"/>
          </a:xfrm>
          <a:prstGeom prst="rect">
            <a:avLst/>
          </a:prstGeom>
          <a:solidFill>
            <a:srgbClr val="091521"/>
          </a:solidFill>
          <a:ln w="12700">
            <a:solidFill>
              <a:srgbClr val="091521"/>
            </a:solidFill>
            <a:prstDash val="solid"/>
          </a:ln>
        </p:spPr>
      </p:sp>
      <p:sp>
        <p:nvSpPr>
          <p:cNvPr id="4" name="Shape 2"/>
          <p:cNvSpPr/>
          <p:nvPr/>
        </p:nvSpPr>
        <p:spPr>
          <a:xfrm>
            <a:off x="0" y="0"/>
            <a:ext cx="9144000" cy="82296"/>
          </a:xfrm>
          <a:prstGeom prst="rect">
            <a:avLst/>
          </a:prstGeom>
          <a:solidFill>
            <a:srgbClr val="C8922A"/>
          </a:solidFill>
          <a:ln w="12700">
            <a:solidFill>
              <a:srgbClr val="C8922A"/>
            </a:solidFill>
            <a:prstDash val="solid"/>
          </a:ln>
        </p:spPr>
      </p:sp>
      <p:sp>
        <p:nvSpPr>
          <p:cNvPr id="5" name="Shape 3"/>
          <p:cNvSpPr/>
          <p:nvPr/>
        </p:nvSpPr>
        <p:spPr>
          <a:xfrm>
            <a:off x="0" y="5061204"/>
            <a:ext cx="9144000" cy="82296"/>
          </a:xfrm>
          <a:prstGeom prst="rect">
            <a:avLst/>
          </a:prstGeom>
          <a:solidFill>
            <a:srgbClr val="C8922A"/>
          </a:solidFill>
          <a:ln w="12700">
            <a:solidFill>
              <a:srgbClr val="C8922A"/>
            </a:solidFill>
            <a:prstDash val="solid"/>
          </a:ln>
        </p:spPr>
      </p:sp>
      <p:sp>
        <p:nvSpPr>
          <p:cNvPr id="6" name="Shape 4"/>
          <p:cNvSpPr/>
          <p:nvPr/>
        </p:nvSpPr>
        <p:spPr>
          <a:xfrm>
            <a:off x="320040" y="457200"/>
            <a:ext cx="54864" cy="4114800"/>
          </a:xfrm>
          <a:prstGeom prst="rect">
            <a:avLst/>
          </a:prstGeom>
          <a:solidFill>
            <a:srgbClr val="0A7E8C"/>
          </a:solidFill>
          <a:ln w="12700">
            <a:solidFill>
              <a:srgbClr val="0A7E8C"/>
            </a:solidFill>
            <a:prstDash val="solid"/>
          </a:ln>
        </p:spPr>
      </p:sp>
      <p:pic>
        <p:nvPicPr>
          <p:cNvPr id="7" name="Image 0" descr="preencoded.png"/>
          <p:cNvPicPr>
            <a:picLocks noChangeAspect="1"/>
          </p:cNvPicPr>
          <p:nvPr/>
        </p:nvPicPr>
        <p:blipFill>
          <a:blip r:embed="rId3"/>
          <a:stretch>
            <a:fillRect/>
          </a:stretch>
        </p:blipFill>
        <p:spPr>
          <a:xfrm>
            <a:off x="502920" y="594360"/>
            <a:ext cx="960120" cy="960120"/>
          </a:xfrm>
          <a:prstGeom prst="rect">
            <a:avLst/>
          </a:prstGeom>
        </p:spPr>
      </p:pic>
      <p:sp>
        <p:nvSpPr>
          <p:cNvPr id="8" name="Text 5"/>
          <p:cNvSpPr/>
          <p:nvPr/>
        </p:nvSpPr>
        <p:spPr>
          <a:xfrm>
            <a:off x="502920" y="1417320"/>
            <a:ext cx="5852160" cy="713232"/>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Customer Details</a:t>
            </a:r>
            <a:endParaRPr lang="en-US" sz="3800" dirty="0"/>
          </a:p>
        </p:txBody>
      </p:sp>
      <p:sp>
        <p:nvSpPr>
          <p:cNvPr id="9" name="Text 6"/>
          <p:cNvSpPr/>
          <p:nvPr/>
        </p:nvSpPr>
        <p:spPr>
          <a:xfrm>
            <a:off x="502920" y="2011680"/>
            <a:ext cx="5852160" cy="713232"/>
          </a:xfrm>
          <a:prstGeom prst="rect">
            <a:avLst/>
          </a:prstGeom>
          <a:noFill/>
          <a:ln/>
        </p:spPr>
        <p:txBody>
          <a:bodyPr wrap="square" lIns="0" tIns="0" rIns="0" bIns="0" rtlCol="0" anchor="ctr"/>
          <a:lstStyle/>
          <a:p>
            <a:pPr marL="0" indent="0">
              <a:buNone/>
            </a:pPr>
            <a:r>
              <a:rPr lang="en-US" sz="3800" b="1" dirty="0">
                <a:solidFill>
                  <a:srgbClr val="F5C842"/>
                </a:solidFill>
                <a:latin typeface="Calibri" pitchFamily="34" charset="0"/>
                <a:ea typeface="Calibri" pitchFamily="34" charset="-122"/>
                <a:cs typeface="Calibri" pitchFamily="34" charset="-120"/>
              </a:rPr>
              <a:t>Management System</a:t>
            </a:r>
            <a:endParaRPr lang="en-US" sz="3800" dirty="0"/>
          </a:p>
        </p:txBody>
      </p:sp>
      <p:sp>
        <p:nvSpPr>
          <p:cNvPr id="10" name="Shape 7"/>
          <p:cNvSpPr/>
          <p:nvPr/>
        </p:nvSpPr>
        <p:spPr>
          <a:xfrm>
            <a:off x="502920" y="2788920"/>
            <a:ext cx="2926080" cy="45720"/>
          </a:xfrm>
          <a:prstGeom prst="rect">
            <a:avLst/>
          </a:prstGeom>
          <a:solidFill>
            <a:srgbClr val="0A7E8C"/>
          </a:solidFill>
          <a:ln w="12700">
            <a:solidFill>
              <a:srgbClr val="0A7E8C"/>
            </a:solidFill>
            <a:prstDash val="solid"/>
          </a:ln>
        </p:spPr>
      </p:sp>
      <p:sp>
        <p:nvSpPr>
          <p:cNvPr id="11" name="Text 8"/>
          <p:cNvSpPr/>
          <p:nvPr/>
        </p:nvSpPr>
        <p:spPr>
          <a:xfrm>
            <a:off x="502920" y="2926080"/>
            <a:ext cx="5852160" cy="292608"/>
          </a:xfrm>
          <a:prstGeom prst="rect">
            <a:avLst/>
          </a:prstGeom>
          <a:noFill/>
          <a:ln/>
        </p:spPr>
        <p:txBody>
          <a:bodyPr wrap="square" rtlCol="0" anchor="ctr"/>
          <a:lstStyle/>
          <a:p>
            <a:pPr marL="0" indent="0">
              <a:buNone/>
            </a:pPr>
            <a:r>
              <a:rPr lang="en-US" sz="1250" i="1" dirty="0">
                <a:solidFill>
                  <a:srgbClr val="CDD5DF"/>
                </a:solidFill>
                <a:latin typeface="Calibri" pitchFamily="34" charset="0"/>
                <a:ea typeface="Calibri" pitchFamily="34" charset="-122"/>
                <a:cs typeface="Calibri" pitchFamily="34" charset="-120"/>
              </a:rPr>
              <a:t>Database Systems  ·  Individual Project  ·  Banking Domain</a:t>
            </a:r>
            <a:endParaRPr lang="en-US" sz="1250" dirty="0"/>
          </a:p>
        </p:txBody>
      </p:sp>
      <p:sp>
        <p:nvSpPr>
          <p:cNvPr id="12" name="Shape 9"/>
          <p:cNvSpPr/>
          <p:nvPr/>
        </p:nvSpPr>
        <p:spPr>
          <a:xfrm>
            <a:off x="502920" y="3383280"/>
            <a:ext cx="4754880" cy="1097280"/>
          </a:xfrm>
          <a:prstGeom prst="rect">
            <a:avLst/>
          </a:prstGeom>
          <a:solidFill>
            <a:srgbClr val="1A2E42"/>
          </a:solidFill>
          <a:ln w="12700">
            <a:solidFill>
              <a:srgbClr val="1A2E42"/>
            </a:solidFill>
            <a:prstDash val="solid"/>
          </a:ln>
        </p:spPr>
      </p:sp>
      <p:sp>
        <p:nvSpPr>
          <p:cNvPr id="13" name="Text 10"/>
          <p:cNvSpPr/>
          <p:nvPr/>
        </p:nvSpPr>
        <p:spPr>
          <a:xfrm>
            <a:off x="658368" y="3456432"/>
            <a:ext cx="4389120" cy="256032"/>
          </a:xfrm>
          <a:prstGeom prst="rect">
            <a:avLst/>
          </a:prstGeom>
          <a:noFill/>
          <a:ln/>
        </p:spPr>
        <p:txBody>
          <a:bodyPr wrap="square" rtlCol="0" anchor="ctr"/>
          <a:lstStyle/>
          <a:p>
            <a:pPr marL="0" indent="0">
              <a:buNone/>
            </a:pPr>
            <a:r>
              <a:rPr lang="en-US" sz="1000" dirty="0">
                <a:solidFill>
                  <a:srgbClr val="7D8FA1"/>
                </a:solidFill>
                <a:latin typeface="Calibri" pitchFamily="34" charset="0"/>
                <a:ea typeface="Calibri" pitchFamily="34" charset="-122"/>
                <a:cs typeface="Calibri" pitchFamily="34" charset="-120"/>
              </a:rPr>
              <a:t>Submitted by:</a:t>
            </a:r>
            <a:endParaRPr lang="en-US" sz="1000" dirty="0"/>
          </a:p>
        </p:txBody>
      </p:sp>
      <p:sp>
        <p:nvSpPr>
          <p:cNvPr id="14" name="Text 11"/>
          <p:cNvSpPr/>
          <p:nvPr/>
        </p:nvSpPr>
        <p:spPr>
          <a:xfrm>
            <a:off x="658368" y="3675888"/>
            <a:ext cx="4389120" cy="329184"/>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[MURUNGI EMMANUEL JOSHUA]</a:t>
            </a:r>
            <a:endParaRPr lang="en-US" sz="1600" dirty="0"/>
          </a:p>
        </p:txBody>
      </p:sp>
      <p:sp>
        <p:nvSpPr>
          <p:cNvPr id="15" name="Text 12"/>
          <p:cNvSpPr/>
          <p:nvPr/>
        </p:nvSpPr>
        <p:spPr>
          <a:xfrm>
            <a:off x="658368" y="4005072"/>
            <a:ext cx="4389120" cy="237744"/>
          </a:xfrm>
          <a:prstGeom prst="rect">
            <a:avLst/>
          </a:prstGeom>
          <a:noFill/>
          <a:ln/>
        </p:spPr>
        <p:txBody>
          <a:bodyPr wrap="square" rtlCol="0" anchor="ctr"/>
          <a:lstStyle/>
          <a:p>
            <a:pPr marL="0" indent="0">
              <a:buNone/>
            </a:pPr>
            <a:r>
              <a:rPr lang="en-US" sz="1050" dirty="0">
                <a:solidFill>
                  <a:srgbClr val="F5C842"/>
                </a:solidFill>
                <a:latin typeface="Calibri" pitchFamily="34" charset="0"/>
                <a:ea typeface="Calibri" pitchFamily="34" charset="-122"/>
                <a:cs typeface="Calibri" pitchFamily="34" charset="-120"/>
              </a:rPr>
              <a:t>[2025/BCS/128/PS]  ·    · 6</a:t>
            </a:r>
            <a:r>
              <a:rPr lang="en-US" sz="1050" baseline="30000" dirty="0">
                <a:solidFill>
                  <a:srgbClr val="F5C842"/>
                </a:solidFill>
                <a:latin typeface="Calibri" pitchFamily="34" charset="0"/>
                <a:ea typeface="Calibri" pitchFamily="34" charset="-122"/>
                <a:cs typeface="Calibri" pitchFamily="34" charset="-120"/>
              </a:rPr>
              <a:t>th</a:t>
            </a:r>
            <a:r>
              <a:rPr lang="en-US" sz="1050" dirty="0">
                <a:solidFill>
                  <a:srgbClr val="F5C842"/>
                </a:solidFill>
                <a:latin typeface="Calibri" pitchFamily="34" charset="0"/>
                <a:ea typeface="Calibri" pitchFamily="34" charset="-122"/>
                <a:cs typeface="Calibri" pitchFamily="34" charset="-120"/>
              </a:rPr>
              <a:t>  May 2025</a:t>
            </a:r>
            <a:endParaRPr lang="en-US" sz="1050" dirty="0"/>
          </a:p>
        </p:txBody>
      </p:sp>
      <p:sp>
        <p:nvSpPr>
          <p:cNvPr id="16" name="Text 13"/>
          <p:cNvSpPr/>
          <p:nvPr/>
        </p:nvSpPr>
        <p:spPr>
          <a:xfrm>
            <a:off x="6656832" y="914400"/>
            <a:ext cx="2286000" cy="365760"/>
          </a:xfrm>
          <a:prstGeom prst="rect">
            <a:avLst/>
          </a:prstGeom>
          <a:noFill/>
          <a:ln/>
        </p:spPr>
        <p:txBody>
          <a:bodyPr wrap="square" rtlCol="0" anchor="ctr"/>
          <a:lstStyle/>
          <a:p>
            <a:pPr marL="0" indent="0" algn="ctr">
              <a:buNone/>
            </a:pPr>
            <a:r>
              <a:rPr lang="en-US" sz="1050" b="1" dirty="0">
                <a:solidFill>
                  <a:srgbClr val="F5C842"/>
                </a:solidFill>
                <a:latin typeface="Calibri" pitchFamily="34" charset="0"/>
                <a:ea typeface="Calibri" pitchFamily="34" charset="-122"/>
                <a:cs typeface="Calibri" pitchFamily="34" charset="-120"/>
              </a:rPr>
              <a:t>Scope &amp; Problem</a:t>
            </a:r>
            <a:endParaRPr lang="en-US" sz="1050" dirty="0"/>
          </a:p>
        </p:txBody>
      </p:sp>
      <p:sp>
        <p:nvSpPr>
          <p:cNvPr id="17" name="Text 14"/>
          <p:cNvSpPr/>
          <p:nvPr/>
        </p:nvSpPr>
        <p:spPr>
          <a:xfrm>
            <a:off x="6656832" y="1600200"/>
            <a:ext cx="2286000" cy="365760"/>
          </a:xfrm>
          <a:prstGeom prst="rect">
            <a:avLst/>
          </a:prstGeom>
          <a:noFill/>
          <a:ln/>
        </p:spPr>
        <p:txBody>
          <a:bodyPr wrap="square" rtlCol="0" anchor="ctr"/>
          <a:lstStyle/>
          <a:p>
            <a:pPr marL="0" indent="0" algn="ctr">
              <a:buNone/>
            </a:pPr>
            <a:r>
              <a:rPr lang="en-US" sz="1050" dirty="0">
                <a:solidFill>
                  <a:srgbClr val="CDD5DF"/>
                </a:solidFill>
                <a:latin typeface="Calibri" pitchFamily="34" charset="0"/>
                <a:ea typeface="Calibri" pitchFamily="34" charset="-122"/>
                <a:cs typeface="Calibri" pitchFamily="34" charset="-120"/>
              </a:rPr>
              <a:t>Data Design</a:t>
            </a:r>
            <a:endParaRPr lang="en-US" sz="1050" dirty="0"/>
          </a:p>
        </p:txBody>
      </p:sp>
      <p:sp>
        <p:nvSpPr>
          <p:cNvPr id="18" name="Text 15"/>
          <p:cNvSpPr/>
          <p:nvPr/>
        </p:nvSpPr>
        <p:spPr>
          <a:xfrm>
            <a:off x="6656832" y="2286000"/>
            <a:ext cx="2286000" cy="365760"/>
          </a:xfrm>
          <a:prstGeom prst="rect">
            <a:avLst/>
          </a:prstGeom>
          <a:noFill/>
          <a:ln/>
        </p:spPr>
        <p:txBody>
          <a:bodyPr wrap="square" rtlCol="0" anchor="ctr"/>
          <a:lstStyle/>
          <a:p>
            <a:pPr marL="0" indent="0" algn="ctr">
              <a:buNone/>
            </a:pPr>
            <a:r>
              <a:rPr lang="en-US" sz="1050" dirty="0">
                <a:solidFill>
                  <a:srgbClr val="CDD5DF"/>
                </a:solidFill>
                <a:latin typeface="Calibri" pitchFamily="34" charset="0"/>
                <a:ea typeface="Calibri" pitchFamily="34" charset="-122"/>
                <a:cs typeface="Calibri" pitchFamily="34" charset="-120"/>
              </a:rPr>
              <a:t>Table Schema</a:t>
            </a:r>
            <a:endParaRPr lang="en-US" sz="1050" dirty="0"/>
          </a:p>
        </p:txBody>
      </p:sp>
      <p:sp>
        <p:nvSpPr>
          <p:cNvPr id="19" name="Text 16"/>
          <p:cNvSpPr/>
          <p:nvPr/>
        </p:nvSpPr>
        <p:spPr>
          <a:xfrm>
            <a:off x="6656832" y="2971800"/>
            <a:ext cx="2286000" cy="365760"/>
          </a:xfrm>
          <a:prstGeom prst="rect">
            <a:avLst/>
          </a:prstGeom>
          <a:noFill/>
          <a:ln/>
        </p:spPr>
        <p:txBody>
          <a:bodyPr wrap="square" rtlCol="0" anchor="ctr"/>
          <a:lstStyle/>
          <a:p>
            <a:pPr marL="0" indent="0" algn="ctr">
              <a:buNone/>
            </a:pPr>
            <a:r>
              <a:rPr lang="en-US" sz="1050" dirty="0">
                <a:solidFill>
                  <a:srgbClr val="CDD5DF"/>
                </a:solidFill>
                <a:latin typeface="Calibri" pitchFamily="34" charset="0"/>
                <a:ea typeface="Calibri" pitchFamily="34" charset="-122"/>
                <a:cs typeface="Calibri" pitchFamily="34" charset="-120"/>
              </a:rPr>
              <a:t>SQL Queries</a:t>
            </a:r>
            <a:endParaRPr lang="en-US" sz="1050" dirty="0"/>
          </a:p>
        </p:txBody>
      </p:sp>
      <p:sp>
        <p:nvSpPr>
          <p:cNvPr id="20" name="Text 17"/>
          <p:cNvSpPr/>
          <p:nvPr/>
        </p:nvSpPr>
        <p:spPr>
          <a:xfrm>
            <a:off x="6656832" y="3657600"/>
            <a:ext cx="2286000" cy="365760"/>
          </a:xfrm>
          <a:prstGeom prst="rect">
            <a:avLst/>
          </a:prstGeom>
          <a:noFill/>
          <a:ln/>
        </p:spPr>
        <p:txBody>
          <a:bodyPr wrap="square" rtlCol="0" anchor="ctr"/>
          <a:lstStyle/>
          <a:p>
            <a:pPr marL="0" indent="0" algn="ctr">
              <a:buNone/>
            </a:pPr>
            <a:r>
              <a:rPr lang="en-US" sz="1050" dirty="0">
                <a:solidFill>
                  <a:srgbClr val="CDD5DF"/>
                </a:solidFill>
                <a:latin typeface="Calibri" pitchFamily="34" charset="0"/>
                <a:ea typeface="Calibri" pitchFamily="34" charset="-122"/>
                <a:cs typeface="Calibri" pitchFamily="34" charset="-120"/>
              </a:rPr>
              <a:t>Insights &amp; Analysis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9"/>
        </a:solidFill>
        <a:effectLst/>
      </p:bgPr>
    </p:bg>
    <p:spTree>
      <p:nvGrpSpPr>
        <p:cNvPr id="1" name=""/>
        <p:cNvGrpSpPr/>
        <p:nvPr/>
      </p:nvGrpSpPr>
      <p:grpSpPr>
        <a:xfrm>
          <a:off x="0" y="0"/>
          <a:ext cx="0" cy="0"/>
          <a:chOff x="0" y="0"/>
          <a:chExt cx="0" cy="0"/>
        </a:xfrm>
      </p:grpSpPr>
      <p:sp>
        <p:nvSpPr>
          <p:cNvPr id="2" name="Text 0"/>
          <p:cNvSpPr/>
          <p:nvPr/>
        </p:nvSpPr>
        <p:spPr>
          <a:xfrm>
            <a:off x="228600" y="137160"/>
            <a:ext cx="8686800" cy="530352"/>
          </a:xfrm>
          <a:prstGeom prst="rect">
            <a:avLst/>
          </a:prstGeom>
          <a:noFill/>
          <a:ln/>
        </p:spPr>
        <p:txBody>
          <a:bodyPr wrap="square" rtlCol="0" anchor="ctr"/>
          <a:lstStyle/>
          <a:p>
            <a:pPr marL="0" indent="0">
              <a:buNone/>
            </a:pPr>
            <a:r>
              <a:rPr lang="en-US" sz="2700" b="1" dirty="0">
                <a:solidFill>
                  <a:srgbClr val="0F1923"/>
                </a:solidFill>
                <a:latin typeface="Calibri" pitchFamily="34" charset="0"/>
                <a:ea typeface="Calibri" pitchFamily="34" charset="-122"/>
                <a:cs typeface="Calibri" pitchFamily="34" charset="-120"/>
              </a:rPr>
              <a:t>What Is the Customer Details Management System?</a:t>
            </a:r>
            <a:endParaRPr lang="en-US" sz="2700" dirty="0"/>
          </a:p>
        </p:txBody>
      </p:sp>
      <p:sp>
        <p:nvSpPr>
          <p:cNvPr id="3" name="Shape 1"/>
          <p:cNvSpPr/>
          <p:nvPr/>
        </p:nvSpPr>
        <p:spPr>
          <a:xfrm>
            <a:off x="228600" y="749808"/>
            <a:ext cx="8686800" cy="256032"/>
          </a:xfrm>
          <a:prstGeom prst="rect">
            <a:avLst/>
          </a:prstGeom>
          <a:solidFill>
            <a:srgbClr val="0A7E8C"/>
          </a:solidFill>
          <a:ln w="12700">
            <a:solidFill>
              <a:srgbClr val="0A7E8C"/>
            </a:solidFill>
            <a:prstDash val="solid"/>
          </a:ln>
        </p:spPr>
        <p:txBody>
          <a:bodyPr/>
          <a:lstStyle/>
          <a:p>
            <a:endParaRPr lang="en-US" dirty="0"/>
          </a:p>
        </p:txBody>
      </p:sp>
      <p:sp>
        <p:nvSpPr>
          <p:cNvPr id="4" name="Text 2"/>
          <p:cNvSpPr/>
          <p:nvPr/>
        </p:nvSpPr>
        <p:spPr>
          <a:xfrm>
            <a:off x="347472" y="749808"/>
            <a:ext cx="8412480" cy="256032"/>
          </a:xfrm>
          <a:prstGeom prst="rect">
            <a:avLst/>
          </a:prstGeom>
          <a:noFill/>
          <a:ln/>
        </p:spPr>
        <p:txBody>
          <a:bodyPr wrap="square"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PROJECT OVERVIEW </a:t>
            </a:r>
            <a:endParaRPr lang="en-US" sz="950" dirty="0"/>
          </a:p>
        </p:txBody>
      </p:sp>
      <p:sp>
        <p:nvSpPr>
          <p:cNvPr id="5" name="Shape 3"/>
          <p:cNvSpPr/>
          <p:nvPr/>
        </p:nvSpPr>
        <p:spPr>
          <a:xfrm>
            <a:off x="228600" y="1115568"/>
            <a:ext cx="8686800" cy="1078992"/>
          </a:xfrm>
          <a:prstGeom prst="rect">
            <a:avLst/>
          </a:prstGeom>
          <a:solidFill>
            <a:srgbClr val="0F1923"/>
          </a:solidFill>
          <a:ln w="5080">
            <a:solidFill>
              <a:srgbClr val="CDD5DF"/>
            </a:solidFill>
            <a:prstDash val="solid"/>
          </a:ln>
          <a:effectLst>
            <a:outerShdw blurRad="101600" dist="38100" dir="8100000" algn="bl" rotWithShape="0">
              <a:srgbClr val="000000">
                <a:alpha val="18000"/>
              </a:srgbClr>
            </a:outerShdw>
          </a:effectLst>
        </p:spPr>
      </p:sp>
      <p:sp>
        <p:nvSpPr>
          <p:cNvPr id="6" name="Text 4"/>
          <p:cNvSpPr/>
          <p:nvPr/>
        </p:nvSpPr>
        <p:spPr>
          <a:xfrm>
            <a:off x="411480" y="1115568"/>
            <a:ext cx="8321040" cy="1078992"/>
          </a:xfrm>
          <a:prstGeom prst="rect">
            <a:avLst/>
          </a:prstGeom>
          <a:noFill/>
          <a:ln/>
        </p:spPr>
        <p:txBody>
          <a:bodyPr wrap="square" rtlCol="0" anchor="ctr"/>
          <a:lstStyle/>
          <a:p>
            <a:r>
              <a:rPr lang="en-US" sz="1300" b="1" dirty="0">
                <a:solidFill>
                  <a:srgbClr val="F5C842"/>
                </a:solidFill>
                <a:latin typeface="Calibri" pitchFamily="34" charset="0"/>
                <a:ea typeface="Calibri" pitchFamily="34" charset="-122"/>
                <a:cs typeface="Calibri" pitchFamily="34" charset="-120"/>
              </a:rPr>
              <a:t>Definition:</a:t>
            </a:r>
            <a:r>
              <a:rPr lang="en-US" sz="1400" b="1" dirty="0">
                <a:solidFill>
                  <a:srgbClr val="F5C842"/>
                </a:solidFill>
                <a:latin typeface="Calibri" pitchFamily="34" charset="0"/>
                <a:ea typeface="Calibri" pitchFamily="34" charset="-122"/>
                <a:cs typeface="Calibri" pitchFamily="34" charset="-120"/>
              </a:rPr>
              <a:t> </a:t>
            </a:r>
            <a:r>
              <a:rPr lang="en-US" sz="1400" dirty="0"/>
              <a:t> </a:t>
            </a:r>
            <a:r>
              <a:rPr lang="en-US" sz="1400" dirty="0">
                <a:solidFill>
                  <a:schemeClr val="bg1"/>
                </a:solidFill>
              </a:rPr>
              <a:t>database solution designed to manage identity, biographical, and account information within a banking institution</a:t>
            </a:r>
            <a:r>
              <a:rPr lang="en-US" sz="1400" dirty="0"/>
              <a:t>.</a:t>
            </a:r>
            <a:r>
              <a:rPr lang="en-US" sz="1250" dirty="0">
                <a:solidFill>
                  <a:srgbClr val="FFFFFF"/>
                </a:solidFill>
                <a:latin typeface="Calibri" pitchFamily="34" charset="0"/>
                <a:ea typeface="Calibri" pitchFamily="34" charset="-122"/>
                <a:cs typeface="Calibri" pitchFamily="34" charset="-120"/>
              </a:rPr>
              <a:t>. It serves as the authoritative source of truth for all customer-facing operations.</a:t>
            </a:r>
            <a:endParaRPr lang="en-US" sz="1300" dirty="0"/>
          </a:p>
        </p:txBody>
      </p:sp>
      <p:sp>
        <p:nvSpPr>
          <p:cNvPr id="7" name="Shape 5"/>
          <p:cNvSpPr/>
          <p:nvPr/>
        </p:nvSpPr>
        <p:spPr>
          <a:xfrm>
            <a:off x="228600" y="2322576"/>
            <a:ext cx="2807208" cy="2450592"/>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8" name="Shape 6"/>
          <p:cNvSpPr/>
          <p:nvPr/>
        </p:nvSpPr>
        <p:spPr>
          <a:xfrm>
            <a:off x="228600" y="2322576"/>
            <a:ext cx="2807208" cy="310896"/>
          </a:xfrm>
          <a:prstGeom prst="rect">
            <a:avLst/>
          </a:prstGeom>
          <a:solidFill>
            <a:srgbClr val="0A7E8C"/>
          </a:solidFill>
          <a:ln w="12700">
            <a:solidFill>
              <a:srgbClr val="0A7E8C"/>
            </a:solidFill>
            <a:prstDash val="solid"/>
          </a:ln>
        </p:spPr>
      </p:sp>
      <p:sp>
        <p:nvSpPr>
          <p:cNvPr id="9" name="Text 7"/>
          <p:cNvSpPr/>
          <p:nvPr/>
        </p:nvSpPr>
        <p:spPr>
          <a:xfrm>
            <a:off x="320040" y="2322576"/>
            <a:ext cx="2624328"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Context</a:t>
            </a:r>
            <a:endParaRPr lang="en-US" sz="1100" dirty="0"/>
          </a:p>
        </p:txBody>
      </p:sp>
      <p:sp>
        <p:nvSpPr>
          <p:cNvPr id="10" name="Text 8"/>
          <p:cNvSpPr/>
          <p:nvPr/>
        </p:nvSpPr>
        <p:spPr>
          <a:xfrm>
            <a:off x="338328" y="2688336"/>
            <a:ext cx="2615184" cy="2011680"/>
          </a:xfrm>
          <a:prstGeom prst="rect">
            <a:avLst/>
          </a:prstGeom>
          <a:noFill/>
          <a:ln/>
        </p:spPr>
        <p:txBody>
          <a:bodyPr wrap="square" rtlCol="0" anchor="t"/>
          <a:lstStyle/>
          <a:p>
            <a:pPr marL="0" indent="0">
              <a:buNone/>
            </a:pPr>
            <a:r>
              <a:rPr lang="en-US" sz="980" dirty="0">
                <a:solidFill>
                  <a:srgbClr val="0F1923"/>
                </a:solidFill>
                <a:latin typeface="Calibri" pitchFamily="34" charset="0"/>
                <a:ea typeface="Calibri" pitchFamily="34" charset="-122"/>
                <a:cs typeface="Calibri" pitchFamily="34" charset="-120"/>
              </a:rPr>
              <a:t>Banks interact with thousands of customers daily. Each interaction — whether opening an account, processing a payment, or issuing a loan — depends on accurate, instantly accessible customer data. Without a centralised system, this data lives in spreadsheets, paper files, and disconnected registers.</a:t>
            </a:r>
            <a:endParaRPr lang="en-US" sz="980" dirty="0"/>
          </a:p>
        </p:txBody>
      </p:sp>
      <p:sp>
        <p:nvSpPr>
          <p:cNvPr id="11" name="Shape 9"/>
          <p:cNvSpPr/>
          <p:nvPr/>
        </p:nvSpPr>
        <p:spPr>
          <a:xfrm>
            <a:off x="3172968" y="2322576"/>
            <a:ext cx="2807208" cy="2450592"/>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2" name="Shape 10"/>
          <p:cNvSpPr/>
          <p:nvPr/>
        </p:nvSpPr>
        <p:spPr>
          <a:xfrm>
            <a:off x="3172968" y="2322576"/>
            <a:ext cx="2807208" cy="310896"/>
          </a:xfrm>
          <a:prstGeom prst="rect">
            <a:avLst/>
          </a:prstGeom>
          <a:solidFill>
            <a:srgbClr val="1B4F72"/>
          </a:solidFill>
          <a:ln w="12700">
            <a:solidFill>
              <a:srgbClr val="1B4F72"/>
            </a:solidFill>
            <a:prstDash val="solid"/>
          </a:ln>
        </p:spPr>
      </p:sp>
      <p:sp>
        <p:nvSpPr>
          <p:cNvPr id="13" name="Text 11"/>
          <p:cNvSpPr/>
          <p:nvPr/>
        </p:nvSpPr>
        <p:spPr>
          <a:xfrm>
            <a:off x="3264408" y="2322576"/>
            <a:ext cx="2624328"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Gap This Fills</a:t>
            </a:r>
            <a:endParaRPr lang="en-US" sz="1100" dirty="0"/>
          </a:p>
        </p:txBody>
      </p:sp>
      <p:sp>
        <p:nvSpPr>
          <p:cNvPr id="14" name="Text 12"/>
          <p:cNvSpPr/>
          <p:nvPr/>
        </p:nvSpPr>
        <p:spPr>
          <a:xfrm>
            <a:off x="3282696" y="2688336"/>
            <a:ext cx="2615184" cy="2011680"/>
          </a:xfrm>
          <a:prstGeom prst="rect">
            <a:avLst/>
          </a:prstGeom>
          <a:noFill/>
          <a:ln/>
        </p:spPr>
        <p:txBody>
          <a:bodyPr wrap="square" rtlCol="0" anchor="t"/>
          <a:lstStyle/>
          <a:p>
            <a:pPr marL="0" indent="0">
              <a:buNone/>
            </a:pPr>
            <a:r>
              <a:rPr lang="en-US" sz="980" dirty="0">
                <a:solidFill>
                  <a:srgbClr val="0F1923"/>
                </a:solidFill>
                <a:latin typeface="Calibri" pitchFamily="34" charset="0"/>
                <a:ea typeface="Calibri" pitchFamily="34" charset="-122"/>
                <a:cs typeface="Calibri" pitchFamily="34" charset="-120"/>
              </a:rPr>
              <a:t>This project implements a normalised MySQL database with 6 core tables — </a:t>
            </a:r>
            <a:r>
              <a:rPr lang="en-US" sz="980" dirty="0" err="1">
                <a:solidFill>
                  <a:srgbClr val="0F1923"/>
                </a:solidFill>
                <a:latin typeface="Calibri" pitchFamily="34" charset="0"/>
                <a:ea typeface="Calibri" pitchFamily="34" charset="-122"/>
                <a:cs typeface="Calibri" pitchFamily="34" charset="-120"/>
              </a:rPr>
              <a:t>customer_bio</a:t>
            </a:r>
            <a:r>
              <a:rPr lang="en-US" sz="980" dirty="0">
                <a:solidFill>
                  <a:srgbClr val="0F1923"/>
                </a:solidFill>
                <a:latin typeface="Calibri" pitchFamily="34" charset="0"/>
                <a:ea typeface="Calibri" pitchFamily="34" charset="-122"/>
                <a:cs typeface="Calibri" pitchFamily="34" charset="-120"/>
              </a:rPr>
              <a:t>, </a:t>
            </a:r>
            <a:r>
              <a:rPr lang="en-US" sz="980" dirty="0" err="1">
                <a:solidFill>
                  <a:srgbClr val="0F1923"/>
                </a:solidFill>
                <a:latin typeface="Calibri" pitchFamily="34" charset="0"/>
                <a:ea typeface="Calibri" pitchFamily="34" charset="-122"/>
                <a:cs typeface="Calibri" pitchFamily="34" charset="-120"/>
              </a:rPr>
              <a:t>transaction_history</a:t>
            </a:r>
            <a:r>
              <a:rPr lang="en-US" sz="980" dirty="0">
                <a:solidFill>
                  <a:srgbClr val="0F1923"/>
                </a:solidFill>
                <a:latin typeface="Calibri" pitchFamily="34" charset="0"/>
                <a:ea typeface="Calibri" pitchFamily="34" charset="-122"/>
                <a:cs typeface="Calibri" pitchFamily="34" charset="-120"/>
              </a:rPr>
              <a:t> ,</a:t>
            </a:r>
            <a:r>
              <a:rPr lang="en-US" sz="980" dirty="0" err="1">
                <a:solidFill>
                  <a:srgbClr val="0F1923"/>
                </a:solidFill>
                <a:latin typeface="Calibri" pitchFamily="34" charset="0"/>
                <a:ea typeface="Calibri" pitchFamily="34" charset="-122"/>
                <a:cs typeface="Calibri" pitchFamily="34" charset="-120"/>
              </a:rPr>
              <a:t>branch_details</a:t>
            </a:r>
            <a:r>
              <a:rPr lang="en-US" sz="980" dirty="0">
                <a:solidFill>
                  <a:srgbClr val="0F1923"/>
                </a:solidFill>
                <a:latin typeface="Calibri" pitchFamily="34" charset="0"/>
                <a:ea typeface="Calibri" pitchFamily="34" charset="-122"/>
                <a:cs typeface="Calibri" pitchFamily="34" charset="-120"/>
              </a:rPr>
              <a:t> </a:t>
            </a:r>
            <a:r>
              <a:rPr lang="en-US" sz="980" dirty="0" err="1">
                <a:solidFill>
                  <a:srgbClr val="0F1923"/>
                </a:solidFill>
                <a:latin typeface="Calibri" pitchFamily="34" charset="0"/>
                <a:ea typeface="Calibri" pitchFamily="34" charset="-122"/>
                <a:cs typeface="Calibri" pitchFamily="34" charset="-120"/>
              </a:rPr>
              <a:t>loan_records</a:t>
            </a:r>
            <a:r>
              <a:rPr lang="en-US" sz="980" dirty="0">
                <a:solidFill>
                  <a:srgbClr val="0F1923"/>
                </a:solidFill>
                <a:latin typeface="Calibri" pitchFamily="34" charset="0"/>
                <a:ea typeface="Calibri" pitchFamily="34" charset="-122"/>
                <a:cs typeface="Calibri" pitchFamily="34" charset="-120"/>
              </a:rPr>
              <a:t>, </a:t>
            </a:r>
            <a:r>
              <a:rPr lang="en-US" sz="980" dirty="0" err="1">
                <a:solidFill>
                  <a:srgbClr val="0F1923"/>
                </a:solidFill>
                <a:latin typeface="Calibri" pitchFamily="34" charset="0"/>
                <a:ea typeface="Calibri" pitchFamily="34" charset="-122"/>
                <a:cs typeface="Calibri" pitchFamily="34" charset="-120"/>
              </a:rPr>
              <a:t>customer_contact</a:t>
            </a:r>
            <a:r>
              <a:rPr lang="en-US" sz="980" dirty="0">
                <a:solidFill>
                  <a:srgbClr val="0F1923"/>
                </a:solidFill>
                <a:latin typeface="Calibri" pitchFamily="34" charset="0"/>
                <a:ea typeface="Calibri" pitchFamily="34" charset="-122"/>
                <a:cs typeface="Calibri" pitchFamily="34" charset="-120"/>
              </a:rPr>
              <a:t> and account_details — that create a complete, queryable, and auditable view of every customer .</a:t>
            </a:r>
            <a:endParaRPr lang="en-US" sz="980" dirty="0"/>
          </a:p>
        </p:txBody>
      </p:sp>
      <p:sp>
        <p:nvSpPr>
          <p:cNvPr id="15" name="Shape 13"/>
          <p:cNvSpPr/>
          <p:nvPr/>
        </p:nvSpPr>
        <p:spPr>
          <a:xfrm>
            <a:off x="6099048" y="2206643"/>
            <a:ext cx="2889177" cy="2450592"/>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txBody>
          <a:bodyPr/>
          <a:lstStyle/>
          <a:p>
            <a:r>
              <a:rPr lang="en-US" dirty="0"/>
              <a:t>"As Database Designer,</a:t>
            </a:r>
          </a:p>
          <a:p>
            <a:endParaRPr lang="en-US" dirty="0"/>
          </a:p>
          <a:p>
            <a:r>
              <a:rPr lang="en-US" sz="900" dirty="0"/>
              <a:t>I engineered a normalized schema across six</a:t>
            </a:r>
          </a:p>
          <a:p>
            <a:r>
              <a:rPr lang="en-US" sz="900" dirty="0"/>
              <a:t>tables—</a:t>
            </a:r>
            <a:r>
              <a:rPr lang="en-US" sz="900" dirty="0" err="1"/>
              <a:t>customer_bio</a:t>
            </a:r>
            <a:r>
              <a:rPr lang="en-US" sz="900" dirty="0"/>
              <a:t>, </a:t>
            </a:r>
            <a:r>
              <a:rPr lang="en-US" sz="900" dirty="0" err="1"/>
              <a:t>account_details</a:t>
            </a:r>
            <a:r>
              <a:rPr lang="en-US" sz="900" dirty="0"/>
              <a:t>, </a:t>
            </a:r>
            <a:r>
              <a:rPr lang="en-US" sz="900" dirty="0" err="1"/>
              <a:t>branch_details</a:t>
            </a:r>
            <a:r>
              <a:rPr lang="en-US" sz="900" dirty="0"/>
              <a:t>, </a:t>
            </a:r>
            <a:r>
              <a:rPr lang="en-US" sz="900" dirty="0" err="1"/>
              <a:t>loan_records</a:t>
            </a:r>
            <a:r>
              <a:rPr lang="en-US" sz="900" dirty="0"/>
              <a:t>,</a:t>
            </a:r>
          </a:p>
          <a:p>
            <a:r>
              <a:rPr lang="en-US" sz="900" dirty="0" err="1"/>
              <a:t>customer_contact</a:t>
            </a:r>
            <a:r>
              <a:rPr lang="en-US" sz="900" dirty="0"/>
              <a:t>, and </a:t>
            </a:r>
            <a:r>
              <a:rPr lang="en-US" sz="900" dirty="0" err="1"/>
              <a:t>transaction_history</a:t>
            </a:r>
            <a:r>
              <a:rPr lang="en-US" sz="900" dirty="0"/>
              <a:t>—linking them via Foreign Keys to enforce referential integrity. I optimized the physical design using DECIMAL for</a:t>
            </a:r>
          </a:p>
          <a:p>
            <a:r>
              <a:rPr lang="en-US" sz="900" dirty="0"/>
              <a:t>financial accuracy and ENUM for consistency, ensuring a secure, scalable banking</a:t>
            </a:r>
          </a:p>
          <a:p>
            <a:r>
              <a:rPr lang="en-US" sz="900" dirty="0"/>
              <a:t>architecture that eliminates data redundancy."</a:t>
            </a:r>
          </a:p>
          <a:p>
            <a:endParaRPr lang="en-US" sz="1100" dirty="0"/>
          </a:p>
        </p:txBody>
      </p:sp>
      <p:sp>
        <p:nvSpPr>
          <p:cNvPr id="16" name="Shape 14"/>
          <p:cNvSpPr/>
          <p:nvPr/>
        </p:nvSpPr>
        <p:spPr>
          <a:xfrm>
            <a:off x="6099048" y="2322576"/>
            <a:ext cx="2807208" cy="310896"/>
          </a:xfrm>
          <a:prstGeom prst="rect">
            <a:avLst/>
          </a:prstGeom>
          <a:solidFill>
            <a:srgbClr val="1A7A4A"/>
          </a:solidFill>
          <a:ln w="12700">
            <a:solidFill>
              <a:srgbClr val="1A7A4A"/>
            </a:solidFill>
            <a:prstDash val="solid"/>
          </a:ln>
        </p:spPr>
        <p:txBody>
          <a:bodyPr/>
          <a:lstStyle/>
          <a:p>
            <a:endParaRPr lang="en-US" dirty="0"/>
          </a:p>
        </p:txBody>
      </p:sp>
      <p:sp>
        <p:nvSpPr>
          <p:cNvPr id="17" name="Text 15"/>
          <p:cNvSpPr/>
          <p:nvPr/>
        </p:nvSpPr>
        <p:spPr>
          <a:xfrm>
            <a:off x="6208776" y="2322576"/>
            <a:ext cx="2624328" cy="310896"/>
          </a:xfrm>
          <a:prstGeom prst="rect">
            <a:avLst/>
          </a:prstGeom>
          <a:noFill/>
          <a:ln/>
        </p:spPr>
        <p:txBody>
          <a:bodyPr wrap="square" lIns="0" tIns="0" rIns="0" bIns="0" rtlCol="0" anchor="ctr"/>
          <a:lstStyle/>
          <a:p>
            <a:pPr marL="0" indent="0">
              <a:buNone/>
            </a:pPr>
            <a:r>
              <a:rPr lang="en-US" sz="1100" dirty="0">
                <a:solidFill>
                  <a:schemeClr val="bg1"/>
                </a:solidFill>
              </a:rPr>
              <a:t>My role as the database designer </a:t>
            </a:r>
          </a:p>
        </p:txBody>
      </p:sp>
      <p:sp>
        <p:nvSpPr>
          <p:cNvPr id="18" name="Text 16"/>
          <p:cNvSpPr/>
          <p:nvPr/>
        </p:nvSpPr>
        <p:spPr>
          <a:xfrm>
            <a:off x="6227064" y="2688336"/>
            <a:ext cx="2615184" cy="2011680"/>
          </a:xfrm>
          <a:prstGeom prst="rect">
            <a:avLst/>
          </a:prstGeom>
          <a:noFill/>
          <a:ln/>
        </p:spPr>
        <p:txBody>
          <a:bodyPr wrap="square" rtlCol="0" anchor="t"/>
          <a:lstStyle/>
          <a:p>
            <a:pPr marL="0" indent="0">
              <a:buNone/>
            </a:pPr>
            <a:endParaRPr lang="en-US" sz="980" dirty="0"/>
          </a:p>
        </p:txBody>
      </p:sp>
      <p:sp>
        <p:nvSpPr>
          <p:cNvPr id="19" name="Shape 17"/>
          <p:cNvSpPr/>
          <p:nvPr/>
        </p:nvSpPr>
        <p:spPr>
          <a:xfrm>
            <a:off x="0" y="4892040"/>
            <a:ext cx="9144000" cy="251460"/>
          </a:xfrm>
          <a:prstGeom prst="rect">
            <a:avLst/>
          </a:prstGeom>
          <a:solidFill>
            <a:srgbClr val="0F1923"/>
          </a:solidFill>
          <a:ln w="12700">
            <a:solidFill>
              <a:srgbClr val="0F1923"/>
            </a:solidFill>
            <a:prstDash val="solid"/>
          </a:ln>
        </p:spPr>
      </p:sp>
      <p:sp>
        <p:nvSpPr>
          <p:cNvPr id="20" name="Text 18"/>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21" name="Text 19"/>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9"/>
        </a:solidFill>
        <a:effectLst/>
      </p:bgPr>
    </p:bg>
    <p:spTree>
      <p:nvGrpSpPr>
        <p:cNvPr id="1" name=""/>
        <p:cNvGrpSpPr/>
        <p:nvPr/>
      </p:nvGrpSpPr>
      <p:grpSpPr>
        <a:xfrm>
          <a:off x="0" y="0"/>
          <a:ext cx="0" cy="0"/>
          <a:chOff x="0" y="0"/>
          <a:chExt cx="0" cy="0"/>
        </a:xfrm>
      </p:grpSpPr>
      <p:sp>
        <p:nvSpPr>
          <p:cNvPr id="2" name="Text 0"/>
          <p:cNvSpPr/>
          <p:nvPr/>
        </p:nvSpPr>
        <p:spPr>
          <a:xfrm>
            <a:off x="228600" y="137160"/>
            <a:ext cx="8686800" cy="530352"/>
          </a:xfrm>
          <a:prstGeom prst="rect">
            <a:avLst/>
          </a:prstGeom>
          <a:noFill/>
          <a:ln/>
        </p:spPr>
        <p:txBody>
          <a:bodyPr wrap="square" rtlCol="0" anchor="ctr"/>
          <a:lstStyle/>
          <a:p>
            <a:pPr marL="0" indent="0">
              <a:buNone/>
            </a:pPr>
            <a:r>
              <a:rPr lang="en-US" sz="2700" b="1" dirty="0">
                <a:solidFill>
                  <a:srgbClr val="0F1923"/>
                </a:solidFill>
                <a:latin typeface="Calibri" pitchFamily="34" charset="0"/>
                <a:ea typeface="Calibri" pitchFamily="34" charset="-122"/>
                <a:cs typeface="Calibri" pitchFamily="34" charset="-120"/>
              </a:rPr>
              <a:t>The Problem This System Solves</a:t>
            </a:r>
            <a:endParaRPr lang="en-US" sz="2700" dirty="0"/>
          </a:p>
        </p:txBody>
      </p:sp>
      <p:sp>
        <p:nvSpPr>
          <p:cNvPr id="3" name="Shape 1"/>
          <p:cNvSpPr/>
          <p:nvPr/>
        </p:nvSpPr>
        <p:spPr>
          <a:xfrm>
            <a:off x="228600" y="749808"/>
            <a:ext cx="8686800" cy="256032"/>
          </a:xfrm>
          <a:prstGeom prst="rect">
            <a:avLst/>
          </a:prstGeom>
          <a:solidFill>
            <a:srgbClr val="0A7E8C"/>
          </a:solidFill>
          <a:ln w="12700">
            <a:solidFill>
              <a:srgbClr val="0A7E8C"/>
            </a:solidFill>
            <a:prstDash val="solid"/>
          </a:ln>
        </p:spPr>
      </p:sp>
      <p:sp>
        <p:nvSpPr>
          <p:cNvPr id="4" name="Text 2"/>
          <p:cNvSpPr/>
          <p:nvPr/>
        </p:nvSpPr>
        <p:spPr>
          <a:xfrm>
            <a:off x="347472" y="749808"/>
            <a:ext cx="8412480" cy="256032"/>
          </a:xfrm>
          <a:prstGeom prst="rect">
            <a:avLst/>
          </a:prstGeom>
          <a:noFill/>
          <a:ln/>
        </p:spPr>
        <p:txBody>
          <a:bodyPr wrap="square"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PROBLEM STATEMENT &amp; MOTIVATION</a:t>
            </a:r>
            <a:endParaRPr lang="en-US" sz="950" dirty="0"/>
          </a:p>
        </p:txBody>
      </p:sp>
      <p:sp>
        <p:nvSpPr>
          <p:cNvPr id="5" name="Shape 3"/>
          <p:cNvSpPr/>
          <p:nvPr/>
        </p:nvSpPr>
        <p:spPr>
          <a:xfrm>
            <a:off x="228600" y="1115568"/>
            <a:ext cx="4251960" cy="365760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6" name="Shape 4"/>
          <p:cNvSpPr/>
          <p:nvPr/>
        </p:nvSpPr>
        <p:spPr>
          <a:xfrm>
            <a:off x="228600" y="1115568"/>
            <a:ext cx="4251960" cy="329184"/>
          </a:xfrm>
          <a:prstGeom prst="rect">
            <a:avLst/>
          </a:prstGeom>
          <a:solidFill>
            <a:srgbClr val="A93226"/>
          </a:solidFill>
          <a:ln w="12700">
            <a:solidFill>
              <a:srgbClr val="A93226"/>
            </a:solidFill>
            <a:prstDash val="solid"/>
          </a:ln>
        </p:spPr>
      </p:sp>
      <p:sp>
        <p:nvSpPr>
          <p:cNvPr id="7" name="Text 5"/>
          <p:cNvSpPr/>
          <p:nvPr/>
        </p:nvSpPr>
        <p:spPr>
          <a:xfrm>
            <a:off x="320040" y="1115568"/>
            <a:ext cx="4069080"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Challenges of file-based systems</a:t>
            </a:r>
            <a:endParaRPr lang="en-US" sz="1100" dirty="0"/>
          </a:p>
        </p:txBody>
      </p:sp>
      <p:sp>
        <p:nvSpPr>
          <p:cNvPr id="8" name="Text 6"/>
          <p:cNvSpPr/>
          <p:nvPr/>
        </p:nvSpPr>
        <p:spPr>
          <a:xfrm>
            <a:off x="347472" y="1517904"/>
            <a:ext cx="4041648" cy="420624"/>
          </a:xfrm>
          <a:prstGeom prst="rect">
            <a:avLst/>
          </a:prstGeom>
          <a:noFill/>
          <a:ln/>
        </p:spPr>
        <p:txBody>
          <a:bodyPr wrap="square" rtlCol="0" anchor="ctr"/>
          <a:lstStyle/>
          <a:p>
            <a:pPr marL="0" indent="0">
              <a:buNone/>
            </a:pPr>
            <a:r>
              <a:rPr lang="en-US" sz="1000" b="1" dirty="0">
                <a:solidFill>
                  <a:srgbClr val="A93226"/>
                </a:solidFill>
                <a:latin typeface="Calibri" pitchFamily="34" charset="0"/>
                <a:ea typeface="Calibri" pitchFamily="34" charset="-122"/>
                <a:cs typeface="Calibri" pitchFamily="34" charset="-120"/>
              </a:rPr>
              <a:t>1. Data Fragmentation  </a:t>
            </a:r>
            <a:r>
              <a:rPr lang="en-US" sz="950" dirty="0">
                <a:solidFill>
                  <a:srgbClr val="0F1923"/>
                </a:solidFill>
                <a:latin typeface="Calibri" pitchFamily="34" charset="0"/>
                <a:ea typeface="Calibri" pitchFamily="34" charset="-122"/>
                <a:cs typeface="Calibri" pitchFamily="34" charset="-120"/>
              </a:rPr>
              <a:t>Customer records exist in paper files, Excel sheets, and multiple disconnected systems across branches. A customer at Branch 101 is invisible to Branch 105.</a:t>
            </a:r>
            <a:endParaRPr lang="en-US" sz="1000" dirty="0"/>
          </a:p>
        </p:txBody>
      </p:sp>
      <p:sp>
        <p:nvSpPr>
          <p:cNvPr id="9" name="Shape 7"/>
          <p:cNvSpPr/>
          <p:nvPr/>
        </p:nvSpPr>
        <p:spPr>
          <a:xfrm>
            <a:off x="347472" y="1938528"/>
            <a:ext cx="3977640" cy="9144"/>
          </a:xfrm>
          <a:prstGeom prst="rect">
            <a:avLst/>
          </a:prstGeom>
          <a:solidFill>
            <a:srgbClr val="CDD5DF"/>
          </a:solidFill>
          <a:ln w="12700">
            <a:solidFill>
              <a:srgbClr val="CDD5DF"/>
            </a:solidFill>
            <a:prstDash val="solid"/>
          </a:ln>
        </p:spPr>
      </p:sp>
      <p:sp>
        <p:nvSpPr>
          <p:cNvPr id="10" name="Text 8"/>
          <p:cNvSpPr/>
          <p:nvPr/>
        </p:nvSpPr>
        <p:spPr>
          <a:xfrm>
            <a:off x="347472" y="1975104"/>
            <a:ext cx="4041648" cy="420624"/>
          </a:xfrm>
          <a:prstGeom prst="rect">
            <a:avLst/>
          </a:prstGeom>
          <a:noFill/>
          <a:ln/>
        </p:spPr>
        <p:txBody>
          <a:bodyPr wrap="square" rtlCol="0" anchor="ctr"/>
          <a:lstStyle/>
          <a:p>
            <a:pPr marL="0" indent="0">
              <a:buNone/>
            </a:pPr>
            <a:r>
              <a:rPr lang="en-US" sz="1000" b="1" dirty="0">
                <a:solidFill>
                  <a:srgbClr val="A93226"/>
                </a:solidFill>
                <a:latin typeface="Calibri" pitchFamily="34" charset="0"/>
                <a:ea typeface="Calibri" pitchFamily="34" charset="-122"/>
                <a:cs typeface="Calibri" pitchFamily="34" charset="-120"/>
              </a:rPr>
              <a:t>2. No Single Customer View  </a:t>
            </a:r>
            <a:r>
              <a:rPr lang="en-US" sz="950" dirty="0">
                <a:solidFill>
                  <a:srgbClr val="0F1923"/>
                </a:solidFill>
                <a:latin typeface="Calibri" pitchFamily="34" charset="0"/>
                <a:ea typeface="Calibri" pitchFamily="34" charset="-122"/>
                <a:cs typeface="Calibri" pitchFamily="34" charset="-120"/>
              </a:rPr>
              <a:t>The same person may be registered multiple times under slightly different names, making portfolio analysis, AML checks, and credit assessments unreliable.</a:t>
            </a:r>
            <a:endParaRPr lang="en-US" sz="1000" dirty="0"/>
          </a:p>
        </p:txBody>
      </p:sp>
      <p:sp>
        <p:nvSpPr>
          <p:cNvPr id="11" name="Shape 9"/>
          <p:cNvSpPr/>
          <p:nvPr/>
        </p:nvSpPr>
        <p:spPr>
          <a:xfrm>
            <a:off x="347472" y="2395728"/>
            <a:ext cx="3977640" cy="9144"/>
          </a:xfrm>
          <a:prstGeom prst="rect">
            <a:avLst/>
          </a:prstGeom>
          <a:solidFill>
            <a:srgbClr val="CDD5DF"/>
          </a:solidFill>
          <a:ln w="12700">
            <a:solidFill>
              <a:srgbClr val="CDD5DF"/>
            </a:solidFill>
            <a:prstDash val="solid"/>
          </a:ln>
        </p:spPr>
      </p:sp>
      <p:sp>
        <p:nvSpPr>
          <p:cNvPr id="12" name="Text 10"/>
          <p:cNvSpPr/>
          <p:nvPr/>
        </p:nvSpPr>
        <p:spPr>
          <a:xfrm>
            <a:off x="347472" y="2432304"/>
            <a:ext cx="4041648" cy="420624"/>
          </a:xfrm>
          <a:prstGeom prst="rect">
            <a:avLst/>
          </a:prstGeom>
          <a:noFill/>
          <a:ln/>
        </p:spPr>
        <p:txBody>
          <a:bodyPr wrap="square" rtlCol="0" anchor="ctr"/>
          <a:lstStyle/>
          <a:p>
            <a:pPr marL="0" indent="0">
              <a:buNone/>
            </a:pPr>
            <a:r>
              <a:rPr lang="en-US" sz="1000" b="1" dirty="0">
                <a:solidFill>
                  <a:srgbClr val="A93226"/>
                </a:solidFill>
                <a:latin typeface="Calibri" pitchFamily="34" charset="0"/>
                <a:ea typeface="Calibri" pitchFamily="34" charset="-122"/>
                <a:cs typeface="Calibri" pitchFamily="34" charset="-120"/>
              </a:rPr>
              <a:t>3. KYC Non-Compliance  </a:t>
            </a:r>
            <a:r>
              <a:rPr lang="en-US" sz="950" dirty="0">
                <a:solidFill>
                  <a:srgbClr val="0F1923"/>
                </a:solidFill>
                <a:latin typeface="Calibri" pitchFamily="34" charset="0"/>
                <a:ea typeface="Calibri" pitchFamily="34" charset="-122"/>
                <a:cs typeface="Calibri" pitchFamily="34" charset="-120"/>
              </a:rPr>
              <a:t>Bank of Uganda requires structured KYC records. Manual systems cannot produce verifiable audit trails, exposing banks to regulatory sanctions.</a:t>
            </a:r>
            <a:endParaRPr lang="en-US" sz="1000" dirty="0"/>
          </a:p>
        </p:txBody>
      </p:sp>
      <p:sp>
        <p:nvSpPr>
          <p:cNvPr id="13" name="Shape 11"/>
          <p:cNvSpPr/>
          <p:nvPr/>
        </p:nvSpPr>
        <p:spPr>
          <a:xfrm>
            <a:off x="347472" y="2852928"/>
            <a:ext cx="3977640" cy="9144"/>
          </a:xfrm>
          <a:prstGeom prst="rect">
            <a:avLst/>
          </a:prstGeom>
          <a:solidFill>
            <a:srgbClr val="CDD5DF"/>
          </a:solidFill>
          <a:ln w="12700">
            <a:solidFill>
              <a:srgbClr val="CDD5DF"/>
            </a:solidFill>
            <a:prstDash val="solid"/>
          </a:ln>
        </p:spPr>
      </p:sp>
      <p:sp>
        <p:nvSpPr>
          <p:cNvPr id="14" name="Text 12"/>
          <p:cNvSpPr/>
          <p:nvPr/>
        </p:nvSpPr>
        <p:spPr>
          <a:xfrm>
            <a:off x="347472" y="2889504"/>
            <a:ext cx="4041648" cy="420624"/>
          </a:xfrm>
          <a:prstGeom prst="rect">
            <a:avLst/>
          </a:prstGeom>
          <a:noFill/>
          <a:ln/>
        </p:spPr>
        <p:txBody>
          <a:bodyPr wrap="square" rtlCol="0" anchor="ctr"/>
          <a:lstStyle/>
          <a:p>
            <a:pPr marL="0" indent="0">
              <a:buNone/>
            </a:pPr>
            <a:r>
              <a:rPr lang="en-US" sz="1000" b="1" dirty="0">
                <a:solidFill>
                  <a:srgbClr val="A93226"/>
                </a:solidFill>
                <a:latin typeface="Calibri" pitchFamily="34" charset="0"/>
                <a:ea typeface="Calibri" pitchFamily="34" charset="-122"/>
                <a:cs typeface="Calibri" pitchFamily="34" charset="-120"/>
              </a:rPr>
              <a:t>4. Slow Customer Service  </a:t>
            </a:r>
            <a:r>
              <a:rPr lang="en-US" sz="950" dirty="0">
                <a:solidFill>
                  <a:srgbClr val="0F1923"/>
                </a:solidFill>
                <a:latin typeface="Calibri" pitchFamily="34" charset="0"/>
                <a:ea typeface="Calibri" pitchFamily="34" charset="-122"/>
                <a:cs typeface="Calibri" pitchFamily="34" charset="-120"/>
              </a:rPr>
              <a:t>Tellers spend 15–30 minutes locating a customer's file. This creates queues, customer frustration, and operational inefficiency.</a:t>
            </a:r>
            <a:endParaRPr lang="en-US" sz="1000" dirty="0"/>
          </a:p>
        </p:txBody>
      </p:sp>
      <p:sp>
        <p:nvSpPr>
          <p:cNvPr id="15" name="Shape 13"/>
          <p:cNvSpPr/>
          <p:nvPr/>
        </p:nvSpPr>
        <p:spPr>
          <a:xfrm>
            <a:off x="347472" y="3310128"/>
            <a:ext cx="3977640" cy="9144"/>
          </a:xfrm>
          <a:prstGeom prst="rect">
            <a:avLst/>
          </a:prstGeom>
          <a:solidFill>
            <a:srgbClr val="CDD5DF"/>
          </a:solidFill>
          <a:ln w="12700">
            <a:solidFill>
              <a:srgbClr val="CDD5DF"/>
            </a:solidFill>
            <a:prstDash val="solid"/>
          </a:ln>
        </p:spPr>
      </p:sp>
      <p:sp>
        <p:nvSpPr>
          <p:cNvPr id="16" name="Text 14"/>
          <p:cNvSpPr/>
          <p:nvPr/>
        </p:nvSpPr>
        <p:spPr>
          <a:xfrm>
            <a:off x="347472" y="3346704"/>
            <a:ext cx="4041648" cy="420624"/>
          </a:xfrm>
          <a:prstGeom prst="rect">
            <a:avLst/>
          </a:prstGeom>
          <a:noFill/>
          <a:ln/>
        </p:spPr>
        <p:txBody>
          <a:bodyPr wrap="square" rtlCol="0" anchor="ctr"/>
          <a:lstStyle/>
          <a:p>
            <a:pPr marL="0" indent="0">
              <a:buNone/>
            </a:pPr>
            <a:r>
              <a:rPr lang="en-US" sz="1000" b="1" dirty="0">
                <a:solidFill>
                  <a:srgbClr val="A93226"/>
                </a:solidFill>
                <a:latin typeface="Calibri" pitchFamily="34" charset="0"/>
                <a:ea typeface="Calibri" pitchFamily="34" charset="-122"/>
                <a:cs typeface="Calibri" pitchFamily="34" charset="-120"/>
              </a:rPr>
              <a:t>5. Zero Analytical Insight  </a:t>
            </a:r>
            <a:r>
              <a:rPr lang="en-US" sz="950" dirty="0">
                <a:solidFill>
                  <a:srgbClr val="0F1923"/>
                </a:solidFill>
                <a:latin typeface="Calibri" pitchFamily="34" charset="0"/>
                <a:ea typeface="Calibri" pitchFamily="34" charset="-122"/>
                <a:cs typeface="Calibri" pitchFamily="34" charset="-120"/>
              </a:rPr>
              <a:t>Management cannot run queries like 'how many active savings accounts are at Branch 101?' or 'what is the average balance of female customers?' without a structured DB.</a:t>
            </a:r>
            <a:endParaRPr lang="en-US" sz="1000" dirty="0"/>
          </a:p>
        </p:txBody>
      </p:sp>
      <p:sp>
        <p:nvSpPr>
          <p:cNvPr id="17" name="Shape 15"/>
          <p:cNvSpPr/>
          <p:nvPr/>
        </p:nvSpPr>
        <p:spPr>
          <a:xfrm>
            <a:off x="4663440" y="1115568"/>
            <a:ext cx="4251960" cy="365760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8" name="Shape 16"/>
          <p:cNvSpPr/>
          <p:nvPr/>
        </p:nvSpPr>
        <p:spPr>
          <a:xfrm>
            <a:off x="4663440" y="1115568"/>
            <a:ext cx="4251960" cy="329184"/>
          </a:xfrm>
          <a:prstGeom prst="rect">
            <a:avLst/>
          </a:prstGeom>
          <a:solidFill>
            <a:srgbClr val="1A7A4A"/>
          </a:solidFill>
          <a:ln w="12700">
            <a:solidFill>
              <a:srgbClr val="1A7A4A"/>
            </a:solidFill>
            <a:prstDash val="solid"/>
          </a:ln>
        </p:spPr>
      </p:sp>
      <p:sp>
        <p:nvSpPr>
          <p:cNvPr id="19" name="Text 17"/>
          <p:cNvSpPr/>
          <p:nvPr/>
        </p:nvSpPr>
        <p:spPr>
          <a:xfrm>
            <a:off x="4754880" y="1115568"/>
            <a:ext cx="4069080"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WITH a CDMS — What Changes</a:t>
            </a:r>
            <a:endParaRPr lang="en-US" sz="1100" dirty="0"/>
          </a:p>
        </p:txBody>
      </p:sp>
      <p:sp>
        <p:nvSpPr>
          <p:cNvPr id="20" name="Text 18"/>
          <p:cNvSpPr/>
          <p:nvPr/>
        </p:nvSpPr>
        <p:spPr>
          <a:xfrm>
            <a:off x="4773168" y="1517904"/>
            <a:ext cx="4041648" cy="420624"/>
          </a:xfrm>
          <a:prstGeom prst="rect">
            <a:avLst/>
          </a:prstGeom>
          <a:noFill/>
          <a:ln/>
        </p:spPr>
        <p:txBody>
          <a:bodyPr wrap="square" rtlCol="0" anchor="ctr"/>
          <a:lstStyle/>
          <a:p>
            <a:pPr marL="0" indent="0">
              <a:buNone/>
            </a:pPr>
            <a:r>
              <a:rPr lang="en-US" sz="1000" b="1" dirty="0">
                <a:solidFill>
                  <a:srgbClr val="1A7A4A"/>
                </a:solidFill>
                <a:latin typeface="Calibri" pitchFamily="34" charset="0"/>
                <a:ea typeface="Calibri" pitchFamily="34" charset="-122"/>
                <a:cs typeface="Calibri" pitchFamily="34" charset="-120"/>
              </a:rPr>
              <a:t>✓ Unified Customer Record  </a:t>
            </a:r>
            <a:r>
              <a:rPr lang="en-US" sz="950" dirty="0">
                <a:solidFill>
                  <a:srgbClr val="0F1923"/>
                </a:solidFill>
                <a:latin typeface="Calibri" pitchFamily="34" charset="0"/>
                <a:ea typeface="Calibri" pitchFamily="34" charset="-122"/>
                <a:cs typeface="Calibri" pitchFamily="34" charset="-120"/>
              </a:rPr>
              <a:t>One customer_id links all data: biography, account(s), contact details, and transaction history — regardless of which branch the customer visits.</a:t>
            </a:r>
            <a:endParaRPr lang="en-US" sz="1000" dirty="0"/>
          </a:p>
        </p:txBody>
      </p:sp>
      <p:sp>
        <p:nvSpPr>
          <p:cNvPr id="21" name="Shape 19"/>
          <p:cNvSpPr/>
          <p:nvPr/>
        </p:nvSpPr>
        <p:spPr>
          <a:xfrm>
            <a:off x="4773168" y="1938528"/>
            <a:ext cx="3977640" cy="9144"/>
          </a:xfrm>
          <a:prstGeom prst="rect">
            <a:avLst/>
          </a:prstGeom>
          <a:solidFill>
            <a:srgbClr val="CDD5DF"/>
          </a:solidFill>
          <a:ln w="12700">
            <a:solidFill>
              <a:srgbClr val="CDD5DF"/>
            </a:solidFill>
            <a:prstDash val="solid"/>
          </a:ln>
        </p:spPr>
      </p:sp>
      <p:sp>
        <p:nvSpPr>
          <p:cNvPr id="22" name="Text 20"/>
          <p:cNvSpPr/>
          <p:nvPr/>
        </p:nvSpPr>
        <p:spPr>
          <a:xfrm>
            <a:off x="4773168" y="1975104"/>
            <a:ext cx="4041648" cy="420624"/>
          </a:xfrm>
          <a:prstGeom prst="rect">
            <a:avLst/>
          </a:prstGeom>
          <a:noFill/>
          <a:ln/>
        </p:spPr>
        <p:txBody>
          <a:bodyPr wrap="square" rtlCol="0" anchor="ctr"/>
          <a:lstStyle/>
          <a:p>
            <a:pPr marL="0" indent="0">
              <a:buNone/>
            </a:pPr>
            <a:r>
              <a:rPr lang="en-US" sz="1000" b="1" dirty="0">
                <a:solidFill>
                  <a:srgbClr val="1A7A4A"/>
                </a:solidFill>
                <a:latin typeface="Calibri" pitchFamily="34" charset="0"/>
                <a:ea typeface="Calibri" pitchFamily="34" charset="-122"/>
                <a:cs typeface="Calibri" pitchFamily="34" charset="-120"/>
              </a:rPr>
              <a:t>✓ Enforced Data Integrity  </a:t>
            </a:r>
            <a:r>
              <a:rPr lang="en-US" sz="950" dirty="0">
                <a:solidFill>
                  <a:srgbClr val="0F1923"/>
                </a:solidFill>
                <a:latin typeface="Calibri" pitchFamily="34" charset="0"/>
                <a:ea typeface="Calibri" pitchFamily="34" charset="-122"/>
                <a:cs typeface="Calibri" pitchFamily="34" charset="-120"/>
              </a:rPr>
              <a:t>Primary and foreign key constraints, NOT NULL fields, CHECK constraints, and ENUM types ensure data quality is enforced at the database level, not just by staff discipline.</a:t>
            </a:r>
            <a:endParaRPr lang="en-US" sz="1000" dirty="0"/>
          </a:p>
        </p:txBody>
      </p:sp>
      <p:sp>
        <p:nvSpPr>
          <p:cNvPr id="23" name="Shape 21"/>
          <p:cNvSpPr/>
          <p:nvPr/>
        </p:nvSpPr>
        <p:spPr>
          <a:xfrm>
            <a:off x="4773168" y="2395728"/>
            <a:ext cx="3977640" cy="9144"/>
          </a:xfrm>
          <a:prstGeom prst="rect">
            <a:avLst/>
          </a:prstGeom>
          <a:solidFill>
            <a:srgbClr val="CDD5DF"/>
          </a:solidFill>
          <a:ln w="12700">
            <a:solidFill>
              <a:srgbClr val="CDD5DF"/>
            </a:solidFill>
            <a:prstDash val="solid"/>
          </a:ln>
        </p:spPr>
      </p:sp>
      <p:sp>
        <p:nvSpPr>
          <p:cNvPr id="24" name="Text 22"/>
          <p:cNvSpPr/>
          <p:nvPr/>
        </p:nvSpPr>
        <p:spPr>
          <a:xfrm>
            <a:off x="4773168" y="2432304"/>
            <a:ext cx="4041648" cy="420624"/>
          </a:xfrm>
          <a:prstGeom prst="rect">
            <a:avLst/>
          </a:prstGeom>
          <a:noFill/>
          <a:ln/>
        </p:spPr>
        <p:txBody>
          <a:bodyPr wrap="square" rtlCol="0" anchor="ctr"/>
          <a:lstStyle/>
          <a:p>
            <a:pPr marL="0" indent="0">
              <a:buNone/>
            </a:pPr>
            <a:r>
              <a:rPr lang="en-US" sz="1000" b="1" dirty="0">
                <a:solidFill>
                  <a:srgbClr val="1A7A4A"/>
                </a:solidFill>
                <a:latin typeface="Calibri" pitchFamily="34" charset="0"/>
                <a:ea typeface="Calibri" pitchFamily="34" charset="-122"/>
                <a:cs typeface="Calibri" pitchFamily="34" charset="-120"/>
              </a:rPr>
              <a:t>✓ Instant Regulatory Reporting  </a:t>
            </a:r>
            <a:r>
              <a:rPr lang="en-US" sz="950" dirty="0">
                <a:solidFill>
                  <a:srgbClr val="0F1923"/>
                </a:solidFill>
                <a:latin typeface="Calibri" pitchFamily="34" charset="0"/>
                <a:ea typeface="Calibri" pitchFamily="34" charset="-122"/>
                <a:cs typeface="Calibri" pitchFamily="34" charset="-120"/>
              </a:rPr>
              <a:t>KYC data is structured and queryable. A compliance officer can extract all customer records within seconds — satisfying Bank of Uganda inspection demands.</a:t>
            </a:r>
            <a:endParaRPr lang="en-US" sz="1000" dirty="0"/>
          </a:p>
        </p:txBody>
      </p:sp>
      <p:sp>
        <p:nvSpPr>
          <p:cNvPr id="25" name="Shape 23"/>
          <p:cNvSpPr/>
          <p:nvPr/>
        </p:nvSpPr>
        <p:spPr>
          <a:xfrm>
            <a:off x="4773168" y="2852928"/>
            <a:ext cx="3977640" cy="9144"/>
          </a:xfrm>
          <a:prstGeom prst="rect">
            <a:avLst/>
          </a:prstGeom>
          <a:solidFill>
            <a:srgbClr val="CDD5DF"/>
          </a:solidFill>
          <a:ln w="12700">
            <a:solidFill>
              <a:srgbClr val="CDD5DF"/>
            </a:solidFill>
            <a:prstDash val="solid"/>
          </a:ln>
        </p:spPr>
      </p:sp>
      <p:sp>
        <p:nvSpPr>
          <p:cNvPr id="26" name="Text 24"/>
          <p:cNvSpPr/>
          <p:nvPr/>
        </p:nvSpPr>
        <p:spPr>
          <a:xfrm>
            <a:off x="4773168" y="2889504"/>
            <a:ext cx="4041648" cy="420624"/>
          </a:xfrm>
          <a:prstGeom prst="rect">
            <a:avLst/>
          </a:prstGeom>
          <a:noFill/>
          <a:ln/>
        </p:spPr>
        <p:txBody>
          <a:bodyPr wrap="square" rtlCol="0" anchor="ctr"/>
          <a:lstStyle/>
          <a:p>
            <a:pPr marL="0" indent="0">
              <a:buNone/>
            </a:pPr>
            <a:r>
              <a:rPr lang="en-US" sz="1000" b="1" dirty="0">
                <a:solidFill>
                  <a:srgbClr val="1A7A4A"/>
                </a:solidFill>
                <a:latin typeface="Calibri" pitchFamily="34" charset="0"/>
                <a:ea typeface="Calibri" pitchFamily="34" charset="-122"/>
                <a:cs typeface="Calibri" pitchFamily="34" charset="-120"/>
              </a:rPr>
              <a:t>✓ Sub-second Query Response  </a:t>
            </a:r>
            <a:r>
              <a:rPr lang="en-US" sz="950" dirty="0">
                <a:solidFill>
                  <a:srgbClr val="0F1923"/>
                </a:solidFill>
                <a:latin typeface="Calibri" pitchFamily="34" charset="0"/>
                <a:ea typeface="Calibri" pitchFamily="34" charset="-122"/>
                <a:cs typeface="Calibri" pitchFamily="34" charset="-120"/>
              </a:rPr>
              <a:t>SQL queries on indexed columns return full customer profiles in under a second, reducing teller service time from 30 minutes to under 2 minutes.</a:t>
            </a:r>
            <a:endParaRPr lang="en-US" sz="1000" dirty="0"/>
          </a:p>
        </p:txBody>
      </p:sp>
      <p:sp>
        <p:nvSpPr>
          <p:cNvPr id="27" name="Shape 25"/>
          <p:cNvSpPr/>
          <p:nvPr/>
        </p:nvSpPr>
        <p:spPr>
          <a:xfrm>
            <a:off x="4773168" y="3310128"/>
            <a:ext cx="3977640" cy="9144"/>
          </a:xfrm>
          <a:prstGeom prst="rect">
            <a:avLst/>
          </a:prstGeom>
          <a:solidFill>
            <a:srgbClr val="CDD5DF"/>
          </a:solidFill>
          <a:ln w="12700">
            <a:solidFill>
              <a:srgbClr val="CDD5DF"/>
            </a:solidFill>
            <a:prstDash val="solid"/>
          </a:ln>
        </p:spPr>
      </p:sp>
      <p:sp>
        <p:nvSpPr>
          <p:cNvPr id="28" name="Text 26"/>
          <p:cNvSpPr/>
          <p:nvPr/>
        </p:nvSpPr>
        <p:spPr>
          <a:xfrm>
            <a:off x="4773168" y="3346704"/>
            <a:ext cx="4041648" cy="420624"/>
          </a:xfrm>
          <a:prstGeom prst="rect">
            <a:avLst/>
          </a:prstGeom>
          <a:noFill/>
          <a:ln/>
        </p:spPr>
        <p:txBody>
          <a:bodyPr wrap="square" rtlCol="0" anchor="ctr"/>
          <a:lstStyle/>
          <a:p>
            <a:pPr marL="0" indent="0">
              <a:buNone/>
            </a:pPr>
            <a:r>
              <a:rPr lang="en-US" sz="1000" b="1" dirty="0">
                <a:solidFill>
                  <a:srgbClr val="1A7A4A"/>
                </a:solidFill>
                <a:latin typeface="Calibri" pitchFamily="34" charset="0"/>
                <a:ea typeface="Calibri" pitchFamily="34" charset="-122"/>
                <a:cs typeface="Calibri" pitchFamily="34" charset="-120"/>
              </a:rPr>
              <a:t>✓ Rich Management Analytics  </a:t>
            </a:r>
            <a:r>
              <a:rPr lang="en-US" sz="950" dirty="0">
                <a:solidFill>
                  <a:srgbClr val="0F1923"/>
                </a:solidFill>
                <a:latin typeface="Calibri" pitchFamily="34" charset="0"/>
                <a:ea typeface="Calibri" pitchFamily="34" charset="-122"/>
                <a:cs typeface="Calibri" pitchFamily="34" charset="-120"/>
              </a:rPr>
              <a:t>Queries on gender, account_type, balance ranges, branch distribution, and account status turn raw records into actionable business intelligence.</a:t>
            </a:r>
            <a:endParaRPr lang="en-US" sz="1000" dirty="0"/>
          </a:p>
        </p:txBody>
      </p:sp>
      <p:sp>
        <p:nvSpPr>
          <p:cNvPr id="29" name="Shape 27"/>
          <p:cNvSpPr/>
          <p:nvPr/>
        </p:nvSpPr>
        <p:spPr>
          <a:xfrm>
            <a:off x="0" y="4892040"/>
            <a:ext cx="9144000" cy="251460"/>
          </a:xfrm>
          <a:prstGeom prst="rect">
            <a:avLst/>
          </a:prstGeom>
          <a:solidFill>
            <a:srgbClr val="0F1923"/>
          </a:solidFill>
          <a:ln w="12700">
            <a:solidFill>
              <a:srgbClr val="0F1923"/>
            </a:solidFill>
            <a:prstDash val="solid"/>
          </a:ln>
        </p:spPr>
      </p:sp>
      <p:sp>
        <p:nvSpPr>
          <p:cNvPr id="30" name="Text 28"/>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31" name="Text 29"/>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9"/>
        </a:solidFill>
        <a:effectLst/>
      </p:bgPr>
    </p:bg>
    <p:spTree>
      <p:nvGrpSpPr>
        <p:cNvPr id="1" name=""/>
        <p:cNvGrpSpPr/>
        <p:nvPr/>
      </p:nvGrpSpPr>
      <p:grpSpPr>
        <a:xfrm>
          <a:off x="0" y="0"/>
          <a:ext cx="0" cy="0"/>
          <a:chOff x="0" y="0"/>
          <a:chExt cx="0" cy="0"/>
        </a:xfrm>
      </p:grpSpPr>
      <p:sp>
        <p:nvSpPr>
          <p:cNvPr id="2" name="Text 0"/>
          <p:cNvSpPr/>
          <p:nvPr/>
        </p:nvSpPr>
        <p:spPr>
          <a:xfrm>
            <a:off x="228600" y="137160"/>
            <a:ext cx="8686800" cy="530352"/>
          </a:xfrm>
          <a:prstGeom prst="rect">
            <a:avLst/>
          </a:prstGeom>
          <a:noFill/>
          <a:ln/>
        </p:spPr>
        <p:txBody>
          <a:bodyPr wrap="square" rtlCol="0" anchor="ctr"/>
          <a:lstStyle/>
          <a:p>
            <a:pPr marL="0" indent="0">
              <a:buNone/>
            </a:pPr>
            <a:r>
              <a:rPr lang="en-US" sz="2700" b="1" dirty="0">
                <a:solidFill>
                  <a:srgbClr val="0F1923"/>
                </a:solidFill>
                <a:latin typeface="Calibri" pitchFamily="34" charset="0"/>
                <a:ea typeface="Calibri" pitchFamily="34" charset="-122"/>
                <a:cs typeface="Calibri" pitchFamily="34" charset="-120"/>
              </a:rPr>
              <a:t>System Objectives &amp; Scope</a:t>
            </a:r>
            <a:endParaRPr lang="en-US" sz="2700" dirty="0"/>
          </a:p>
        </p:txBody>
      </p:sp>
      <p:sp>
        <p:nvSpPr>
          <p:cNvPr id="3" name="Shape 1"/>
          <p:cNvSpPr/>
          <p:nvPr/>
        </p:nvSpPr>
        <p:spPr>
          <a:xfrm>
            <a:off x="228600" y="749808"/>
            <a:ext cx="8686800" cy="256032"/>
          </a:xfrm>
          <a:prstGeom prst="rect">
            <a:avLst/>
          </a:prstGeom>
          <a:solidFill>
            <a:srgbClr val="0A7E8C"/>
          </a:solidFill>
          <a:ln w="12700">
            <a:solidFill>
              <a:srgbClr val="0A7E8C"/>
            </a:solidFill>
            <a:prstDash val="solid"/>
          </a:ln>
        </p:spPr>
      </p:sp>
      <p:sp>
        <p:nvSpPr>
          <p:cNvPr id="4" name="Text 2"/>
          <p:cNvSpPr/>
          <p:nvPr/>
        </p:nvSpPr>
        <p:spPr>
          <a:xfrm>
            <a:off x="347472" y="749808"/>
            <a:ext cx="8412480" cy="256032"/>
          </a:xfrm>
          <a:prstGeom prst="rect">
            <a:avLst/>
          </a:prstGeom>
          <a:noFill/>
          <a:ln/>
        </p:spPr>
        <p:txBody>
          <a:bodyPr wrap="square"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OBJECTIVES  ·  SCOPE  ·  ASSUMPTIONS</a:t>
            </a:r>
            <a:endParaRPr lang="en-US" sz="950" dirty="0"/>
          </a:p>
        </p:txBody>
      </p:sp>
      <p:sp>
        <p:nvSpPr>
          <p:cNvPr id="5" name="Shape 3"/>
          <p:cNvSpPr/>
          <p:nvPr/>
        </p:nvSpPr>
        <p:spPr>
          <a:xfrm>
            <a:off x="228600" y="1115568"/>
            <a:ext cx="2807208" cy="160020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6" name="Shape 4"/>
          <p:cNvSpPr/>
          <p:nvPr/>
        </p:nvSpPr>
        <p:spPr>
          <a:xfrm>
            <a:off x="228600" y="1115568"/>
            <a:ext cx="420624" cy="1600200"/>
          </a:xfrm>
          <a:prstGeom prst="rect">
            <a:avLst/>
          </a:prstGeom>
          <a:solidFill>
            <a:srgbClr val="0A7E8C"/>
          </a:solidFill>
          <a:ln w="12700">
            <a:solidFill>
              <a:srgbClr val="0A7E8C"/>
            </a:solidFill>
            <a:prstDash val="solid"/>
          </a:ln>
        </p:spPr>
      </p:sp>
      <p:sp>
        <p:nvSpPr>
          <p:cNvPr id="7" name="Text 5"/>
          <p:cNvSpPr/>
          <p:nvPr/>
        </p:nvSpPr>
        <p:spPr>
          <a:xfrm>
            <a:off x="228600" y="1115568"/>
            <a:ext cx="420624" cy="1600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8" name="Text 6"/>
          <p:cNvSpPr/>
          <p:nvPr/>
        </p:nvSpPr>
        <p:spPr>
          <a:xfrm>
            <a:off x="722376" y="1207008"/>
            <a:ext cx="2231136"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Capture &amp; Store</a:t>
            </a:r>
            <a:endParaRPr lang="en-US" sz="1150" dirty="0"/>
          </a:p>
        </p:txBody>
      </p:sp>
      <p:sp>
        <p:nvSpPr>
          <p:cNvPr id="9" name="Text 7"/>
          <p:cNvSpPr/>
          <p:nvPr/>
        </p:nvSpPr>
        <p:spPr>
          <a:xfrm>
            <a:off x="722376" y="1517904"/>
            <a:ext cx="2231136" cy="1115568"/>
          </a:xfrm>
          <a:prstGeom prst="rect">
            <a:avLst/>
          </a:prstGeom>
          <a:noFill/>
          <a:ln/>
        </p:spPr>
        <p:txBody>
          <a:bodyPr wrap="square" rtlCol="0" anchor="ctr"/>
          <a:lstStyle/>
          <a:p>
            <a:pPr marL="0" indent="0">
              <a:buNone/>
            </a:pPr>
            <a:r>
              <a:rPr lang="en-US" sz="950" dirty="0">
                <a:solidFill>
                  <a:srgbClr val="0F1923"/>
                </a:solidFill>
                <a:latin typeface="Calibri" pitchFamily="34" charset="0"/>
                <a:ea typeface="Calibri" pitchFamily="34" charset="-122"/>
                <a:cs typeface="Calibri" pitchFamily="34" charset="-120"/>
              </a:rPr>
              <a:t>Provide a structured schema for storing complete customer biographical and account data with full data type enforcement and normalisation to 3NF.</a:t>
            </a:r>
            <a:endParaRPr lang="en-US" sz="950" dirty="0"/>
          </a:p>
        </p:txBody>
      </p:sp>
      <p:sp>
        <p:nvSpPr>
          <p:cNvPr id="10" name="Shape 8"/>
          <p:cNvSpPr/>
          <p:nvPr/>
        </p:nvSpPr>
        <p:spPr>
          <a:xfrm>
            <a:off x="3172968" y="1115568"/>
            <a:ext cx="2807208" cy="160020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1" name="Shape 9"/>
          <p:cNvSpPr/>
          <p:nvPr/>
        </p:nvSpPr>
        <p:spPr>
          <a:xfrm>
            <a:off x="3172968" y="1115568"/>
            <a:ext cx="420624" cy="1600200"/>
          </a:xfrm>
          <a:prstGeom prst="rect">
            <a:avLst/>
          </a:prstGeom>
          <a:solidFill>
            <a:srgbClr val="1B4F72"/>
          </a:solidFill>
          <a:ln w="12700">
            <a:solidFill>
              <a:srgbClr val="1B4F72"/>
            </a:solidFill>
            <a:prstDash val="solid"/>
          </a:ln>
        </p:spPr>
      </p:sp>
      <p:sp>
        <p:nvSpPr>
          <p:cNvPr id="12" name="Text 10"/>
          <p:cNvSpPr/>
          <p:nvPr/>
        </p:nvSpPr>
        <p:spPr>
          <a:xfrm>
            <a:off x="3172968" y="1115568"/>
            <a:ext cx="420624" cy="1600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3" name="Text 11"/>
          <p:cNvSpPr/>
          <p:nvPr/>
        </p:nvSpPr>
        <p:spPr>
          <a:xfrm>
            <a:off x="3666744" y="1207008"/>
            <a:ext cx="2231136"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Link &amp; Relate</a:t>
            </a:r>
            <a:endParaRPr lang="en-US" sz="1150" dirty="0"/>
          </a:p>
        </p:txBody>
      </p:sp>
      <p:sp>
        <p:nvSpPr>
          <p:cNvPr id="14" name="Text 12"/>
          <p:cNvSpPr/>
          <p:nvPr/>
        </p:nvSpPr>
        <p:spPr>
          <a:xfrm>
            <a:off x="3666744" y="1517904"/>
            <a:ext cx="2231136" cy="1115568"/>
          </a:xfrm>
          <a:prstGeom prst="rect">
            <a:avLst/>
          </a:prstGeom>
          <a:noFill/>
          <a:ln/>
        </p:spPr>
        <p:txBody>
          <a:bodyPr wrap="square" rtlCol="0" anchor="ctr"/>
          <a:lstStyle/>
          <a:p>
            <a:pPr marL="0" indent="0">
              <a:buNone/>
            </a:pPr>
            <a:r>
              <a:rPr lang="en-US" sz="950" dirty="0">
                <a:solidFill>
                  <a:srgbClr val="0F1923"/>
                </a:solidFill>
                <a:latin typeface="Calibri" pitchFamily="34" charset="0"/>
                <a:ea typeface="Calibri" pitchFamily="34" charset="-122"/>
                <a:cs typeface="Calibri" pitchFamily="34" charset="-120"/>
              </a:rPr>
              <a:t>Establish a one-to-many relationship between customers and accounts via a foreign key on customer_id, enabling portfolio queries across all accounts.</a:t>
            </a:r>
            <a:endParaRPr lang="en-US" sz="950" dirty="0"/>
          </a:p>
        </p:txBody>
      </p:sp>
      <p:sp>
        <p:nvSpPr>
          <p:cNvPr id="15" name="Shape 13"/>
          <p:cNvSpPr/>
          <p:nvPr/>
        </p:nvSpPr>
        <p:spPr>
          <a:xfrm>
            <a:off x="6117336" y="1115568"/>
            <a:ext cx="2807208" cy="160020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6" name="Shape 14"/>
          <p:cNvSpPr/>
          <p:nvPr/>
        </p:nvSpPr>
        <p:spPr>
          <a:xfrm>
            <a:off x="6117336" y="1115568"/>
            <a:ext cx="420624" cy="1600200"/>
          </a:xfrm>
          <a:prstGeom prst="rect">
            <a:avLst/>
          </a:prstGeom>
          <a:solidFill>
            <a:srgbClr val="1A7A4A"/>
          </a:solidFill>
          <a:ln w="12700">
            <a:solidFill>
              <a:srgbClr val="1A7A4A"/>
            </a:solidFill>
            <a:prstDash val="solid"/>
          </a:ln>
        </p:spPr>
      </p:sp>
      <p:sp>
        <p:nvSpPr>
          <p:cNvPr id="17" name="Text 15"/>
          <p:cNvSpPr/>
          <p:nvPr/>
        </p:nvSpPr>
        <p:spPr>
          <a:xfrm>
            <a:off x="6117336" y="1115568"/>
            <a:ext cx="420624" cy="1600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8" name="Text 16"/>
          <p:cNvSpPr/>
          <p:nvPr/>
        </p:nvSpPr>
        <p:spPr>
          <a:xfrm>
            <a:off x="6611112" y="1207008"/>
            <a:ext cx="2231136"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Enforce Integrity</a:t>
            </a:r>
            <a:endParaRPr lang="en-US" sz="1150" dirty="0"/>
          </a:p>
        </p:txBody>
      </p:sp>
      <p:sp>
        <p:nvSpPr>
          <p:cNvPr id="19" name="Text 17"/>
          <p:cNvSpPr/>
          <p:nvPr/>
        </p:nvSpPr>
        <p:spPr>
          <a:xfrm>
            <a:off x="6611112" y="1517904"/>
            <a:ext cx="2231136" cy="1115568"/>
          </a:xfrm>
          <a:prstGeom prst="rect">
            <a:avLst/>
          </a:prstGeom>
          <a:noFill/>
          <a:ln/>
        </p:spPr>
        <p:txBody>
          <a:bodyPr wrap="square" rtlCol="0" anchor="ctr"/>
          <a:lstStyle/>
          <a:p>
            <a:pPr marL="0" indent="0">
              <a:buNone/>
            </a:pPr>
            <a:r>
              <a:rPr lang="en-US" sz="950" dirty="0">
                <a:solidFill>
                  <a:srgbClr val="0F1923"/>
                </a:solidFill>
                <a:latin typeface="Calibri" pitchFamily="34" charset="0"/>
                <a:ea typeface="Calibri" pitchFamily="34" charset="-122"/>
                <a:cs typeface="Calibri" pitchFamily="34" charset="-120"/>
              </a:rPr>
              <a:t>Use primary keys, foreign keys, UNIQUE constraints on account_number, and CHECK constraints on balance (≥ 0) to guarantee data correctness.</a:t>
            </a:r>
            <a:endParaRPr lang="en-US" sz="950" dirty="0"/>
          </a:p>
        </p:txBody>
      </p:sp>
      <p:sp>
        <p:nvSpPr>
          <p:cNvPr id="20" name="Shape 18"/>
          <p:cNvSpPr/>
          <p:nvPr/>
        </p:nvSpPr>
        <p:spPr>
          <a:xfrm>
            <a:off x="228600" y="2852928"/>
            <a:ext cx="2807208" cy="160020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21" name="Shape 19"/>
          <p:cNvSpPr/>
          <p:nvPr/>
        </p:nvSpPr>
        <p:spPr>
          <a:xfrm>
            <a:off x="228600" y="2852928"/>
            <a:ext cx="420624" cy="1600200"/>
          </a:xfrm>
          <a:prstGeom prst="rect">
            <a:avLst/>
          </a:prstGeom>
          <a:solidFill>
            <a:srgbClr val="6C3483"/>
          </a:solidFill>
          <a:ln w="12700">
            <a:solidFill>
              <a:srgbClr val="6C3483"/>
            </a:solidFill>
            <a:prstDash val="solid"/>
          </a:ln>
        </p:spPr>
      </p:sp>
      <p:sp>
        <p:nvSpPr>
          <p:cNvPr id="22" name="Text 20"/>
          <p:cNvSpPr/>
          <p:nvPr/>
        </p:nvSpPr>
        <p:spPr>
          <a:xfrm>
            <a:off x="228600" y="2852928"/>
            <a:ext cx="420624" cy="1600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3" name="Text 21"/>
          <p:cNvSpPr/>
          <p:nvPr/>
        </p:nvSpPr>
        <p:spPr>
          <a:xfrm>
            <a:off x="722376" y="2944368"/>
            <a:ext cx="2231136"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Enable Analytics</a:t>
            </a:r>
            <a:endParaRPr lang="en-US" sz="1150" dirty="0"/>
          </a:p>
        </p:txBody>
      </p:sp>
      <p:sp>
        <p:nvSpPr>
          <p:cNvPr id="24" name="Text 22"/>
          <p:cNvSpPr/>
          <p:nvPr/>
        </p:nvSpPr>
        <p:spPr>
          <a:xfrm>
            <a:off x="722376" y="3255264"/>
            <a:ext cx="2231136" cy="1115568"/>
          </a:xfrm>
          <a:prstGeom prst="rect">
            <a:avLst/>
          </a:prstGeom>
          <a:noFill/>
          <a:ln/>
        </p:spPr>
        <p:txBody>
          <a:bodyPr wrap="square" rtlCol="0" anchor="ctr"/>
          <a:lstStyle/>
          <a:p>
            <a:pPr marL="0" indent="0">
              <a:buNone/>
            </a:pPr>
            <a:r>
              <a:rPr lang="en-US" sz="950" dirty="0">
                <a:solidFill>
                  <a:srgbClr val="0F1923"/>
                </a:solidFill>
                <a:latin typeface="Calibri" pitchFamily="34" charset="0"/>
                <a:ea typeface="Calibri" pitchFamily="34" charset="-122"/>
                <a:cs typeface="Calibri" pitchFamily="34" charset="-120"/>
              </a:rPr>
              <a:t>Support SQL aggregate queries (COUNT, AVG, SUM, GROUP BY) to give management real-time insight into customer distribution, balances, and account status.</a:t>
            </a:r>
            <a:endParaRPr lang="en-US" sz="950" dirty="0"/>
          </a:p>
        </p:txBody>
      </p:sp>
      <p:sp>
        <p:nvSpPr>
          <p:cNvPr id="25" name="Shape 23"/>
          <p:cNvSpPr/>
          <p:nvPr/>
        </p:nvSpPr>
        <p:spPr>
          <a:xfrm>
            <a:off x="3172968" y="2852928"/>
            <a:ext cx="2807208" cy="160020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26" name="Shape 24"/>
          <p:cNvSpPr/>
          <p:nvPr/>
        </p:nvSpPr>
        <p:spPr>
          <a:xfrm>
            <a:off x="3172968" y="2852928"/>
            <a:ext cx="420624" cy="1600200"/>
          </a:xfrm>
          <a:prstGeom prst="rect">
            <a:avLst/>
          </a:prstGeom>
          <a:solidFill>
            <a:srgbClr val="C87722"/>
          </a:solidFill>
          <a:ln w="12700">
            <a:solidFill>
              <a:srgbClr val="C87722"/>
            </a:solidFill>
            <a:prstDash val="solid"/>
          </a:ln>
        </p:spPr>
      </p:sp>
      <p:sp>
        <p:nvSpPr>
          <p:cNvPr id="27" name="Text 25"/>
          <p:cNvSpPr/>
          <p:nvPr/>
        </p:nvSpPr>
        <p:spPr>
          <a:xfrm>
            <a:off x="3172968" y="2852928"/>
            <a:ext cx="420624" cy="1600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8" name="Text 26"/>
          <p:cNvSpPr/>
          <p:nvPr/>
        </p:nvSpPr>
        <p:spPr>
          <a:xfrm>
            <a:off x="3666744" y="2944368"/>
            <a:ext cx="2231136"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Support Compliance</a:t>
            </a:r>
            <a:endParaRPr lang="en-US" sz="1150" dirty="0"/>
          </a:p>
        </p:txBody>
      </p:sp>
      <p:sp>
        <p:nvSpPr>
          <p:cNvPr id="29" name="Text 27"/>
          <p:cNvSpPr/>
          <p:nvPr/>
        </p:nvSpPr>
        <p:spPr>
          <a:xfrm>
            <a:off x="3666744" y="3255264"/>
            <a:ext cx="2231136" cy="1115568"/>
          </a:xfrm>
          <a:prstGeom prst="rect">
            <a:avLst/>
          </a:prstGeom>
          <a:noFill/>
          <a:ln/>
        </p:spPr>
        <p:txBody>
          <a:bodyPr wrap="square" rtlCol="0" anchor="ctr"/>
          <a:lstStyle/>
          <a:p>
            <a:pPr marL="0" indent="0">
              <a:buNone/>
            </a:pPr>
            <a:r>
              <a:rPr lang="en-US" sz="950" dirty="0">
                <a:solidFill>
                  <a:srgbClr val="0F1923"/>
                </a:solidFill>
                <a:latin typeface="Calibri" pitchFamily="34" charset="0"/>
                <a:ea typeface="Calibri" pitchFamily="34" charset="-122"/>
                <a:cs typeface="Calibri" pitchFamily="34" charset="-120"/>
              </a:rPr>
              <a:t>Structure KYC-relevant fields (date_of_birth, national_id, gender, email) in a queryable form that satisfies Bank of Uganda regulatory requirements.</a:t>
            </a:r>
            <a:endParaRPr lang="en-US" sz="950" dirty="0"/>
          </a:p>
        </p:txBody>
      </p:sp>
      <p:sp>
        <p:nvSpPr>
          <p:cNvPr id="30" name="Shape 28"/>
          <p:cNvSpPr/>
          <p:nvPr/>
        </p:nvSpPr>
        <p:spPr>
          <a:xfrm>
            <a:off x="6117336" y="2852928"/>
            <a:ext cx="2807208" cy="160020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31" name="Shape 29"/>
          <p:cNvSpPr/>
          <p:nvPr/>
        </p:nvSpPr>
        <p:spPr>
          <a:xfrm>
            <a:off x="6117336" y="2852928"/>
            <a:ext cx="420624" cy="1600200"/>
          </a:xfrm>
          <a:prstGeom prst="rect">
            <a:avLst/>
          </a:prstGeom>
          <a:solidFill>
            <a:srgbClr val="A93226"/>
          </a:solidFill>
          <a:ln w="12700">
            <a:solidFill>
              <a:srgbClr val="A93226"/>
            </a:solidFill>
            <a:prstDash val="solid"/>
          </a:ln>
        </p:spPr>
      </p:sp>
      <p:sp>
        <p:nvSpPr>
          <p:cNvPr id="32" name="Text 30"/>
          <p:cNvSpPr/>
          <p:nvPr/>
        </p:nvSpPr>
        <p:spPr>
          <a:xfrm>
            <a:off x="6117336" y="2852928"/>
            <a:ext cx="420624" cy="1600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3" name="Text 31"/>
          <p:cNvSpPr/>
          <p:nvPr/>
        </p:nvSpPr>
        <p:spPr>
          <a:xfrm>
            <a:off x="6611112" y="2944368"/>
            <a:ext cx="2231136"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Scale with Growth</a:t>
            </a:r>
            <a:endParaRPr lang="en-US" sz="1150" dirty="0"/>
          </a:p>
        </p:txBody>
      </p:sp>
      <p:sp>
        <p:nvSpPr>
          <p:cNvPr id="34" name="Text 32"/>
          <p:cNvSpPr/>
          <p:nvPr/>
        </p:nvSpPr>
        <p:spPr>
          <a:xfrm>
            <a:off x="6611112" y="3255264"/>
            <a:ext cx="2231136" cy="1115568"/>
          </a:xfrm>
          <a:prstGeom prst="rect">
            <a:avLst/>
          </a:prstGeom>
          <a:noFill/>
          <a:ln/>
        </p:spPr>
        <p:txBody>
          <a:bodyPr wrap="square" rtlCol="0" anchor="ctr"/>
          <a:lstStyle/>
          <a:p>
            <a:pPr marL="0" indent="0">
              <a:buNone/>
            </a:pPr>
            <a:r>
              <a:rPr lang="en-US" sz="950" dirty="0">
                <a:solidFill>
                  <a:srgbClr val="0F1923"/>
                </a:solidFill>
                <a:latin typeface="Calibri" pitchFamily="34" charset="0"/>
                <a:ea typeface="Calibri" pitchFamily="34" charset="-122"/>
                <a:cs typeface="Calibri" pitchFamily="34" charset="-120"/>
              </a:rPr>
              <a:t>Design the schema to accommodate thousands of customer records with consistent performance using indexes on customer_id and account_number.</a:t>
            </a:r>
            <a:endParaRPr lang="en-US" sz="950" dirty="0"/>
          </a:p>
        </p:txBody>
      </p:sp>
      <p:sp>
        <p:nvSpPr>
          <p:cNvPr id="35" name="Shape 33"/>
          <p:cNvSpPr/>
          <p:nvPr/>
        </p:nvSpPr>
        <p:spPr>
          <a:xfrm>
            <a:off x="0" y="4892040"/>
            <a:ext cx="9144000" cy="251460"/>
          </a:xfrm>
          <a:prstGeom prst="rect">
            <a:avLst/>
          </a:prstGeom>
          <a:solidFill>
            <a:srgbClr val="0F1923"/>
          </a:solidFill>
          <a:ln w="12700">
            <a:solidFill>
              <a:srgbClr val="0F1923"/>
            </a:solidFill>
            <a:prstDash val="solid"/>
          </a:ln>
        </p:spPr>
      </p:sp>
      <p:sp>
        <p:nvSpPr>
          <p:cNvPr id="36" name="Text 34"/>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37" name="Text 35"/>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9"/>
        </a:solidFill>
        <a:effectLst/>
      </p:bgPr>
    </p:bg>
    <p:spTree>
      <p:nvGrpSpPr>
        <p:cNvPr id="1" name=""/>
        <p:cNvGrpSpPr/>
        <p:nvPr/>
      </p:nvGrpSpPr>
      <p:grpSpPr>
        <a:xfrm>
          <a:off x="0" y="0"/>
          <a:ext cx="0" cy="0"/>
          <a:chOff x="0" y="0"/>
          <a:chExt cx="0" cy="0"/>
        </a:xfrm>
      </p:grpSpPr>
      <p:sp>
        <p:nvSpPr>
          <p:cNvPr id="2" name="Text 0"/>
          <p:cNvSpPr/>
          <p:nvPr/>
        </p:nvSpPr>
        <p:spPr>
          <a:xfrm>
            <a:off x="228600" y="137160"/>
            <a:ext cx="8686800" cy="530352"/>
          </a:xfrm>
          <a:prstGeom prst="rect">
            <a:avLst/>
          </a:prstGeom>
          <a:noFill/>
          <a:ln/>
        </p:spPr>
        <p:txBody>
          <a:bodyPr wrap="square" rtlCol="0" anchor="ctr"/>
          <a:lstStyle/>
          <a:p>
            <a:pPr marL="0" indent="0">
              <a:buNone/>
            </a:pPr>
            <a:r>
              <a:rPr lang="en-US" sz="2700" b="1" dirty="0">
                <a:solidFill>
                  <a:srgbClr val="0F1923"/>
                </a:solidFill>
                <a:latin typeface="Calibri" pitchFamily="34" charset="0"/>
                <a:ea typeface="Calibri" pitchFamily="34" charset="-122"/>
                <a:cs typeface="Calibri" pitchFamily="34" charset="-120"/>
              </a:rPr>
              <a:t>Database Schema Design &amp; Normalisation</a:t>
            </a:r>
            <a:endParaRPr lang="en-US" sz="2700" dirty="0"/>
          </a:p>
        </p:txBody>
      </p:sp>
      <p:sp>
        <p:nvSpPr>
          <p:cNvPr id="3" name="Shape 1"/>
          <p:cNvSpPr/>
          <p:nvPr/>
        </p:nvSpPr>
        <p:spPr>
          <a:xfrm>
            <a:off x="228600" y="749808"/>
            <a:ext cx="8686800" cy="256032"/>
          </a:xfrm>
          <a:prstGeom prst="rect">
            <a:avLst/>
          </a:prstGeom>
          <a:solidFill>
            <a:srgbClr val="0A7E8C"/>
          </a:solidFill>
          <a:ln w="12700">
            <a:solidFill>
              <a:srgbClr val="0A7E8C"/>
            </a:solidFill>
            <a:prstDash val="solid"/>
          </a:ln>
        </p:spPr>
      </p:sp>
      <p:sp>
        <p:nvSpPr>
          <p:cNvPr id="4" name="Text 2"/>
          <p:cNvSpPr/>
          <p:nvPr/>
        </p:nvSpPr>
        <p:spPr>
          <a:xfrm>
            <a:off x="347472" y="749808"/>
            <a:ext cx="8412480" cy="256032"/>
          </a:xfrm>
          <a:prstGeom prst="rect">
            <a:avLst/>
          </a:prstGeom>
          <a:noFill/>
          <a:ln/>
        </p:spPr>
        <p:txBody>
          <a:bodyPr wrap="square"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ENTITY RELATIONSHIPS  ·  NORMALISATION  ·  DESIGN DECISIONS</a:t>
            </a:r>
            <a:endParaRPr lang="en-US" sz="950" dirty="0"/>
          </a:p>
        </p:txBody>
      </p:sp>
      <p:sp>
        <p:nvSpPr>
          <p:cNvPr id="5" name="Shape 3"/>
          <p:cNvSpPr/>
          <p:nvPr/>
        </p:nvSpPr>
        <p:spPr>
          <a:xfrm>
            <a:off x="228600" y="1115568"/>
            <a:ext cx="3474720" cy="3520440"/>
          </a:xfrm>
          <a:prstGeom prst="rect">
            <a:avLst/>
          </a:prstGeom>
          <a:solidFill>
            <a:srgbClr val="0F1923"/>
          </a:solidFill>
          <a:ln w="5080">
            <a:solidFill>
              <a:srgbClr val="CDD5DF"/>
            </a:solidFill>
            <a:prstDash val="solid"/>
          </a:ln>
          <a:effectLst>
            <a:outerShdw blurRad="101600" dist="38100" dir="8100000" algn="bl" rotWithShape="0">
              <a:srgbClr val="000000">
                <a:alpha val="18000"/>
              </a:srgbClr>
            </a:outerShdw>
          </a:effectLst>
        </p:spPr>
      </p:sp>
      <p:sp>
        <p:nvSpPr>
          <p:cNvPr id="6" name="Shape 4"/>
          <p:cNvSpPr/>
          <p:nvPr/>
        </p:nvSpPr>
        <p:spPr>
          <a:xfrm>
            <a:off x="228600" y="1115568"/>
            <a:ext cx="3474720" cy="347472"/>
          </a:xfrm>
          <a:prstGeom prst="rect">
            <a:avLst/>
          </a:prstGeom>
          <a:solidFill>
            <a:srgbClr val="0A7E8C"/>
          </a:solidFill>
          <a:ln w="12700">
            <a:solidFill>
              <a:srgbClr val="0A7E8C"/>
            </a:solidFill>
            <a:prstDash val="solid"/>
          </a:ln>
        </p:spPr>
      </p:sp>
      <p:sp>
        <p:nvSpPr>
          <p:cNvPr id="7" name="Text 5"/>
          <p:cNvSpPr/>
          <p:nvPr/>
        </p:nvSpPr>
        <p:spPr>
          <a:xfrm>
            <a:off x="347472" y="1115568"/>
            <a:ext cx="3291840" cy="347472"/>
          </a:xfrm>
          <a:prstGeom prst="rect">
            <a:avLst/>
          </a:prstGeom>
          <a:noFill/>
          <a:ln/>
        </p:spPr>
        <p:txBody>
          <a:bodyPr wrap="square" lIns="0" tIns="0" rIns="0" bIns="0" rtlCol="0" anchor="ctr"/>
          <a:lstStyle/>
          <a:p>
            <a:pPr marL="0" indent="0">
              <a:buNone/>
            </a:pPr>
            <a:r>
              <a:rPr lang="en-US" sz="1200" b="1" kern="0" spc="50" dirty="0">
                <a:solidFill>
                  <a:srgbClr val="FFFFFF"/>
                </a:solidFill>
                <a:latin typeface="Calibri" pitchFamily="34" charset="0"/>
                <a:ea typeface="Calibri" pitchFamily="34" charset="-122"/>
                <a:cs typeface="Calibri" pitchFamily="34" charset="-120"/>
              </a:rPr>
              <a:t>TABLE: customer_bio</a:t>
            </a:r>
            <a:endParaRPr lang="en-US" sz="1200" dirty="0"/>
          </a:p>
        </p:txBody>
      </p:sp>
      <p:sp>
        <p:nvSpPr>
          <p:cNvPr id="8" name="Shape 6"/>
          <p:cNvSpPr/>
          <p:nvPr/>
        </p:nvSpPr>
        <p:spPr>
          <a:xfrm>
            <a:off x="228600" y="1554480"/>
            <a:ext cx="3474720" cy="384048"/>
          </a:xfrm>
          <a:prstGeom prst="rect">
            <a:avLst/>
          </a:prstGeom>
          <a:solidFill>
            <a:srgbClr val="1A2E42"/>
          </a:solidFill>
          <a:ln w="12700">
            <a:solidFill>
              <a:srgbClr val="1A2E42"/>
            </a:solidFill>
            <a:prstDash val="solid"/>
          </a:ln>
        </p:spPr>
      </p:sp>
      <p:sp>
        <p:nvSpPr>
          <p:cNvPr id="9" name="Text 7"/>
          <p:cNvSpPr/>
          <p:nvPr/>
        </p:nvSpPr>
        <p:spPr>
          <a:xfrm>
            <a:off x="320040" y="1554480"/>
            <a:ext cx="1188720" cy="384048"/>
          </a:xfrm>
          <a:prstGeom prst="rect">
            <a:avLst/>
          </a:prstGeom>
          <a:noFill/>
          <a:ln/>
        </p:spPr>
        <p:txBody>
          <a:bodyPr wrap="square" lIns="0" tIns="0" rIns="0" bIns="0" rtlCol="0" anchor="ctr"/>
          <a:lstStyle/>
          <a:p>
            <a:pPr marL="0" indent="0">
              <a:buNone/>
            </a:pPr>
            <a:r>
              <a:rPr lang="en-US" sz="1000" b="1" dirty="0">
                <a:solidFill>
                  <a:srgbClr val="F5C842"/>
                </a:solidFill>
                <a:latin typeface="Consolas" pitchFamily="34" charset="0"/>
                <a:ea typeface="Consolas" pitchFamily="34" charset="-122"/>
                <a:cs typeface="Consolas" pitchFamily="34" charset="-120"/>
              </a:rPr>
              <a:t>customer_id</a:t>
            </a:r>
            <a:endParaRPr lang="en-US" sz="1000" dirty="0"/>
          </a:p>
        </p:txBody>
      </p:sp>
      <p:sp>
        <p:nvSpPr>
          <p:cNvPr id="10" name="Text 8"/>
          <p:cNvSpPr/>
          <p:nvPr/>
        </p:nvSpPr>
        <p:spPr>
          <a:xfrm>
            <a:off x="1536192" y="1554480"/>
            <a:ext cx="10058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VARCHAR(20)</a:t>
            </a:r>
            <a:endParaRPr lang="en-US" sz="900" dirty="0"/>
          </a:p>
        </p:txBody>
      </p:sp>
      <p:sp>
        <p:nvSpPr>
          <p:cNvPr id="11" name="Text 9"/>
          <p:cNvSpPr/>
          <p:nvPr/>
        </p:nvSpPr>
        <p:spPr>
          <a:xfrm>
            <a:off x="2578608" y="1554480"/>
            <a:ext cx="1005840" cy="384048"/>
          </a:xfrm>
          <a:prstGeom prst="rect">
            <a:avLst/>
          </a:prstGeom>
          <a:noFill/>
          <a:ln/>
        </p:spPr>
        <p:txBody>
          <a:bodyPr wrap="square" lIns="0" tIns="0" rIns="0" bIns="0" rtlCol="0" anchor="ctr"/>
          <a:lstStyle/>
          <a:p>
            <a:pPr marL="0" indent="0">
              <a:buNone/>
            </a:pPr>
            <a:r>
              <a:rPr lang="en-US" sz="850" b="1" dirty="0">
                <a:solidFill>
                  <a:srgbClr val="F5C842"/>
                </a:solidFill>
                <a:latin typeface="Calibri" pitchFamily="34" charset="0"/>
                <a:ea typeface="Calibri" pitchFamily="34" charset="-122"/>
                <a:cs typeface="Calibri" pitchFamily="34" charset="-120"/>
              </a:rPr>
              <a:t>🔑 PK</a:t>
            </a:r>
            <a:endParaRPr lang="en-US" sz="850" dirty="0"/>
          </a:p>
        </p:txBody>
      </p:sp>
      <p:sp>
        <p:nvSpPr>
          <p:cNvPr id="12" name="Shape 10"/>
          <p:cNvSpPr/>
          <p:nvPr/>
        </p:nvSpPr>
        <p:spPr>
          <a:xfrm>
            <a:off x="228600" y="1956816"/>
            <a:ext cx="3474720" cy="384048"/>
          </a:xfrm>
          <a:prstGeom prst="rect">
            <a:avLst/>
          </a:prstGeom>
          <a:solidFill>
            <a:srgbClr val="162436"/>
          </a:solidFill>
          <a:ln w="12700">
            <a:solidFill>
              <a:srgbClr val="162436"/>
            </a:solidFill>
            <a:prstDash val="solid"/>
          </a:ln>
        </p:spPr>
      </p:sp>
      <p:sp>
        <p:nvSpPr>
          <p:cNvPr id="13" name="Text 11"/>
          <p:cNvSpPr/>
          <p:nvPr/>
        </p:nvSpPr>
        <p:spPr>
          <a:xfrm>
            <a:off x="320040" y="1956816"/>
            <a:ext cx="11887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first_name</a:t>
            </a:r>
            <a:endParaRPr lang="en-US" sz="1000" dirty="0"/>
          </a:p>
        </p:txBody>
      </p:sp>
      <p:sp>
        <p:nvSpPr>
          <p:cNvPr id="14" name="Text 12"/>
          <p:cNvSpPr/>
          <p:nvPr/>
        </p:nvSpPr>
        <p:spPr>
          <a:xfrm>
            <a:off x="1536192" y="1956816"/>
            <a:ext cx="10058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VARCHAR(50)</a:t>
            </a:r>
            <a:endParaRPr lang="en-US" sz="900" dirty="0"/>
          </a:p>
        </p:txBody>
      </p:sp>
      <p:sp>
        <p:nvSpPr>
          <p:cNvPr id="15" name="Text 13"/>
          <p:cNvSpPr/>
          <p:nvPr/>
        </p:nvSpPr>
        <p:spPr>
          <a:xfrm>
            <a:off x="2578608" y="1956816"/>
            <a:ext cx="1005840" cy="384048"/>
          </a:xfrm>
          <a:prstGeom prst="rect">
            <a:avLst/>
          </a:prstGeom>
          <a:noFill/>
          <a:ln/>
        </p:spPr>
        <p:txBody>
          <a:bodyPr wrap="square" lIns="0" tIns="0" rIns="0" bIns="0" rtlCol="0" anchor="ctr"/>
          <a:lstStyle/>
          <a:p>
            <a:pPr marL="0" indent="0">
              <a:buNone/>
            </a:pPr>
            <a:r>
              <a:rPr lang="en-US" sz="850" dirty="0">
                <a:solidFill>
                  <a:srgbClr val="7D8FA1"/>
                </a:solidFill>
                <a:latin typeface="Calibri" pitchFamily="34" charset="0"/>
                <a:ea typeface="Calibri" pitchFamily="34" charset="-122"/>
                <a:cs typeface="Calibri" pitchFamily="34" charset="-120"/>
              </a:rPr>
              <a:t>✓</a:t>
            </a:r>
            <a:endParaRPr lang="en-US" sz="850" dirty="0"/>
          </a:p>
        </p:txBody>
      </p:sp>
      <p:sp>
        <p:nvSpPr>
          <p:cNvPr id="16" name="Shape 14"/>
          <p:cNvSpPr/>
          <p:nvPr/>
        </p:nvSpPr>
        <p:spPr>
          <a:xfrm>
            <a:off x="228600" y="2359152"/>
            <a:ext cx="3474720" cy="384048"/>
          </a:xfrm>
          <a:prstGeom prst="rect">
            <a:avLst/>
          </a:prstGeom>
          <a:solidFill>
            <a:srgbClr val="1A2E42"/>
          </a:solidFill>
          <a:ln w="12700">
            <a:solidFill>
              <a:srgbClr val="1A2E42"/>
            </a:solidFill>
            <a:prstDash val="solid"/>
          </a:ln>
        </p:spPr>
      </p:sp>
      <p:sp>
        <p:nvSpPr>
          <p:cNvPr id="17" name="Text 15"/>
          <p:cNvSpPr/>
          <p:nvPr/>
        </p:nvSpPr>
        <p:spPr>
          <a:xfrm>
            <a:off x="320040" y="2359152"/>
            <a:ext cx="11887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last_name</a:t>
            </a:r>
            <a:endParaRPr lang="en-US" sz="1000" dirty="0"/>
          </a:p>
        </p:txBody>
      </p:sp>
      <p:sp>
        <p:nvSpPr>
          <p:cNvPr id="18" name="Text 16"/>
          <p:cNvSpPr/>
          <p:nvPr/>
        </p:nvSpPr>
        <p:spPr>
          <a:xfrm>
            <a:off x="1536192" y="2359152"/>
            <a:ext cx="10058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VARCHAR(50)</a:t>
            </a:r>
            <a:endParaRPr lang="en-US" sz="900" dirty="0"/>
          </a:p>
        </p:txBody>
      </p:sp>
      <p:sp>
        <p:nvSpPr>
          <p:cNvPr id="19" name="Text 17"/>
          <p:cNvSpPr/>
          <p:nvPr/>
        </p:nvSpPr>
        <p:spPr>
          <a:xfrm>
            <a:off x="2578608" y="2359152"/>
            <a:ext cx="1005840" cy="384048"/>
          </a:xfrm>
          <a:prstGeom prst="rect">
            <a:avLst/>
          </a:prstGeom>
          <a:noFill/>
          <a:ln/>
        </p:spPr>
        <p:txBody>
          <a:bodyPr wrap="square" lIns="0" tIns="0" rIns="0" bIns="0" rtlCol="0" anchor="ctr"/>
          <a:lstStyle/>
          <a:p>
            <a:pPr marL="0" indent="0">
              <a:buNone/>
            </a:pPr>
            <a:r>
              <a:rPr lang="en-US" sz="850" dirty="0">
                <a:solidFill>
                  <a:srgbClr val="7D8FA1"/>
                </a:solidFill>
                <a:latin typeface="Calibri" pitchFamily="34" charset="0"/>
                <a:ea typeface="Calibri" pitchFamily="34" charset="-122"/>
                <a:cs typeface="Calibri" pitchFamily="34" charset="-120"/>
              </a:rPr>
              <a:t>✓</a:t>
            </a:r>
            <a:endParaRPr lang="en-US" sz="850" dirty="0"/>
          </a:p>
        </p:txBody>
      </p:sp>
      <p:sp>
        <p:nvSpPr>
          <p:cNvPr id="20" name="Shape 18"/>
          <p:cNvSpPr/>
          <p:nvPr/>
        </p:nvSpPr>
        <p:spPr>
          <a:xfrm>
            <a:off x="228600" y="2761488"/>
            <a:ext cx="3474720" cy="384048"/>
          </a:xfrm>
          <a:prstGeom prst="rect">
            <a:avLst/>
          </a:prstGeom>
          <a:solidFill>
            <a:srgbClr val="162436"/>
          </a:solidFill>
          <a:ln w="12700">
            <a:solidFill>
              <a:srgbClr val="162436"/>
            </a:solidFill>
            <a:prstDash val="solid"/>
          </a:ln>
        </p:spPr>
      </p:sp>
      <p:sp>
        <p:nvSpPr>
          <p:cNvPr id="21" name="Text 19"/>
          <p:cNvSpPr/>
          <p:nvPr/>
        </p:nvSpPr>
        <p:spPr>
          <a:xfrm>
            <a:off x="320040" y="2761488"/>
            <a:ext cx="11887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date_of_birth</a:t>
            </a:r>
            <a:endParaRPr lang="en-US" sz="1000" dirty="0"/>
          </a:p>
        </p:txBody>
      </p:sp>
      <p:sp>
        <p:nvSpPr>
          <p:cNvPr id="22" name="Text 20"/>
          <p:cNvSpPr/>
          <p:nvPr/>
        </p:nvSpPr>
        <p:spPr>
          <a:xfrm>
            <a:off x="1536192" y="2761488"/>
            <a:ext cx="10058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DATE</a:t>
            </a:r>
            <a:endParaRPr lang="en-US" sz="900" dirty="0"/>
          </a:p>
        </p:txBody>
      </p:sp>
      <p:sp>
        <p:nvSpPr>
          <p:cNvPr id="23" name="Text 21"/>
          <p:cNvSpPr/>
          <p:nvPr/>
        </p:nvSpPr>
        <p:spPr>
          <a:xfrm>
            <a:off x="2578608" y="2761488"/>
            <a:ext cx="1005840" cy="384048"/>
          </a:xfrm>
          <a:prstGeom prst="rect">
            <a:avLst/>
          </a:prstGeom>
          <a:noFill/>
          <a:ln/>
        </p:spPr>
        <p:txBody>
          <a:bodyPr wrap="square" lIns="0" tIns="0" rIns="0" bIns="0" rtlCol="0" anchor="ctr"/>
          <a:lstStyle/>
          <a:p>
            <a:pPr marL="0" indent="0">
              <a:buNone/>
            </a:pPr>
            <a:r>
              <a:rPr lang="en-US" sz="850" dirty="0">
                <a:solidFill>
                  <a:srgbClr val="7D8FA1"/>
                </a:solidFill>
                <a:latin typeface="Calibri" pitchFamily="34" charset="0"/>
                <a:ea typeface="Calibri" pitchFamily="34" charset="-122"/>
                <a:cs typeface="Calibri" pitchFamily="34" charset="-120"/>
              </a:rPr>
              <a:t>✓</a:t>
            </a:r>
            <a:endParaRPr lang="en-US" sz="850" dirty="0"/>
          </a:p>
        </p:txBody>
      </p:sp>
      <p:sp>
        <p:nvSpPr>
          <p:cNvPr id="24" name="Shape 22"/>
          <p:cNvSpPr/>
          <p:nvPr/>
        </p:nvSpPr>
        <p:spPr>
          <a:xfrm>
            <a:off x="228600" y="3163824"/>
            <a:ext cx="3474720" cy="384048"/>
          </a:xfrm>
          <a:prstGeom prst="rect">
            <a:avLst/>
          </a:prstGeom>
          <a:solidFill>
            <a:srgbClr val="1A2E42"/>
          </a:solidFill>
          <a:ln w="12700">
            <a:solidFill>
              <a:srgbClr val="1A2E42"/>
            </a:solidFill>
            <a:prstDash val="solid"/>
          </a:ln>
        </p:spPr>
      </p:sp>
      <p:sp>
        <p:nvSpPr>
          <p:cNvPr id="25" name="Text 23"/>
          <p:cNvSpPr/>
          <p:nvPr/>
        </p:nvSpPr>
        <p:spPr>
          <a:xfrm>
            <a:off x="320040" y="3163824"/>
            <a:ext cx="11887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gender</a:t>
            </a:r>
            <a:endParaRPr lang="en-US" sz="1000" dirty="0"/>
          </a:p>
        </p:txBody>
      </p:sp>
      <p:sp>
        <p:nvSpPr>
          <p:cNvPr id="26" name="Text 24"/>
          <p:cNvSpPr/>
          <p:nvPr/>
        </p:nvSpPr>
        <p:spPr>
          <a:xfrm>
            <a:off x="1536192" y="3163824"/>
            <a:ext cx="10058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ENUM(m,f)</a:t>
            </a:r>
            <a:endParaRPr lang="en-US" sz="900" dirty="0"/>
          </a:p>
        </p:txBody>
      </p:sp>
      <p:sp>
        <p:nvSpPr>
          <p:cNvPr id="27" name="Text 25"/>
          <p:cNvSpPr/>
          <p:nvPr/>
        </p:nvSpPr>
        <p:spPr>
          <a:xfrm>
            <a:off x="2578608" y="3163824"/>
            <a:ext cx="1005840" cy="384048"/>
          </a:xfrm>
          <a:prstGeom prst="rect">
            <a:avLst/>
          </a:prstGeom>
          <a:noFill/>
          <a:ln/>
        </p:spPr>
        <p:txBody>
          <a:bodyPr wrap="square" lIns="0" tIns="0" rIns="0" bIns="0" rtlCol="0" anchor="ctr"/>
          <a:lstStyle/>
          <a:p>
            <a:pPr marL="0" indent="0">
              <a:buNone/>
            </a:pPr>
            <a:r>
              <a:rPr lang="en-US" sz="850" dirty="0">
                <a:solidFill>
                  <a:srgbClr val="7D8FA1"/>
                </a:solidFill>
                <a:latin typeface="Calibri" pitchFamily="34" charset="0"/>
                <a:ea typeface="Calibri" pitchFamily="34" charset="-122"/>
                <a:cs typeface="Calibri" pitchFamily="34" charset="-120"/>
              </a:rPr>
              <a:t>✓</a:t>
            </a:r>
            <a:endParaRPr lang="en-US" sz="850" dirty="0"/>
          </a:p>
        </p:txBody>
      </p:sp>
      <p:sp>
        <p:nvSpPr>
          <p:cNvPr id="28" name="Shape 26"/>
          <p:cNvSpPr/>
          <p:nvPr/>
        </p:nvSpPr>
        <p:spPr>
          <a:xfrm>
            <a:off x="228600" y="3566160"/>
            <a:ext cx="3474720" cy="384048"/>
          </a:xfrm>
          <a:prstGeom prst="rect">
            <a:avLst/>
          </a:prstGeom>
          <a:solidFill>
            <a:srgbClr val="162436"/>
          </a:solidFill>
          <a:ln w="12700">
            <a:solidFill>
              <a:srgbClr val="162436"/>
            </a:solidFill>
            <a:prstDash val="solid"/>
          </a:ln>
        </p:spPr>
      </p:sp>
      <p:sp>
        <p:nvSpPr>
          <p:cNvPr id="29" name="Text 27"/>
          <p:cNvSpPr/>
          <p:nvPr/>
        </p:nvSpPr>
        <p:spPr>
          <a:xfrm>
            <a:off x="320040" y="3566160"/>
            <a:ext cx="11887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email</a:t>
            </a:r>
            <a:endParaRPr lang="en-US" sz="1000" dirty="0"/>
          </a:p>
        </p:txBody>
      </p:sp>
      <p:sp>
        <p:nvSpPr>
          <p:cNvPr id="30" name="Text 28"/>
          <p:cNvSpPr/>
          <p:nvPr/>
        </p:nvSpPr>
        <p:spPr>
          <a:xfrm>
            <a:off x="1536192" y="3566160"/>
            <a:ext cx="10058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VARCHAR(100)</a:t>
            </a:r>
            <a:endParaRPr lang="en-US" sz="900" dirty="0"/>
          </a:p>
        </p:txBody>
      </p:sp>
      <p:sp>
        <p:nvSpPr>
          <p:cNvPr id="31" name="Text 29"/>
          <p:cNvSpPr/>
          <p:nvPr/>
        </p:nvSpPr>
        <p:spPr>
          <a:xfrm>
            <a:off x="2578608" y="3566160"/>
            <a:ext cx="1005840" cy="384048"/>
          </a:xfrm>
          <a:prstGeom prst="rect">
            <a:avLst/>
          </a:prstGeom>
          <a:noFill/>
          <a:ln/>
        </p:spPr>
        <p:txBody>
          <a:bodyPr wrap="square" lIns="0" tIns="0" rIns="0" bIns="0" rtlCol="0" anchor="ctr"/>
          <a:lstStyle/>
          <a:p>
            <a:pPr marL="0" indent="0">
              <a:buNone/>
            </a:pPr>
            <a:r>
              <a:rPr lang="en-US" sz="850" dirty="0">
                <a:solidFill>
                  <a:srgbClr val="12B5C4"/>
                </a:solidFill>
                <a:latin typeface="Calibri" pitchFamily="34" charset="0"/>
                <a:ea typeface="Calibri" pitchFamily="34" charset="-122"/>
                <a:cs typeface="Calibri" pitchFamily="34" charset="-120"/>
              </a:rPr>
              <a:t>◆ UNIQ</a:t>
            </a:r>
            <a:endParaRPr lang="en-US" sz="850" dirty="0"/>
          </a:p>
        </p:txBody>
      </p:sp>
      <p:sp>
        <p:nvSpPr>
          <p:cNvPr id="32" name="Shape 30"/>
          <p:cNvSpPr/>
          <p:nvPr/>
        </p:nvSpPr>
        <p:spPr>
          <a:xfrm>
            <a:off x="3767328" y="2743200"/>
            <a:ext cx="548640" cy="54864"/>
          </a:xfrm>
          <a:prstGeom prst="rect">
            <a:avLst/>
          </a:prstGeom>
          <a:solidFill>
            <a:srgbClr val="C8922A"/>
          </a:solidFill>
          <a:ln w="12700">
            <a:solidFill>
              <a:srgbClr val="C8922A"/>
            </a:solidFill>
            <a:prstDash val="solid"/>
          </a:ln>
        </p:spPr>
      </p:sp>
      <p:sp>
        <p:nvSpPr>
          <p:cNvPr id="33" name="Text 31"/>
          <p:cNvSpPr/>
          <p:nvPr/>
        </p:nvSpPr>
        <p:spPr>
          <a:xfrm>
            <a:off x="3703320" y="2578608"/>
            <a:ext cx="685800" cy="256032"/>
          </a:xfrm>
          <a:prstGeom prst="rect">
            <a:avLst/>
          </a:prstGeom>
          <a:noFill/>
          <a:ln/>
        </p:spPr>
        <p:txBody>
          <a:bodyPr wrap="square" rtlCol="0" anchor="ctr"/>
          <a:lstStyle/>
          <a:p>
            <a:pPr marL="0" indent="0" algn="ctr">
              <a:buNone/>
            </a:pPr>
            <a:r>
              <a:rPr lang="en-US" sz="1000" b="1" dirty="0">
                <a:solidFill>
                  <a:srgbClr val="C8922A"/>
                </a:solidFill>
                <a:latin typeface="Calibri" pitchFamily="34" charset="0"/>
                <a:ea typeface="Calibri" pitchFamily="34" charset="-122"/>
                <a:cs typeface="Calibri" pitchFamily="34" charset="-120"/>
              </a:rPr>
              <a:t>1 : N</a:t>
            </a:r>
            <a:endParaRPr lang="en-US" sz="1000" dirty="0"/>
          </a:p>
        </p:txBody>
      </p:sp>
      <p:sp>
        <p:nvSpPr>
          <p:cNvPr id="34" name="Text 32"/>
          <p:cNvSpPr/>
          <p:nvPr/>
        </p:nvSpPr>
        <p:spPr>
          <a:xfrm>
            <a:off x="3749040" y="2816352"/>
            <a:ext cx="594360" cy="256032"/>
          </a:xfrm>
          <a:prstGeom prst="rect">
            <a:avLst/>
          </a:prstGeom>
          <a:noFill/>
          <a:ln/>
        </p:spPr>
        <p:txBody>
          <a:bodyPr wrap="square" rtlCol="0" anchor="ctr"/>
          <a:lstStyle/>
          <a:p>
            <a:pPr marL="0" indent="0" algn="ctr">
              <a:buNone/>
            </a:pPr>
            <a:r>
              <a:rPr lang="en-US" sz="900" dirty="0">
                <a:solidFill>
                  <a:srgbClr val="CDD5DF"/>
                </a:solidFill>
                <a:latin typeface="Calibri" pitchFamily="34" charset="0"/>
                <a:ea typeface="Calibri" pitchFamily="34" charset="-122"/>
                <a:cs typeface="Calibri" pitchFamily="34" charset="-120"/>
              </a:rPr>
              <a:t>FK →</a:t>
            </a:r>
            <a:endParaRPr lang="en-US" sz="900" dirty="0"/>
          </a:p>
        </p:txBody>
      </p:sp>
      <p:sp>
        <p:nvSpPr>
          <p:cNvPr id="35" name="Shape 33"/>
          <p:cNvSpPr/>
          <p:nvPr/>
        </p:nvSpPr>
        <p:spPr>
          <a:xfrm>
            <a:off x="4407408" y="1115568"/>
            <a:ext cx="4507992" cy="3520440"/>
          </a:xfrm>
          <a:prstGeom prst="rect">
            <a:avLst/>
          </a:prstGeom>
          <a:solidFill>
            <a:srgbClr val="0F1923"/>
          </a:solidFill>
          <a:ln w="5080">
            <a:solidFill>
              <a:srgbClr val="CDD5DF"/>
            </a:solidFill>
            <a:prstDash val="solid"/>
          </a:ln>
          <a:effectLst>
            <a:outerShdw blurRad="101600" dist="38100" dir="8100000" algn="bl" rotWithShape="0">
              <a:srgbClr val="000000">
                <a:alpha val="18000"/>
              </a:srgbClr>
            </a:outerShdw>
          </a:effectLst>
        </p:spPr>
      </p:sp>
      <p:sp>
        <p:nvSpPr>
          <p:cNvPr id="36" name="Shape 34"/>
          <p:cNvSpPr/>
          <p:nvPr/>
        </p:nvSpPr>
        <p:spPr>
          <a:xfrm>
            <a:off x="4407408" y="1115568"/>
            <a:ext cx="4507992" cy="347472"/>
          </a:xfrm>
          <a:prstGeom prst="rect">
            <a:avLst/>
          </a:prstGeom>
          <a:solidFill>
            <a:srgbClr val="1B4F72"/>
          </a:solidFill>
          <a:ln w="12700">
            <a:solidFill>
              <a:srgbClr val="1B4F72"/>
            </a:solidFill>
            <a:prstDash val="solid"/>
          </a:ln>
        </p:spPr>
      </p:sp>
      <p:sp>
        <p:nvSpPr>
          <p:cNvPr id="37" name="Text 35"/>
          <p:cNvSpPr/>
          <p:nvPr/>
        </p:nvSpPr>
        <p:spPr>
          <a:xfrm>
            <a:off x="4526280" y="1115568"/>
            <a:ext cx="4297680" cy="347472"/>
          </a:xfrm>
          <a:prstGeom prst="rect">
            <a:avLst/>
          </a:prstGeom>
          <a:noFill/>
          <a:ln/>
        </p:spPr>
        <p:txBody>
          <a:bodyPr wrap="square" lIns="0" tIns="0" rIns="0" bIns="0" rtlCol="0" anchor="ctr"/>
          <a:lstStyle/>
          <a:p>
            <a:pPr marL="0" indent="0">
              <a:buNone/>
            </a:pPr>
            <a:r>
              <a:rPr lang="en-US" sz="1200" b="1" kern="0" spc="50" dirty="0">
                <a:solidFill>
                  <a:srgbClr val="FFFFFF"/>
                </a:solidFill>
                <a:latin typeface="Calibri" pitchFamily="34" charset="0"/>
                <a:ea typeface="Calibri" pitchFamily="34" charset="-122"/>
                <a:cs typeface="Calibri" pitchFamily="34" charset="-120"/>
              </a:rPr>
              <a:t>TABLE: account_details</a:t>
            </a:r>
            <a:endParaRPr lang="en-US" sz="1200" dirty="0"/>
          </a:p>
        </p:txBody>
      </p:sp>
      <p:sp>
        <p:nvSpPr>
          <p:cNvPr id="38" name="Shape 36"/>
          <p:cNvSpPr/>
          <p:nvPr/>
        </p:nvSpPr>
        <p:spPr>
          <a:xfrm>
            <a:off x="4407408" y="1554480"/>
            <a:ext cx="4507992" cy="384048"/>
          </a:xfrm>
          <a:prstGeom prst="rect">
            <a:avLst/>
          </a:prstGeom>
          <a:solidFill>
            <a:srgbClr val="1A3050"/>
          </a:solidFill>
          <a:ln w="12700">
            <a:solidFill>
              <a:srgbClr val="1A3050"/>
            </a:solidFill>
            <a:prstDash val="solid"/>
          </a:ln>
        </p:spPr>
      </p:sp>
      <p:sp>
        <p:nvSpPr>
          <p:cNvPr id="39" name="Text 37"/>
          <p:cNvSpPr/>
          <p:nvPr/>
        </p:nvSpPr>
        <p:spPr>
          <a:xfrm>
            <a:off x="4498848" y="1554480"/>
            <a:ext cx="1417320" cy="384048"/>
          </a:xfrm>
          <a:prstGeom prst="rect">
            <a:avLst/>
          </a:prstGeom>
          <a:noFill/>
          <a:ln/>
        </p:spPr>
        <p:txBody>
          <a:bodyPr wrap="square" lIns="0" tIns="0" rIns="0" bIns="0" rtlCol="0" anchor="ctr"/>
          <a:lstStyle/>
          <a:p>
            <a:pPr marL="0" indent="0">
              <a:buNone/>
            </a:pPr>
            <a:r>
              <a:rPr lang="en-US" sz="1000" b="1" dirty="0">
                <a:solidFill>
                  <a:srgbClr val="F5C842"/>
                </a:solidFill>
                <a:latin typeface="Consolas" pitchFamily="34" charset="0"/>
                <a:ea typeface="Consolas" pitchFamily="34" charset="-122"/>
                <a:cs typeface="Consolas" pitchFamily="34" charset="-120"/>
              </a:rPr>
              <a:t>account_number</a:t>
            </a:r>
            <a:endParaRPr lang="en-US" sz="1000" dirty="0"/>
          </a:p>
        </p:txBody>
      </p:sp>
      <p:sp>
        <p:nvSpPr>
          <p:cNvPr id="40" name="Text 38"/>
          <p:cNvSpPr/>
          <p:nvPr/>
        </p:nvSpPr>
        <p:spPr>
          <a:xfrm>
            <a:off x="5943600" y="1554480"/>
            <a:ext cx="12344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INT</a:t>
            </a:r>
            <a:endParaRPr lang="en-US" sz="900" dirty="0"/>
          </a:p>
        </p:txBody>
      </p:sp>
      <p:sp>
        <p:nvSpPr>
          <p:cNvPr id="41" name="Text 39"/>
          <p:cNvSpPr/>
          <p:nvPr/>
        </p:nvSpPr>
        <p:spPr>
          <a:xfrm>
            <a:off x="7205472" y="1554480"/>
            <a:ext cx="1600200" cy="384048"/>
          </a:xfrm>
          <a:prstGeom prst="rect">
            <a:avLst/>
          </a:prstGeom>
          <a:noFill/>
          <a:ln/>
        </p:spPr>
        <p:txBody>
          <a:bodyPr wrap="square" lIns="0" tIns="0" rIns="0" bIns="0" rtlCol="0" anchor="ctr"/>
          <a:lstStyle/>
          <a:p>
            <a:pPr marL="0" indent="0">
              <a:buNone/>
            </a:pPr>
            <a:r>
              <a:rPr lang="en-US" sz="850" b="1" dirty="0">
                <a:solidFill>
                  <a:srgbClr val="F5C842"/>
                </a:solidFill>
                <a:latin typeface="Calibri" pitchFamily="34" charset="0"/>
                <a:ea typeface="Calibri" pitchFamily="34" charset="-122"/>
                <a:cs typeface="Calibri" pitchFamily="34" charset="-120"/>
              </a:rPr>
              <a:t>🔑 PK</a:t>
            </a:r>
            <a:endParaRPr lang="en-US" sz="850" dirty="0"/>
          </a:p>
        </p:txBody>
      </p:sp>
      <p:sp>
        <p:nvSpPr>
          <p:cNvPr id="42" name="Shape 40"/>
          <p:cNvSpPr/>
          <p:nvPr/>
        </p:nvSpPr>
        <p:spPr>
          <a:xfrm>
            <a:off x="4407408" y="1956816"/>
            <a:ext cx="4507992" cy="384048"/>
          </a:xfrm>
          <a:prstGeom prst="rect">
            <a:avLst/>
          </a:prstGeom>
          <a:solidFill>
            <a:srgbClr val="162848"/>
          </a:solidFill>
          <a:ln w="12700">
            <a:solidFill>
              <a:srgbClr val="162848"/>
            </a:solidFill>
            <a:prstDash val="solid"/>
          </a:ln>
        </p:spPr>
      </p:sp>
      <p:sp>
        <p:nvSpPr>
          <p:cNvPr id="43" name="Text 41"/>
          <p:cNvSpPr/>
          <p:nvPr/>
        </p:nvSpPr>
        <p:spPr>
          <a:xfrm>
            <a:off x="4498848" y="1956816"/>
            <a:ext cx="1417320" cy="384048"/>
          </a:xfrm>
          <a:prstGeom prst="rect">
            <a:avLst/>
          </a:prstGeom>
          <a:noFill/>
          <a:ln/>
        </p:spPr>
        <p:txBody>
          <a:bodyPr wrap="square" lIns="0" tIns="0" rIns="0" bIns="0" rtlCol="0" anchor="ctr"/>
          <a:lstStyle/>
          <a:p>
            <a:pPr marL="0" indent="0">
              <a:buNone/>
            </a:pPr>
            <a:r>
              <a:rPr lang="en-US" sz="1000" b="1" dirty="0">
                <a:solidFill>
                  <a:srgbClr val="12B5C4"/>
                </a:solidFill>
                <a:latin typeface="Consolas" pitchFamily="34" charset="0"/>
                <a:ea typeface="Consolas" pitchFamily="34" charset="-122"/>
                <a:cs typeface="Consolas" pitchFamily="34" charset="-120"/>
              </a:rPr>
              <a:t>customer_id</a:t>
            </a:r>
            <a:endParaRPr lang="en-US" sz="1000" dirty="0"/>
          </a:p>
        </p:txBody>
      </p:sp>
      <p:sp>
        <p:nvSpPr>
          <p:cNvPr id="44" name="Text 42"/>
          <p:cNvSpPr/>
          <p:nvPr/>
        </p:nvSpPr>
        <p:spPr>
          <a:xfrm>
            <a:off x="5943600" y="1956816"/>
            <a:ext cx="12344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VARCHAR(20)</a:t>
            </a:r>
            <a:endParaRPr lang="en-US" sz="900" dirty="0"/>
          </a:p>
        </p:txBody>
      </p:sp>
      <p:sp>
        <p:nvSpPr>
          <p:cNvPr id="45" name="Text 43"/>
          <p:cNvSpPr/>
          <p:nvPr/>
        </p:nvSpPr>
        <p:spPr>
          <a:xfrm>
            <a:off x="7205472" y="1956816"/>
            <a:ext cx="1600200" cy="384048"/>
          </a:xfrm>
          <a:prstGeom prst="rect">
            <a:avLst/>
          </a:prstGeom>
          <a:noFill/>
          <a:ln/>
        </p:spPr>
        <p:txBody>
          <a:bodyPr wrap="square" lIns="0" tIns="0" rIns="0" bIns="0" rtlCol="0" anchor="ctr"/>
          <a:lstStyle/>
          <a:p>
            <a:pPr marL="0" indent="0">
              <a:buNone/>
            </a:pPr>
            <a:r>
              <a:rPr lang="en-US" sz="850" b="1" dirty="0">
                <a:solidFill>
                  <a:srgbClr val="12B5C4"/>
                </a:solidFill>
                <a:latin typeface="Calibri" pitchFamily="34" charset="0"/>
                <a:ea typeface="Calibri" pitchFamily="34" charset="-122"/>
                <a:cs typeface="Calibri" pitchFamily="34" charset="-120"/>
              </a:rPr>
              <a:t>🔗 FK</a:t>
            </a:r>
            <a:endParaRPr lang="en-US" sz="850" dirty="0"/>
          </a:p>
        </p:txBody>
      </p:sp>
      <p:sp>
        <p:nvSpPr>
          <p:cNvPr id="46" name="Shape 44"/>
          <p:cNvSpPr/>
          <p:nvPr/>
        </p:nvSpPr>
        <p:spPr>
          <a:xfrm>
            <a:off x="4407408" y="2359152"/>
            <a:ext cx="4507992" cy="384048"/>
          </a:xfrm>
          <a:prstGeom prst="rect">
            <a:avLst/>
          </a:prstGeom>
          <a:solidFill>
            <a:srgbClr val="1A3050"/>
          </a:solidFill>
          <a:ln w="12700">
            <a:solidFill>
              <a:srgbClr val="1A3050"/>
            </a:solidFill>
            <a:prstDash val="solid"/>
          </a:ln>
        </p:spPr>
      </p:sp>
      <p:sp>
        <p:nvSpPr>
          <p:cNvPr id="47" name="Text 45"/>
          <p:cNvSpPr/>
          <p:nvPr/>
        </p:nvSpPr>
        <p:spPr>
          <a:xfrm>
            <a:off x="4498848" y="2359152"/>
            <a:ext cx="14173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account_type</a:t>
            </a:r>
            <a:endParaRPr lang="en-US" sz="1000" dirty="0"/>
          </a:p>
        </p:txBody>
      </p:sp>
      <p:sp>
        <p:nvSpPr>
          <p:cNvPr id="48" name="Text 46"/>
          <p:cNvSpPr/>
          <p:nvPr/>
        </p:nvSpPr>
        <p:spPr>
          <a:xfrm>
            <a:off x="5943600" y="2359152"/>
            <a:ext cx="12344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ENUM(savings,current)</a:t>
            </a:r>
            <a:endParaRPr lang="en-US" sz="900" dirty="0"/>
          </a:p>
        </p:txBody>
      </p:sp>
      <p:sp>
        <p:nvSpPr>
          <p:cNvPr id="49" name="Text 47"/>
          <p:cNvSpPr/>
          <p:nvPr/>
        </p:nvSpPr>
        <p:spPr>
          <a:xfrm>
            <a:off x="7205472" y="2359152"/>
            <a:ext cx="1600200" cy="384048"/>
          </a:xfrm>
          <a:prstGeom prst="rect">
            <a:avLst/>
          </a:prstGeom>
          <a:noFill/>
          <a:ln/>
        </p:spPr>
        <p:txBody>
          <a:bodyPr wrap="square" lIns="0" tIns="0" rIns="0" bIns="0" rtlCol="0" anchor="ctr"/>
          <a:lstStyle/>
          <a:p>
            <a:pPr marL="0" indent="0">
              <a:buNone/>
            </a:pPr>
            <a:r>
              <a:rPr lang="en-US" sz="850" dirty="0">
                <a:solidFill>
                  <a:srgbClr val="7D8FA1"/>
                </a:solidFill>
                <a:latin typeface="Calibri" pitchFamily="34" charset="0"/>
                <a:ea typeface="Calibri" pitchFamily="34" charset="-122"/>
                <a:cs typeface="Calibri" pitchFamily="34" charset="-120"/>
              </a:rPr>
              <a:t>✓</a:t>
            </a:r>
            <a:endParaRPr lang="en-US" sz="850" dirty="0"/>
          </a:p>
        </p:txBody>
      </p:sp>
      <p:sp>
        <p:nvSpPr>
          <p:cNvPr id="50" name="Shape 48"/>
          <p:cNvSpPr/>
          <p:nvPr/>
        </p:nvSpPr>
        <p:spPr>
          <a:xfrm>
            <a:off x="4407408" y="2761488"/>
            <a:ext cx="4507992" cy="384048"/>
          </a:xfrm>
          <a:prstGeom prst="rect">
            <a:avLst/>
          </a:prstGeom>
          <a:solidFill>
            <a:srgbClr val="162848"/>
          </a:solidFill>
          <a:ln w="12700">
            <a:solidFill>
              <a:srgbClr val="162848"/>
            </a:solidFill>
            <a:prstDash val="solid"/>
          </a:ln>
        </p:spPr>
      </p:sp>
      <p:sp>
        <p:nvSpPr>
          <p:cNvPr id="51" name="Text 49"/>
          <p:cNvSpPr/>
          <p:nvPr/>
        </p:nvSpPr>
        <p:spPr>
          <a:xfrm>
            <a:off x="4498848" y="2761488"/>
            <a:ext cx="14173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balance</a:t>
            </a:r>
            <a:endParaRPr lang="en-US" sz="1000" dirty="0"/>
          </a:p>
        </p:txBody>
      </p:sp>
      <p:sp>
        <p:nvSpPr>
          <p:cNvPr id="52" name="Text 50"/>
          <p:cNvSpPr/>
          <p:nvPr/>
        </p:nvSpPr>
        <p:spPr>
          <a:xfrm>
            <a:off x="5943600" y="2761488"/>
            <a:ext cx="12344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DECIMAL(12,2)</a:t>
            </a:r>
            <a:endParaRPr lang="en-US" sz="900" dirty="0"/>
          </a:p>
        </p:txBody>
      </p:sp>
      <p:sp>
        <p:nvSpPr>
          <p:cNvPr id="53" name="Text 51"/>
          <p:cNvSpPr/>
          <p:nvPr/>
        </p:nvSpPr>
        <p:spPr>
          <a:xfrm>
            <a:off x="7205472" y="2761488"/>
            <a:ext cx="1600200" cy="384048"/>
          </a:xfrm>
          <a:prstGeom prst="rect">
            <a:avLst/>
          </a:prstGeom>
          <a:noFill/>
          <a:ln/>
        </p:spPr>
        <p:txBody>
          <a:bodyPr wrap="square" lIns="0" tIns="0" rIns="0" bIns="0" rtlCol="0" anchor="ctr"/>
          <a:lstStyle/>
          <a:p>
            <a:pPr marL="0" indent="0">
              <a:buNone/>
            </a:pPr>
            <a:r>
              <a:rPr lang="en-US" sz="850" dirty="0">
                <a:solidFill>
                  <a:srgbClr val="E67E22"/>
                </a:solidFill>
                <a:latin typeface="Calibri" pitchFamily="34" charset="0"/>
                <a:ea typeface="Calibri" pitchFamily="34" charset="-122"/>
                <a:cs typeface="Calibri" pitchFamily="34" charset="-120"/>
              </a:rPr>
              <a:t>⚡ CHECK</a:t>
            </a:r>
            <a:endParaRPr lang="en-US" sz="850" dirty="0"/>
          </a:p>
        </p:txBody>
      </p:sp>
      <p:sp>
        <p:nvSpPr>
          <p:cNvPr id="54" name="Shape 52"/>
          <p:cNvSpPr/>
          <p:nvPr/>
        </p:nvSpPr>
        <p:spPr>
          <a:xfrm>
            <a:off x="4407408" y="3163824"/>
            <a:ext cx="4507992" cy="384048"/>
          </a:xfrm>
          <a:prstGeom prst="rect">
            <a:avLst/>
          </a:prstGeom>
          <a:solidFill>
            <a:srgbClr val="1A3050"/>
          </a:solidFill>
          <a:ln w="12700">
            <a:solidFill>
              <a:srgbClr val="1A3050"/>
            </a:solidFill>
            <a:prstDash val="solid"/>
          </a:ln>
        </p:spPr>
      </p:sp>
      <p:sp>
        <p:nvSpPr>
          <p:cNvPr id="55" name="Text 53"/>
          <p:cNvSpPr/>
          <p:nvPr/>
        </p:nvSpPr>
        <p:spPr>
          <a:xfrm>
            <a:off x="4498848" y="3163824"/>
            <a:ext cx="14173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currency</a:t>
            </a:r>
            <a:endParaRPr lang="en-US" sz="1000" dirty="0"/>
          </a:p>
        </p:txBody>
      </p:sp>
      <p:sp>
        <p:nvSpPr>
          <p:cNvPr id="56" name="Text 54"/>
          <p:cNvSpPr/>
          <p:nvPr/>
        </p:nvSpPr>
        <p:spPr>
          <a:xfrm>
            <a:off x="5943600" y="3163824"/>
            <a:ext cx="12344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CHAR(3)</a:t>
            </a:r>
            <a:endParaRPr lang="en-US" sz="900" dirty="0"/>
          </a:p>
        </p:txBody>
      </p:sp>
      <p:sp>
        <p:nvSpPr>
          <p:cNvPr id="57" name="Text 55"/>
          <p:cNvSpPr/>
          <p:nvPr/>
        </p:nvSpPr>
        <p:spPr>
          <a:xfrm>
            <a:off x="7205472" y="3163824"/>
            <a:ext cx="1600200" cy="384048"/>
          </a:xfrm>
          <a:prstGeom prst="rect">
            <a:avLst/>
          </a:prstGeom>
          <a:noFill/>
          <a:ln/>
        </p:spPr>
        <p:txBody>
          <a:bodyPr wrap="square" lIns="0" tIns="0" rIns="0" bIns="0" rtlCol="0" anchor="ctr"/>
          <a:lstStyle/>
          <a:p>
            <a:pPr marL="0" indent="0">
              <a:buNone/>
            </a:pPr>
            <a:r>
              <a:rPr lang="en-US" sz="850" dirty="0">
                <a:solidFill>
                  <a:srgbClr val="7D8FA1"/>
                </a:solidFill>
                <a:latin typeface="Calibri" pitchFamily="34" charset="0"/>
                <a:ea typeface="Calibri" pitchFamily="34" charset="-122"/>
                <a:cs typeface="Calibri" pitchFamily="34" charset="-120"/>
              </a:rPr>
              <a:t>✓</a:t>
            </a:r>
            <a:endParaRPr lang="en-US" sz="850" dirty="0"/>
          </a:p>
        </p:txBody>
      </p:sp>
      <p:sp>
        <p:nvSpPr>
          <p:cNvPr id="58" name="Shape 56"/>
          <p:cNvSpPr/>
          <p:nvPr/>
        </p:nvSpPr>
        <p:spPr>
          <a:xfrm>
            <a:off x="4407408" y="3566160"/>
            <a:ext cx="4507992" cy="384048"/>
          </a:xfrm>
          <a:prstGeom prst="rect">
            <a:avLst/>
          </a:prstGeom>
          <a:solidFill>
            <a:srgbClr val="162848"/>
          </a:solidFill>
          <a:ln w="12700">
            <a:solidFill>
              <a:srgbClr val="162848"/>
            </a:solidFill>
            <a:prstDash val="solid"/>
          </a:ln>
        </p:spPr>
      </p:sp>
      <p:sp>
        <p:nvSpPr>
          <p:cNvPr id="59" name="Text 57"/>
          <p:cNvSpPr/>
          <p:nvPr/>
        </p:nvSpPr>
        <p:spPr>
          <a:xfrm>
            <a:off x="4498848" y="3566160"/>
            <a:ext cx="14173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branch_id</a:t>
            </a:r>
            <a:endParaRPr lang="en-US" sz="1000" dirty="0"/>
          </a:p>
        </p:txBody>
      </p:sp>
      <p:sp>
        <p:nvSpPr>
          <p:cNvPr id="60" name="Text 58"/>
          <p:cNvSpPr/>
          <p:nvPr/>
        </p:nvSpPr>
        <p:spPr>
          <a:xfrm>
            <a:off x="5943600" y="3566160"/>
            <a:ext cx="12344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INT</a:t>
            </a:r>
            <a:endParaRPr lang="en-US" sz="900" dirty="0"/>
          </a:p>
        </p:txBody>
      </p:sp>
      <p:sp>
        <p:nvSpPr>
          <p:cNvPr id="61" name="Text 59"/>
          <p:cNvSpPr/>
          <p:nvPr/>
        </p:nvSpPr>
        <p:spPr>
          <a:xfrm>
            <a:off x="7205472" y="3566160"/>
            <a:ext cx="1600200" cy="384048"/>
          </a:xfrm>
          <a:prstGeom prst="rect">
            <a:avLst/>
          </a:prstGeom>
          <a:noFill/>
          <a:ln/>
        </p:spPr>
        <p:txBody>
          <a:bodyPr wrap="square" lIns="0" tIns="0" rIns="0" bIns="0" rtlCol="0" anchor="ctr"/>
          <a:lstStyle/>
          <a:p>
            <a:pPr marL="0" indent="0">
              <a:buNone/>
            </a:pPr>
            <a:r>
              <a:rPr lang="en-US" sz="850" dirty="0">
                <a:solidFill>
                  <a:srgbClr val="7D8FA1"/>
                </a:solidFill>
                <a:latin typeface="Calibri" pitchFamily="34" charset="0"/>
                <a:ea typeface="Calibri" pitchFamily="34" charset="-122"/>
                <a:cs typeface="Calibri" pitchFamily="34" charset="-120"/>
              </a:rPr>
              <a:t>✓</a:t>
            </a:r>
            <a:endParaRPr lang="en-US" sz="850" dirty="0"/>
          </a:p>
        </p:txBody>
      </p:sp>
      <p:sp>
        <p:nvSpPr>
          <p:cNvPr id="62" name="Shape 60"/>
          <p:cNvSpPr/>
          <p:nvPr/>
        </p:nvSpPr>
        <p:spPr>
          <a:xfrm>
            <a:off x="4407408" y="3968496"/>
            <a:ext cx="4507992" cy="384048"/>
          </a:xfrm>
          <a:prstGeom prst="rect">
            <a:avLst/>
          </a:prstGeom>
          <a:solidFill>
            <a:srgbClr val="1A3050"/>
          </a:solidFill>
          <a:ln w="12700">
            <a:solidFill>
              <a:srgbClr val="1A3050"/>
            </a:solidFill>
            <a:prstDash val="solid"/>
          </a:ln>
        </p:spPr>
      </p:sp>
      <p:sp>
        <p:nvSpPr>
          <p:cNvPr id="63" name="Text 61"/>
          <p:cNvSpPr/>
          <p:nvPr/>
        </p:nvSpPr>
        <p:spPr>
          <a:xfrm>
            <a:off x="4498848" y="3968496"/>
            <a:ext cx="1417320" cy="384048"/>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status</a:t>
            </a:r>
            <a:endParaRPr lang="en-US" sz="1000" dirty="0"/>
          </a:p>
        </p:txBody>
      </p:sp>
      <p:sp>
        <p:nvSpPr>
          <p:cNvPr id="64" name="Text 62"/>
          <p:cNvSpPr/>
          <p:nvPr/>
        </p:nvSpPr>
        <p:spPr>
          <a:xfrm>
            <a:off x="5943600" y="3968496"/>
            <a:ext cx="1234440" cy="384048"/>
          </a:xfrm>
          <a:prstGeom prst="rect">
            <a:avLst/>
          </a:prstGeom>
          <a:noFill/>
          <a:ln/>
        </p:spPr>
        <p:txBody>
          <a:bodyPr wrap="square" lIns="0" tIns="0" rIns="0" bIns="0" rtlCol="0" anchor="ctr"/>
          <a:lstStyle/>
          <a:p>
            <a:pPr marL="0" indent="0">
              <a:buNone/>
            </a:pPr>
            <a:r>
              <a:rPr lang="en-US" sz="900" dirty="0">
                <a:solidFill>
                  <a:srgbClr val="5DADE2"/>
                </a:solidFill>
                <a:latin typeface="Consolas" pitchFamily="34" charset="0"/>
                <a:ea typeface="Consolas" pitchFamily="34" charset="-122"/>
                <a:cs typeface="Consolas" pitchFamily="34" charset="-120"/>
              </a:rPr>
              <a:t>ENUM(Active,Inactive)</a:t>
            </a:r>
            <a:endParaRPr lang="en-US" sz="900" dirty="0"/>
          </a:p>
        </p:txBody>
      </p:sp>
      <p:sp>
        <p:nvSpPr>
          <p:cNvPr id="65" name="Text 63"/>
          <p:cNvSpPr/>
          <p:nvPr/>
        </p:nvSpPr>
        <p:spPr>
          <a:xfrm>
            <a:off x="7205472" y="3968496"/>
            <a:ext cx="1600200" cy="384048"/>
          </a:xfrm>
          <a:prstGeom prst="rect">
            <a:avLst/>
          </a:prstGeom>
          <a:noFill/>
          <a:ln/>
        </p:spPr>
        <p:txBody>
          <a:bodyPr wrap="square" lIns="0" tIns="0" rIns="0" bIns="0" rtlCol="0" anchor="ctr"/>
          <a:lstStyle/>
          <a:p>
            <a:pPr marL="0" indent="0">
              <a:buNone/>
            </a:pPr>
            <a:r>
              <a:rPr lang="en-US" sz="850" dirty="0">
                <a:solidFill>
                  <a:srgbClr val="7D8FA1"/>
                </a:solidFill>
                <a:latin typeface="Calibri" pitchFamily="34" charset="0"/>
                <a:ea typeface="Calibri" pitchFamily="34" charset="-122"/>
                <a:cs typeface="Calibri" pitchFamily="34" charset="-120"/>
              </a:rPr>
              <a:t>✓</a:t>
            </a:r>
            <a:endParaRPr lang="en-US" sz="850" dirty="0"/>
          </a:p>
        </p:txBody>
      </p:sp>
      <p:sp>
        <p:nvSpPr>
          <p:cNvPr id="66" name="Shape 64"/>
          <p:cNvSpPr/>
          <p:nvPr/>
        </p:nvSpPr>
        <p:spPr>
          <a:xfrm>
            <a:off x="228600" y="4626864"/>
            <a:ext cx="8686800" cy="201168"/>
          </a:xfrm>
          <a:prstGeom prst="rect">
            <a:avLst/>
          </a:prstGeom>
          <a:solidFill>
            <a:srgbClr val="EAF6FF"/>
          </a:solidFill>
          <a:ln w="5080">
            <a:solidFill>
              <a:srgbClr val="CDD5DF"/>
            </a:solidFill>
            <a:prstDash val="solid"/>
          </a:ln>
          <a:effectLst>
            <a:outerShdw blurRad="101600" dist="38100" dir="8100000" algn="bl" rotWithShape="0">
              <a:srgbClr val="000000">
                <a:alpha val="18000"/>
              </a:srgbClr>
            </a:outerShdw>
          </a:effectLst>
        </p:spPr>
      </p:sp>
      <p:sp>
        <p:nvSpPr>
          <p:cNvPr id="67" name="Text 65"/>
          <p:cNvSpPr/>
          <p:nvPr/>
        </p:nvSpPr>
        <p:spPr>
          <a:xfrm>
            <a:off x="320040" y="4626864"/>
            <a:ext cx="8412480" cy="201168"/>
          </a:xfrm>
          <a:prstGeom prst="rect">
            <a:avLst/>
          </a:prstGeom>
          <a:noFill/>
          <a:ln/>
        </p:spPr>
        <p:txBody>
          <a:bodyPr wrap="square" rtlCol="0" anchor="ctr"/>
          <a:lstStyle/>
          <a:p>
            <a:pPr marL="0" indent="0">
              <a:buNone/>
            </a:pPr>
            <a:r>
              <a:rPr lang="en-US" sz="900" i="1" dirty="0">
                <a:solidFill>
                  <a:srgbClr val="1B4F72"/>
                </a:solidFill>
                <a:latin typeface="Calibri" pitchFamily="34" charset="0"/>
                <a:ea typeface="Calibri" pitchFamily="34" charset="-122"/>
                <a:cs typeface="Calibri" pitchFamily="34" charset="-120"/>
              </a:rPr>
              <a:t>3NF Compliance: Both tables satisfy Third Normal Form — no transitive dependencies. customer_bio stores only personal data; account_details stores only account data. The relationship is enforced via FK on customer_id.</a:t>
            </a:r>
            <a:endParaRPr lang="en-US" sz="900" dirty="0"/>
          </a:p>
        </p:txBody>
      </p:sp>
      <p:sp>
        <p:nvSpPr>
          <p:cNvPr id="68" name="Shape 66"/>
          <p:cNvSpPr/>
          <p:nvPr/>
        </p:nvSpPr>
        <p:spPr>
          <a:xfrm>
            <a:off x="0" y="4892040"/>
            <a:ext cx="9144000" cy="251460"/>
          </a:xfrm>
          <a:prstGeom prst="rect">
            <a:avLst/>
          </a:prstGeom>
          <a:solidFill>
            <a:srgbClr val="0F1923"/>
          </a:solidFill>
          <a:ln w="12700">
            <a:solidFill>
              <a:srgbClr val="0F1923"/>
            </a:solidFill>
            <a:prstDash val="solid"/>
          </a:ln>
        </p:spPr>
      </p:sp>
      <p:sp>
        <p:nvSpPr>
          <p:cNvPr id="69" name="Text 67"/>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70" name="Text 68"/>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9"/>
        </a:solidFill>
        <a:effectLst/>
      </p:bgPr>
    </p:bg>
    <p:spTree>
      <p:nvGrpSpPr>
        <p:cNvPr id="1" name=""/>
        <p:cNvGrpSpPr/>
        <p:nvPr/>
      </p:nvGrpSpPr>
      <p:grpSpPr>
        <a:xfrm>
          <a:off x="0" y="0"/>
          <a:ext cx="0" cy="0"/>
          <a:chOff x="0" y="0"/>
          <a:chExt cx="0" cy="0"/>
        </a:xfrm>
      </p:grpSpPr>
      <p:sp>
        <p:nvSpPr>
          <p:cNvPr id="2" name="Text 0"/>
          <p:cNvSpPr/>
          <p:nvPr/>
        </p:nvSpPr>
        <p:spPr>
          <a:xfrm>
            <a:off x="228600" y="137160"/>
            <a:ext cx="8686800" cy="530352"/>
          </a:xfrm>
          <a:prstGeom prst="rect">
            <a:avLst/>
          </a:prstGeom>
          <a:noFill/>
          <a:ln/>
        </p:spPr>
        <p:txBody>
          <a:bodyPr wrap="square" rtlCol="0" anchor="ctr"/>
          <a:lstStyle/>
          <a:p>
            <a:pPr marL="0" indent="0">
              <a:buNone/>
            </a:pPr>
            <a:r>
              <a:rPr lang="en-US" sz="2700" b="1" dirty="0">
                <a:solidFill>
                  <a:srgbClr val="0F1923"/>
                </a:solidFill>
                <a:latin typeface="Calibri" pitchFamily="34" charset="0"/>
                <a:ea typeface="Calibri" pitchFamily="34" charset="-122"/>
                <a:cs typeface="Calibri" pitchFamily="34" charset="-120"/>
              </a:rPr>
              <a:t>Deep Dive: customer_bio Table</a:t>
            </a:r>
            <a:endParaRPr lang="en-US" sz="2700" dirty="0"/>
          </a:p>
        </p:txBody>
      </p:sp>
      <p:sp>
        <p:nvSpPr>
          <p:cNvPr id="3" name="Shape 1"/>
          <p:cNvSpPr/>
          <p:nvPr/>
        </p:nvSpPr>
        <p:spPr>
          <a:xfrm>
            <a:off x="228600" y="749808"/>
            <a:ext cx="8686800" cy="256032"/>
          </a:xfrm>
          <a:prstGeom prst="rect">
            <a:avLst/>
          </a:prstGeom>
          <a:solidFill>
            <a:srgbClr val="0A7E8C"/>
          </a:solidFill>
          <a:ln w="12700">
            <a:solidFill>
              <a:srgbClr val="0A7E8C"/>
            </a:solidFill>
            <a:prstDash val="solid"/>
          </a:ln>
        </p:spPr>
      </p:sp>
      <p:sp>
        <p:nvSpPr>
          <p:cNvPr id="4" name="Text 2"/>
          <p:cNvSpPr/>
          <p:nvPr/>
        </p:nvSpPr>
        <p:spPr>
          <a:xfrm>
            <a:off x="347472" y="749808"/>
            <a:ext cx="8412480" cy="256032"/>
          </a:xfrm>
          <a:prstGeom prst="rect">
            <a:avLst/>
          </a:prstGeom>
          <a:noFill/>
          <a:ln/>
        </p:spPr>
        <p:txBody>
          <a:bodyPr wrap="square"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ATTRIBUTE ANALYSIS  ·  DESIGN RATIONALE  ·  SAMPLE DATA</a:t>
            </a:r>
            <a:endParaRPr lang="en-US" sz="950" dirty="0"/>
          </a:p>
        </p:txBody>
      </p:sp>
      <p:sp>
        <p:nvSpPr>
          <p:cNvPr id="5" name="Shape 3"/>
          <p:cNvSpPr/>
          <p:nvPr/>
        </p:nvSpPr>
        <p:spPr>
          <a:xfrm>
            <a:off x="228600" y="1115568"/>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6" name="Shape 4"/>
          <p:cNvSpPr/>
          <p:nvPr/>
        </p:nvSpPr>
        <p:spPr>
          <a:xfrm>
            <a:off x="228600" y="1115568"/>
            <a:ext cx="91440" cy="1152144"/>
          </a:xfrm>
          <a:prstGeom prst="rect">
            <a:avLst/>
          </a:prstGeom>
          <a:solidFill>
            <a:srgbClr val="0A7E8C"/>
          </a:solidFill>
          <a:ln w="12700">
            <a:solidFill>
              <a:srgbClr val="0A7E8C"/>
            </a:solidFill>
            <a:prstDash val="solid"/>
          </a:ln>
        </p:spPr>
      </p:sp>
      <p:sp>
        <p:nvSpPr>
          <p:cNvPr id="7" name="Text 5"/>
          <p:cNvSpPr/>
          <p:nvPr/>
        </p:nvSpPr>
        <p:spPr>
          <a:xfrm>
            <a:off x="411480" y="1188720"/>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customer_id</a:t>
            </a:r>
            <a:endParaRPr lang="en-US" sz="1150" dirty="0"/>
          </a:p>
        </p:txBody>
      </p:sp>
      <p:sp>
        <p:nvSpPr>
          <p:cNvPr id="8" name="Text 6"/>
          <p:cNvSpPr/>
          <p:nvPr/>
        </p:nvSpPr>
        <p:spPr>
          <a:xfrm>
            <a:off x="411480" y="1463040"/>
            <a:ext cx="2011680" cy="201168"/>
          </a:xfrm>
          <a:prstGeom prst="rect">
            <a:avLst/>
          </a:prstGeom>
          <a:noFill/>
          <a:ln/>
        </p:spPr>
        <p:txBody>
          <a:bodyPr wrap="square" rtlCol="0" anchor="ctr"/>
          <a:lstStyle/>
          <a:p>
            <a:pPr marL="0" indent="0">
              <a:buNone/>
            </a:pPr>
            <a:r>
              <a:rPr lang="en-US" sz="950" i="1" dirty="0">
                <a:solidFill>
                  <a:srgbClr val="0A7E8C"/>
                </a:solidFill>
                <a:latin typeface="Consolas" pitchFamily="34" charset="0"/>
                <a:ea typeface="Consolas" pitchFamily="34" charset="-122"/>
                <a:cs typeface="Consolas" pitchFamily="34" charset="-120"/>
              </a:rPr>
              <a:t>VARCHAR(20)</a:t>
            </a:r>
            <a:endParaRPr lang="en-US" sz="950" dirty="0"/>
          </a:p>
        </p:txBody>
      </p:sp>
      <p:sp>
        <p:nvSpPr>
          <p:cNvPr id="9" name="Text 7"/>
          <p:cNvSpPr/>
          <p:nvPr/>
        </p:nvSpPr>
        <p:spPr>
          <a:xfrm>
            <a:off x="411480" y="1664208"/>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Serves as the Primary Key and the link between all customer-related tables. Uses a formatted string pattern (CID-YYYY-NNNN) to embed the registration year, making records self-describing and human-readable for audit purposes.</a:t>
            </a:r>
            <a:endParaRPr lang="en-US" sz="920" dirty="0"/>
          </a:p>
        </p:txBody>
      </p:sp>
      <p:sp>
        <p:nvSpPr>
          <p:cNvPr id="10" name="Shape 8"/>
          <p:cNvSpPr/>
          <p:nvPr/>
        </p:nvSpPr>
        <p:spPr>
          <a:xfrm>
            <a:off x="4663440" y="1115568"/>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1" name="Shape 9"/>
          <p:cNvSpPr/>
          <p:nvPr/>
        </p:nvSpPr>
        <p:spPr>
          <a:xfrm>
            <a:off x="4663440" y="1115568"/>
            <a:ext cx="91440" cy="1152144"/>
          </a:xfrm>
          <a:prstGeom prst="rect">
            <a:avLst/>
          </a:prstGeom>
          <a:solidFill>
            <a:srgbClr val="1B4F72"/>
          </a:solidFill>
          <a:ln w="12700">
            <a:solidFill>
              <a:srgbClr val="1B4F72"/>
            </a:solidFill>
            <a:prstDash val="solid"/>
          </a:ln>
        </p:spPr>
      </p:sp>
      <p:sp>
        <p:nvSpPr>
          <p:cNvPr id="12" name="Text 10"/>
          <p:cNvSpPr/>
          <p:nvPr/>
        </p:nvSpPr>
        <p:spPr>
          <a:xfrm>
            <a:off x="4846320" y="1188720"/>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first_name / last_name</a:t>
            </a:r>
            <a:endParaRPr lang="en-US" sz="1150" dirty="0"/>
          </a:p>
        </p:txBody>
      </p:sp>
      <p:sp>
        <p:nvSpPr>
          <p:cNvPr id="13" name="Text 11"/>
          <p:cNvSpPr/>
          <p:nvPr/>
        </p:nvSpPr>
        <p:spPr>
          <a:xfrm>
            <a:off x="4846320" y="1463040"/>
            <a:ext cx="2011680" cy="201168"/>
          </a:xfrm>
          <a:prstGeom prst="rect">
            <a:avLst/>
          </a:prstGeom>
          <a:noFill/>
          <a:ln/>
        </p:spPr>
        <p:txBody>
          <a:bodyPr wrap="square" rtlCol="0" anchor="ctr"/>
          <a:lstStyle/>
          <a:p>
            <a:pPr marL="0" indent="0">
              <a:buNone/>
            </a:pPr>
            <a:r>
              <a:rPr lang="en-US" sz="950" i="1" dirty="0">
                <a:solidFill>
                  <a:srgbClr val="1B4F72"/>
                </a:solidFill>
                <a:latin typeface="Consolas" pitchFamily="34" charset="0"/>
                <a:ea typeface="Consolas" pitchFamily="34" charset="-122"/>
                <a:cs typeface="Consolas" pitchFamily="34" charset="-120"/>
              </a:rPr>
              <a:t>VARCHAR(50)</a:t>
            </a:r>
            <a:endParaRPr lang="en-US" sz="950" dirty="0"/>
          </a:p>
        </p:txBody>
      </p:sp>
      <p:sp>
        <p:nvSpPr>
          <p:cNvPr id="14" name="Text 12"/>
          <p:cNvSpPr/>
          <p:nvPr/>
        </p:nvSpPr>
        <p:spPr>
          <a:xfrm>
            <a:off x="4846320" y="1664208"/>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Stored separately (not concatenated) to enable flexible search by either name component, alphabetical sorting by last_name, and future salutation logic without string parsing.</a:t>
            </a:r>
            <a:endParaRPr lang="en-US" sz="920" dirty="0"/>
          </a:p>
        </p:txBody>
      </p:sp>
      <p:sp>
        <p:nvSpPr>
          <p:cNvPr id="15" name="Shape 13"/>
          <p:cNvSpPr/>
          <p:nvPr/>
        </p:nvSpPr>
        <p:spPr>
          <a:xfrm>
            <a:off x="228600" y="2377440"/>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6" name="Shape 14"/>
          <p:cNvSpPr/>
          <p:nvPr/>
        </p:nvSpPr>
        <p:spPr>
          <a:xfrm>
            <a:off x="228600" y="2377440"/>
            <a:ext cx="91440" cy="1152144"/>
          </a:xfrm>
          <a:prstGeom prst="rect">
            <a:avLst/>
          </a:prstGeom>
          <a:solidFill>
            <a:srgbClr val="1A7A4A"/>
          </a:solidFill>
          <a:ln w="12700">
            <a:solidFill>
              <a:srgbClr val="1A7A4A"/>
            </a:solidFill>
            <a:prstDash val="solid"/>
          </a:ln>
        </p:spPr>
      </p:sp>
      <p:sp>
        <p:nvSpPr>
          <p:cNvPr id="17" name="Text 15"/>
          <p:cNvSpPr/>
          <p:nvPr/>
        </p:nvSpPr>
        <p:spPr>
          <a:xfrm>
            <a:off x="411480" y="2450592"/>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date_of_birth</a:t>
            </a:r>
            <a:endParaRPr lang="en-US" sz="1150" dirty="0"/>
          </a:p>
        </p:txBody>
      </p:sp>
      <p:sp>
        <p:nvSpPr>
          <p:cNvPr id="18" name="Text 16"/>
          <p:cNvSpPr/>
          <p:nvPr/>
        </p:nvSpPr>
        <p:spPr>
          <a:xfrm>
            <a:off x="411480" y="2724912"/>
            <a:ext cx="2011680" cy="201168"/>
          </a:xfrm>
          <a:prstGeom prst="rect">
            <a:avLst/>
          </a:prstGeom>
          <a:noFill/>
          <a:ln/>
        </p:spPr>
        <p:txBody>
          <a:bodyPr wrap="square" rtlCol="0" anchor="ctr"/>
          <a:lstStyle/>
          <a:p>
            <a:pPr marL="0" indent="0">
              <a:buNone/>
            </a:pPr>
            <a:r>
              <a:rPr lang="en-US" sz="950" i="1" dirty="0">
                <a:solidFill>
                  <a:srgbClr val="1A7A4A"/>
                </a:solidFill>
                <a:latin typeface="Consolas" pitchFamily="34" charset="0"/>
                <a:ea typeface="Consolas" pitchFamily="34" charset="-122"/>
                <a:cs typeface="Consolas" pitchFamily="34" charset="-120"/>
              </a:rPr>
              <a:t>DATE</a:t>
            </a:r>
            <a:endParaRPr lang="en-US" sz="950" dirty="0"/>
          </a:p>
        </p:txBody>
      </p:sp>
      <p:sp>
        <p:nvSpPr>
          <p:cNvPr id="19" name="Text 17"/>
          <p:cNvSpPr/>
          <p:nvPr/>
        </p:nvSpPr>
        <p:spPr>
          <a:xfrm>
            <a:off x="411480" y="2926080"/>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Stored as a DATE type (not VARCHAR) to enable age calculations (DATEDIFF), KYC age-verification checks, and compliance with Bank of Uganda's requirement to identify underage account holders.</a:t>
            </a:r>
            <a:endParaRPr lang="en-US" sz="920" dirty="0"/>
          </a:p>
        </p:txBody>
      </p:sp>
      <p:sp>
        <p:nvSpPr>
          <p:cNvPr id="20" name="Shape 18"/>
          <p:cNvSpPr/>
          <p:nvPr/>
        </p:nvSpPr>
        <p:spPr>
          <a:xfrm>
            <a:off x="4663440" y="2377440"/>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21" name="Shape 19"/>
          <p:cNvSpPr/>
          <p:nvPr/>
        </p:nvSpPr>
        <p:spPr>
          <a:xfrm>
            <a:off x="4663440" y="2377440"/>
            <a:ext cx="91440" cy="1152144"/>
          </a:xfrm>
          <a:prstGeom prst="rect">
            <a:avLst/>
          </a:prstGeom>
          <a:solidFill>
            <a:srgbClr val="6C3483"/>
          </a:solidFill>
          <a:ln w="12700">
            <a:solidFill>
              <a:srgbClr val="6C3483"/>
            </a:solidFill>
            <a:prstDash val="solid"/>
          </a:ln>
        </p:spPr>
      </p:sp>
      <p:sp>
        <p:nvSpPr>
          <p:cNvPr id="22" name="Text 20"/>
          <p:cNvSpPr/>
          <p:nvPr/>
        </p:nvSpPr>
        <p:spPr>
          <a:xfrm>
            <a:off x="4846320" y="2450592"/>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gender</a:t>
            </a:r>
            <a:endParaRPr lang="en-US" sz="1150" dirty="0"/>
          </a:p>
        </p:txBody>
      </p:sp>
      <p:sp>
        <p:nvSpPr>
          <p:cNvPr id="23" name="Text 21"/>
          <p:cNvSpPr/>
          <p:nvPr/>
        </p:nvSpPr>
        <p:spPr>
          <a:xfrm>
            <a:off x="4846320" y="2724912"/>
            <a:ext cx="2011680" cy="201168"/>
          </a:xfrm>
          <a:prstGeom prst="rect">
            <a:avLst/>
          </a:prstGeom>
          <a:noFill/>
          <a:ln/>
        </p:spPr>
        <p:txBody>
          <a:bodyPr wrap="square" rtlCol="0" anchor="ctr"/>
          <a:lstStyle/>
          <a:p>
            <a:pPr marL="0" indent="0">
              <a:buNone/>
            </a:pPr>
            <a:r>
              <a:rPr lang="en-US" sz="950" i="1" dirty="0">
                <a:solidFill>
                  <a:srgbClr val="6C3483"/>
                </a:solidFill>
                <a:latin typeface="Consolas" pitchFamily="34" charset="0"/>
                <a:ea typeface="Consolas" pitchFamily="34" charset="-122"/>
                <a:cs typeface="Consolas" pitchFamily="34" charset="-120"/>
              </a:rPr>
              <a:t>ENUM('m','f')</a:t>
            </a:r>
            <a:endParaRPr lang="en-US" sz="950" dirty="0"/>
          </a:p>
        </p:txBody>
      </p:sp>
      <p:sp>
        <p:nvSpPr>
          <p:cNvPr id="24" name="Text 22"/>
          <p:cNvSpPr/>
          <p:nvPr/>
        </p:nvSpPr>
        <p:spPr>
          <a:xfrm>
            <a:off x="4846320" y="2926080"/>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ENUM enforces a controlled vocabulary — only 'm' or 'f' are accepted, preventing free-text inconsistencies like 'Male', 'male', 'M', 'MALE'. This is critical for demographic reporting accuracy.</a:t>
            </a:r>
            <a:endParaRPr lang="en-US" sz="920" dirty="0"/>
          </a:p>
        </p:txBody>
      </p:sp>
      <p:sp>
        <p:nvSpPr>
          <p:cNvPr id="25" name="Shape 23"/>
          <p:cNvSpPr/>
          <p:nvPr/>
        </p:nvSpPr>
        <p:spPr>
          <a:xfrm>
            <a:off x="228600" y="3639312"/>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26" name="Shape 24"/>
          <p:cNvSpPr/>
          <p:nvPr/>
        </p:nvSpPr>
        <p:spPr>
          <a:xfrm>
            <a:off x="228600" y="3639312"/>
            <a:ext cx="91440" cy="1152144"/>
          </a:xfrm>
          <a:prstGeom prst="rect">
            <a:avLst/>
          </a:prstGeom>
          <a:solidFill>
            <a:srgbClr val="C87722"/>
          </a:solidFill>
          <a:ln w="12700">
            <a:solidFill>
              <a:srgbClr val="C87722"/>
            </a:solidFill>
            <a:prstDash val="solid"/>
          </a:ln>
        </p:spPr>
      </p:sp>
      <p:sp>
        <p:nvSpPr>
          <p:cNvPr id="27" name="Text 25"/>
          <p:cNvSpPr/>
          <p:nvPr/>
        </p:nvSpPr>
        <p:spPr>
          <a:xfrm>
            <a:off x="411480" y="3712464"/>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email</a:t>
            </a:r>
            <a:endParaRPr lang="en-US" sz="1150" dirty="0"/>
          </a:p>
        </p:txBody>
      </p:sp>
      <p:sp>
        <p:nvSpPr>
          <p:cNvPr id="28" name="Text 26"/>
          <p:cNvSpPr/>
          <p:nvPr/>
        </p:nvSpPr>
        <p:spPr>
          <a:xfrm>
            <a:off x="411480" y="3986784"/>
            <a:ext cx="2011680" cy="201168"/>
          </a:xfrm>
          <a:prstGeom prst="rect">
            <a:avLst/>
          </a:prstGeom>
          <a:noFill/>
          <a:ln/>
        </p:spPr>
        <p:txBody>
          <a:bodyPr wrap="square" rtlCol="0" anchor="ctr"/>
          <a:lstStyle/>
          <a:p>
            <a:pPr marL="0" indent="0">
              <a:buNone/>
            </a:pPr>
            <a:r>
              <a:rPr lang="en-US" sz="950" i="1" dirty="0">
                <a:solidFill>
                  <a:srgbClr val="C87722"/>
                </a:solidFill>
                <a:latin typeface="Consolas" pitchFamily="34" charset="0"/>
                <a:ea typeface="Consolas" pitchFamily="34" charset="-122"/>
                <a:cs typeface="Consolas" pitchFamily="34" charset="-120"/>
              </a:rPr>
              <a:t>VARCHAR(100)</a:t>
            </a:r>
            <a:endParaRPr lang="en-US" sz="950" dirty="0"/>
          </a:p>
        </p:txBody>
      </p:sp>
      <p:sp>
        <p:nvSpPr>
          <p:cNvPr id="29" name="Text 27"/>
          <p:cNvSpPr/>
          <p:nvPr/>
        </p:nvSpPr>
        <p:spPr>
          <a:xfrm>
            <a:off x="411480" y="4187952"/>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Marked UNIQUE to prevent two customers from sharing an email address — which would make digital banking login and password recovery ambiguous. NULL is allowed for customers without email access.</a:t>
            </a:r>
            <a:endParaRPr lang="en-US" sz="920" dirty="0"/>
          </a:p>
        </p:txBody>
      </p:sp>
      <p:sp>
        <p:nvSpPr>
          <p:cNvPr id="30" name="Shape 28"/>
          <p:cNvSpPr/>
          <p:nvPr/>
        </p:nvSpPr>
        <p:spPr>
          <a:xfrm>
            <a:off x="4663440" y="3639312"/>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31" name="Shape 29"/>
          <p:cNvSpPr/>
          <p:nvPr/>
        </p:nvSpPr>
        <p:spPr>
          <a:xfrm>
            <a:off x="4663440" y="3639312"/>
            <a:ext cx="91440" cy="1152144"/>
          </a:xfrm>
          <a:prstGeom prst="rect">
            <a:avLst/>
          </a:prstGeom>
          <a:solidFill>
            <a:srgbClr val="A93226"/>
          </a:solidFill>
          <a:ln w="12700">
            <a:solidFill>
              <a:srgbClr val="A93226"/>
            </a:solidFill>
            <a:prstDash val="solid"/>
          </a:ln>
        </p:spPr>
      </p:sp>
      <p:sp>
        <p:nvSpPr>
          <p:cNvPr id="32" name="Text 30"/>
          <p:cNvSpPr/>
          <p:nvPr/>
        </p:nvSpPr>
        <p:spPr>
          <a:xfrm>
            <a:off x="4846320" y="3712464"/>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Completeness Note</a:t>
            </a:r>
            <a:endParaRPr lang="en-US" sz="1150" dirty="0"/>
          </a:p>
        </p:txBody>
      </p:sp>
      <p:sp>
        <p:nvSpPr>
          <p:cNvPr id="33" name="Text 31"/>
          <p:cNvSpPr/>
          <p:nvPr/>
        </p:nvSpPr>
        <p:spPr>
          <a:xfrm>
            <a:off x="4846320" y="3986784"/>
            <a:ext cx="2011680" cy="201168"/>
          </a:xfrm>
          <a:prstGeom prst="rect">
            <a:avLst/>
          </a:prstGeom>
          <a:noFill/>
          <a:ln/>
        </p:spPr>
        <p:txBody>
          <a:bodyPr wrap="square" rtlCol="0" anchor="ctr"/>
          <a:lstStyle/>
          <a:p>
            <a:pPr marL="0" indent="0">
              <a:buNone/>
            </a:pPr>
            <a:r>
              <a:rPr lang="en-US" sz="950" i="1" dirty="0">
                <a:solidFill>
                  <a:srgbClr val="A93226"/>
                </a:solidFill>
                <a:latin typeface="Consolas" pitchFamily="34" charset="0"/>
                <a:ea typeface="Consolas" pitchFamily="34" charset="-122"/>
                <a:cs typeface="Consolas" pitchFamily="34" charset="-120"/>
              </a:rPr>
              <a:t>Future Additions</a:t>
            </a:r>
            <a:endParaRPr lang="en-US" sz="950" dirty="0"/>
          </a:p>
        </p:txBody>
      </p:sp>
      <p:sp>
        <p:nvSpPr>
          <p:cNvPr id="34" name="Text 32"/>
          <p:cNvSpPr/>
          <p:nvPr/>
        </p:nvSpPr>
        <p:spPr>
          <a:xfrm>
            <a:off x="4846320" y="4187952"/>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Production schema would add: phone_number, national_id (UNIQUE), address, kyc_status ENUM, date_registered DATETIME, and a self-referencing relationship for joint account holders or corporate signatories.</a:t>
            </a:r>
            <a:endParaRPr lang="en-US" sz="920" dirty="0"/>
          </a:p>
        </p:txBody>
      </p:sp>
      <p:sp>
        <p:nvSpPr>
          <p:cNvPr id="37" name="Shape 35"/>
          <p:cNvSpPr/>
          <p:nvPr/>
        </p:nvSpPr>
        <p:spPr>
          <a:xfrm>
            <a:off x="0" y="4892040"/>
            <a:ext cx="9144000" cy="251460"/>
          </a:xfrm>
          <a:prstGeom prst="rect">
            <a:avLst/>
          </a:prstGeom>
          <a:solidFill>
            <a:srgbClr val="0F1923"/>
          </a:solidFill>
          <a:ln w="12700">
            <a:solidFill>
              <a:srgbClr val="0F1923"/>
            </a:solidFill>
            <a:prstDash val="solid"/>
          </a:ln>
        </p:spPr>
      </p:sp>
      <p:sp>
        <p:nvSpPr>
          <p:cNvPr id="38" name="Text 36"/>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39" name="Text 37"/>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9"/>
        </a:solidFill>
        <a:effectLst/>
      </p:bgPr>
    </p:bg>
    <p:spTree>
      <p:nvGrpSpPr>
        <p:cNvPr id="1" name=""/>
        <p:cNvGrpSpPr/>
        <p:nvPr/>
      </p:nvGrpSpPr>
      <p:grpSpPr>
        <a:xfrm>
          <a:off x="0" y="0"/>
          <a:ext cx="0" cy="0"/>
          <a:chOff x="0" y="0"/>
          <a:chExt cx="0" cy="0"/>
        </a:xfrm>
      </p:grpSpPr>
      <p:sp>
        <p:nvSpPr>
          <p:cNvPr id="2" name="Text 0"/>
          <p:cNvSpPr/>
          <p:nvPr/>
        </p:nvSpPr>
        <p:spPr>
          <a:xfrm>
            <a:off x="228600" y="137160"/>
            <a:ext cx="8686800" cy="530352"/>
          </a:xfrm>
          <a:prstGeom prst="rect">
            <a:avLst/>
          </a:prstGeom>
          <a:noFill/>
          <a:ln/>
        </p:spPr>
        <p:txBody>
          <a:bodyPr wrap="square" rtlCol="0" anchor="ctr"/>
          <a:lstStyle/>
          <a:p>
            <a:pPr marL="0" indent="0">
              <a:buNone/>
            </a:pPr>
            <a:r>
              <a:rPr lang="en-US" sz="2700" b="1" dirty="0">
                <a:solidFill>
                  <a:srgbClr val="0F1923"/>
                </a:solidFill>
                <a:latin typeface="Calibri" pitchFamily="34" charset="0"/>
                <a:ea typeface="Calibri" pitchFamily="34" charset="-122"/>
                <a:cs typeface="Calibri" pitchFamily="34" charset="-120"/>
              </a:rPr>
              <a:t>Deep Dive: account_details Table</a:t>
            </a:r>
            <a:endParaRPr lang="en-US" sz="2700" dirty="0"/>
          </a:p>
        </p:txBody>
      </p:sp>
      <p:sp>
        <p:nvSpPr>
          <p:cNvPr id="3" name="Shape 1"/>
          <p:cNvSpPr/>
          <p:nvPr/>
        </p:nvSpPr>
        <p:spPr>
          <a:xfrm>
            <a:off x="228600" y="749808"/>
            <a:ext cx="8686800" cy="256032"/>
          </a:xfrm>
          <a:prstGeom prst="rect">
            <a:avLst/>
          </a:prstGeom>
          <a:solidFill>
            <a:srgbClr val="0A7E8C"/>
          </a:solidFill>
          <a:ln w="12700">
            <a:solidFill>
              <a:srgbClr val="0A7E8C"/>
            </a:solidFill>
            <a:prstDash val="solid"/>
          </a:ln>
        </p:spPr>
      </p:sp>
      <p:sp>
        <p:nvSpPr>
          <p:cNvPr id="4" name="Text 2"/>
          <p:cNvSpPr/>
          <p:nvPr/>
        </p:nvSpPr>
        <p:spPr>
          <a:xfrm>
            <a:off x="347472" y="749808"/>
            <a:ext cx="8412480" cy="256032"/>
          </a:xfrm>
          <a:prstGeom prst="rect">
            <a:avLst/>
          </a:prstGeom>
          <a:noFill/>
          <a:ln/>
        </p:spPr>
        <p:txBody>
          <a:bodyPr wrap="square"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ATTRIBUTE ANALYSIS  ·  BUSINESS LOGIC  ·  DATA DISTRIBUTION</a:t>
            </a:r>
            <a:endParaRPr lang="en-US" sz="950" dirty="0"/>
          </a:p>
        </p:txBody>
      </p:sp>
      <p:sp>
        <p:nvSpPr>
          <p:cNvPr id="5" name="Shape 3"/>
          <p:cNvSpPr/>
          <p:nvPr/>
        </p:nvSpPr>
        <p:spPr>
          <a:xfrm>
            <a:off x="228600" y="1115568"/>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6" name="Shape 4"/>
          <p:cNvSpPr/>
          <p:nvPr/>
        </p:nvSpPr>
        <p:spPr>
          <a:xfrm>
            <a:off x="228600" y="1115568"/>
            <a:ext cx="91440" cy="1152144"/>
          </a:xfrm>
          <a:prstGeom prst="rect">
            <a:avLst/>
          </a:prstGeom>
          <a:solidFill>
            <a:srgbClr val="0A7E8C"/>
          </a:solidFill>
          <a:ln w="12700">
            <a:solidFill>
              <a:srgbClr val="0A7E8C"/>
            </a:solidFill>
            <a:prstDash val="solid"/>
          </a:ln>
        </p:spPr>
      </p:sp>
      <p:sp>
        <p:nvSpPr>
          <p:cNvPr id="7" name="Text 5"/>
          <p:cNvSpPr/>
          <p:nvPr/>
        </p:nvSpPr>
        <p:spPr>
          <a:xfrm>
            <a:off x="411480" y="1188720"/>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account_number</a:t>
            </a:r>
            <a:endParaRPr lang="en-US" sz="1150" dirty="0"/>
          </a:p>
        </p:txBody>
      </p:sp>
      <p:sp>
        <p:nvSpPr>
          <p:cNvPr id="8" name="Text 6"/>
          <p:cNvSpPr/>
          <p:nvPr/>
        </p:nvSpPr>
        <p:spPr>
          <a:xfrm>
            <a:off x="411480" y="1463040"/>
            <a:ext cx="2011680" cy="201168"/>
          </a:xfrm>
          <a:prstGeom prst="rect">
            <a:avLst/>
          </a:prstGeom>
          <a:noFill/>
          <a:ln/>
        </p:spPr>
        <p:txBody>
          <a:bodyPr wrap="square" rtlCol="0" anchor="ctr"/>
          <a:lstStyle/>
          <a:p>
            <a:pPr marL="0" indent="0">
              <a:buNone/>
            </a:pPr>
            <a:r>
              <a:rPr lang="en-US" sz="950" i="1" dirty="0">
                <a:solidFill>
                  <a:srgbClr val="0A7E8C"/>
                </a:solidFill>
                <a:latin typeface="Consolas" pitchFamily="34" charset="0"/>
                <a:ea typeface="Consolas" pitchFamily="34" charset="-122"/>
                <a:cs typeface="Consolas" pitchFamily="34" charset="-120"/>
              </a:rPr>
              <a:t>INT / PK</a:t>
            </a:r>
            <a:endParaRPr lang="en-US" sz="950" dirty="0"/>
          </a:p>
        </p:txBody>
      </p:sp>
      <p:sp>
        <p:nvSpPr>
          <p:cNvPr id="9" name="Text 7"/>
          <p:cNvSpPr/>
          <p:nvPr/>
        </p:nvSpPr>
        <p:spPr>
          <a:xfrm>
            <a:off x="411480" y="1664208"/>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An integer PK auto-incremented from 10012001. Numeric PKs on account tables are standard in banking — they index faster than VARCHAR and match the format customers see on their physical bank cards.</a:t>
            </a:r>
            <a:endParaRPr lang="en-US" sz="920" dirty="0"/>
          </a:p>
        </p:txBody>
      </p:sp>
      <p:sp>
        <p:nvSpPr>
          <p:cNvPr id="10" name="Shape 8"/>
          <p:cNvSpPr/>
          <p:nvPr/>
        </p:nvSpPr>
        <p:spPr>
          <a:xfrm>
            <a:off x="4663440" y="1115568"/>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1" name="Shape 9"/>
          <p:cNvSpPr/>
          <p:nvPr/>
        </p:nvSpPr>
        <p:spPr>
          <a:xfrm>
            <a:off x="4663440" y="1115568"/>
            <a:ext cx="91440" cy="1152144"/>
          </a:xfrm>
          <a:prstGeom prst="rect">
            <a:avLst/>
          </a:prstGeom>
          <a:solidFill>
            <a:srgbClr val="1B4F72"/>
          </a:solidFill>
          <a:ln w="12700">
            <a:solidFill>
              <a:srgbClr val="1B4F72"/>
            </a:solidFill>
            <a:prstDash val="solid"/>
          </a:ln>
        </p:spPr>
      </p:sp>
      <p:sp>
        <p:nvSpPr>
          <p:cNvPr id="12" name="Text 10"/>
          <p:cNvSpPr/>
          <p:nvPr/>
        </p:nvSpPr>
        <p:spPr>
          <a:xfrm>
            <a:off x="4846320" y="1188720"/>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customer_id</a:t>
            </a:r>
            <a:endParaRPr lang="en-US" sz="1150" dirty="0"/>
          </a:p>
        </p:txBody>
      </p:sp>
      <p:sp>
        <p:nvSpPr>
          <p:cNvPr id="13" name="Text 11"/>
          <p:cNvSpPr/>
          <p:nvPr/>
        </p:nvSpPr>
        <p:spPr>
          <a:xfrm>
            <a:off x="4846320" y="1463040"/>
            <a:ext cx="2011680" cy="201168"/>
          </a:xfrm>
          <a:prstGeom prst="rect">
            <a:avLst/>
          </a:prstGeom>
          <a:noFill/>
          <a:ln/>
        </p:spPr>
        <p:txBody>
          <a:bodyPr wrap="square" rtlCol="0" anchor="ctr"/>
          <a:lstStyle/>
          <a:p>
            <a:pPr marL="0" indent="0">
              <a:buNone/>
            </a:pPr>
            <a:r>
              <a:rPr lang="en-US" sz="950" i="1" dirty="0">
                <a:solidFill>
                  <a:srgbClr val="1B4F72"/>
                </a:solidFill>
                <a:latin typeface="Consolas" pitchFamily="34" charset="0"/>
                <a:ea typeface="Consolas" pitchFamily="34" charset="-122"/>
                <a:cs typeface="Consolas" pitchFamily="34" charset="-120"/>
              </a:rPr>
              <a:t>VARCHAR(20) / FK</a:t>
            </a:r>
            <a:endParaRPr lang="en-US" sz="950" dirty="0"/>
          </a:p>
        </p:txBody>
      </p:sp>
      <p:sp>
        <p:nvSpPr>
          <p:cNvPr id="14" name="Text 12"/>
          <p:cNvSpPr/>
          <p:nvPr/>
        </p:nvSpPr>
        <p:spPr>
          <a:xfrm>
            <a:off x="4846320" y="1664208"/>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Foreign Key referencing customer_bio.customer_id. This enforces referential integrity — you cannot insert an account for a customer_id that does not exist in the customer_bio table. ON DELETE RESTRICT prevents orphaned accounts.</a:t>
            </a:r>
            <a:endParaRPr lang="en-US" sz="920" dirty="0"/>
          </a:p>
        </p:txBody>
      </p:sp>
      <p:sp>
        <p:nvSpPr>
          <p:cNvPr id="15" name="Shape 13"/>
          <p:cNvSpPr/>
          <p:nvPr/>
        </p:nvSpPr>
        <p:spPr>
          <a:xfrm>
            <a:off x="228600" y="2377440"/>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6" name="Shape 14"/>
          <p:cNvSpPr/>
          <p:nvPr/>
        </p:nvSpPr>
        <p:spPr>
          <a:xfrm>
            <a:off x="228600" y="2377440"/>
            <a:ext cx="91440" cy="1152144"/>
          </a:xfrm>
          <a:prstGeom prst="rect">
            <a:avLst/>
          </a:prstGeom>
          <a:solidFill>
            <a:srgbClr val="1A7A4A"/>
          </a:solidFill>
          <a:ln w="12700">
            <a:solidFill>
              <a:srgbClr val="1A7A4A"/>
            </a:solidFill>
            <a:prstDash val="solid"/>
          </a:ln>
        </p:spPr>
      </p:sp>
      <p:sp>
        <p:nvSpPr>
          <p:cNvPr id="17" name="Text 15"/>
          <p:cNvSpPr/>
          <p:nvPr/>
        </p:nvSpPr>
        <p:spPr>
          <a:xfrm>
            <a:off x="411480" y="2450592"/>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account_type</a:t>
            </a:r>
            <a:endParaRPr lang="en-US" sz="1150" dirty="0"/>
          </a:p>
        </p:txBody>
      </p:sp>
      <p:sp>
        <p:nvSpPr>
          <p:cNvPr id="18" name="Text 16"/>
          <p:cNvSpPr/>
          <p:nvPr/>
        </p:nvSpPr>
        <p:spPr>
          <a:xfrm>
            <a:off x="411480" y="2724912"/>
            <a:ext cx="2011680" cy="201168"/>
          </a:xfrm>
          <a:prstGeom prst="rect">
            <a:avLst/>
          </a:prstGeom>
          <a:noFill/>
          <a:ln/>
        </p:spPr>
        <p:txBody>
          <a:bodyPr wrap="square" rtlCol="0" anchor="ctr"/>
          <a:lstStyle/>
          <a:p>
            <a:pPr marL="0" indent="0">
              <a:buNone/>
            </a:pPr>
            <a:r>
              <a:rPr lang="en-US" sz="950" i="1" dirty="0">
                <a:solidFill>
                  <a:srgbClr val="1A7A4A"/>
                </a:solidFill>
                <a:latin typeface="Consolas" pitchFamily="34" charset="0"/>
                <a:ea typeface="Consolas" pitchFamily="34" charset="-122"/>
                <a:cs typeface="Consolas" pitchFamily="34" charset="-120"/>
              </a:rPr>
              <a:t>ENUM('savings','current')</a:t>
            </a:r>
            <a:endParaRPr lang="en-US" sz="950" dirty="0"/>
          </a:p>
        </p:txBody>
      </p:sp>
      <p:sp>
        <p:nvSpPr>
          <p:cNvPr id="19" name="Text 17"/>
          <p:cNvSpPr/>
          <p:nvPr/>
        </p:nvSpPr>
        <p:spPr>
          <a:xfrm>
            <a:off x="411480" y="2926080"/>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ENUM restricts values to 'savings' or 'current', the two most common retail account types. Savings accounts earn interest but have withdrawal limits; current accounts offer overdraft facilities for business customers.</a:t>
            </a:r>
            <a:endParaRPr lang="en-US" sz="920" dirty="0"/>
          </a:p>
        </p:txBody>
      </p:sp>
      <p:sp>
        <p:nvSpPr>
          <p:cNvPr id="20" name="Shape 18"/>
          <p:cNvSpPr/>
          <p:nvPr/>
        </p:nvSpPr>
        <p:spPr>
          <a:xfrm>
            <a:off x="4663440" y="2377440"/>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21" name="Shape 19"/>
          <p:cNvSpPr/>
          <p:nvPr/>
        </p:nvSpPr>
        <p:spPr>
          <a:xfrm>
            <a:off x="4663440" y="2377440"/>
            <a:ext cx="91440" cy="1152144"/>
          </a:xfrm>
          <a:prstGeom prst="rect">
            <a:avLst/>
          </a:prstGeom>
          <a:solidFill>
            <a:srgbClr val="6C3483"/>
          </a:solidFill>
          <a:ln w="12700">
            <a:solidFill>
              <a:srgbClr val="6C3483"/>
            </a:solidFill>
            <a:prstDash val="solid"/>
          </a:ln>
        </p:spPr>
      </p:sp>
      <p:sp>
        <p:nvSpPr>
          <p:cNvPr id="22" name="Text 20"/>
          <p:cNvSpPr/>
          <p:nvPr/>
        </p:nvSpPr>
        <p:spPr>
          <a:xfrm>
            <a:off x="4846320" y="2450592"/>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balance</a:t>
            </a:r>
            <a:endParaRPr lang="en-US" sz="1150" dirty="0"/>
          </a:p>
        </p:txBody>
      </p:sp>
      <p:sp>
        <p:nvSpPr>
          <p:cNvPr id="23" name="Text 21"/>
          <p:cNvSpPr/>
          <p:nvPr/>
        </p:nvSpPr>
        <p:spPr>
          <a:xfrm>
            <a:off x="4846320" y="2724912"/>
            <a:ext cx="2011680" cy="201168"/>
          </a:xfrm>
          <a:prstGeom prst="rect">
            <a:avLst/>
          </a:prstGeom>
          <a:noFill/>
          <a:ln/>
        </p:spPr>
        <p:txBody>
          <a:bodyPr wrap="square" rtlCol="0" anchor="ctr"/>
          <a:lstStyle/>
          <a:p>
            <a:pPr marL="0" indent="0">
              <a:buNone/>
            </a:pPr>
            <a:r>
              <a:rPr lang="en-US" sz="950" i="1" dirty="0">
                <a:solidFill>
                  <a:srgbClr val="6C3483"/>
                </a:solidFill>
                <a:latin typeface="Consolas" pitchFamily="34" charset="0"/>
                <a:ea typeface="Consolas" pitchFamily="34" charset="-122"/>
                <a:cs typeface="Consolas" pitchFamily="34" charset="-120"/>
              </a:rPr>
              <a:t>DECIMAL(12,2)</a:t>
            </a:r>
            <a:endParaRPr lang="en-US" sz="950" dirty="0"/>
          </a:p>
        </p:txBody>
      </p:sp>
      <p:sp>
        <p:nvSpPr>
          <p:cNvPr id="24" name="Text 22"/>
          <p:cNvSpPr/>
          <p:nvPr/>
        </p:nvSpPr>
        <p:spPr>
          <a:xfrm>
            <a:off x="4846320" y="2926080"/>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DECIMAL is used instead of FLOAT/DOUBLE because floating-point types introduce rounding errors in financial calculations. DECIMAL(12,2) supports balances up to $9,999,999,999.99 with cent-level precision.</a:t>
            </a:r>
            <a:endParaRPr lang="en-US" sz="920" dirty="0"/>
          </a:p>
        </p:txBody>
      </p:sp>
      <p:sp>
        <p:nvSpPr>
          <p:cNvPr id="25" name="Shape 23"/>
          <p:cNvSpPr/>
          <p:nvPr/>
        </p:nvSpPr>
        <p:spPr>
          <a:xfrm>
            <a:off x="228600" y="3639312"/>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26" name="Shape 24"/>
          <p:cNvSpPr/>
          <p:nvPr/>
        </p:nvSpPr>
        <p:spPr>
          <a:xfrm>
            <a:off x="228600" y="3639312"/>
            <a:ext cx="91440" cy="1152144"/>
          </a:xfrm>
          <a:prstGeom prst="rect">
            <a:avLst/>
          </a:prstGeom>
          <a:solidFill>
            <a:srgbClr val="C87722"/>
          </a:solidFill>
          <a:ln w="12700">
            <a:solidFill>
              <a:srgbClr val="C87722"/>
            </a:solidFill>
            <a:prstDash val="solid"/>
          </a:ln>
        </p:spPr>
      </p:sp>
      <p:sp>
        <p:nvSpPr>
          <p:cNvPr id="27" name="Text 25"/>
          <p:cNvSpPr/>
          <p:nvPr/>
        </p:nvSpPr>
        <p:spPr>
          <a:xfrm>
            <a:off x="411480" y="3712464"/>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branch_id</a:t>
            </a:r>
            <a:endParaRPr lang="en-US" sz="1150" dirty="0"/>
          </a:p>
        </p:txBody>
      </p:sp>
      <p:sp>
        <p:nvSpPr>
          <p:cNvPr id="28" name="Text 26"/>
          <p:cNvSpPr/>
          <p:nvPr/>
        </p:nvSpPr>
        <p:spPr>
          <a:xfrm>
            <a:off x="411480" y="3986784"/>
            <a:ext cx="2011680" cy="201168"/>
          </a:xfrm>
          <a:prstGeom prst="rect">
            <a:avLst/>
          </a:prstGeom>
          <a:noFill/>
          <a:ln/>
        </p:spPr>
        <p:txBody>
          <a:bodyPr wrap="square" rtlCol="0" anchor="ctr"/>
          <a:lstStyle/>
          <a:p>
            <a:pPr marL="0" indent="0">
              <a:buNone/>
            </a:pPr>
            <a:r>
              <a:rPr lang="en-US" sz="950" i="1" dirty="0">
                <a:solidFill>
                  <a:srgbClr val="C87722"/>
                </a:solidFill>
                <a:latin typeface="Consolas" pitchFamily="34" charset="0"/>
                <a:ea typeface="Consolas" pitchFamily="34" charset="-122"/>
                <a:cs typeface="Consolas" pitchFamily="34" charset="-120"/>
              </a:rPr>
              <a:t>INT / FK</a:t>
            </a:r>
            <a:endParaRPr lang="en-US" sz="950" dirty="0"/>
          </a:p>
        </p:txBody>
      </p:sp>
      <p:sp>
        <p:nvSpPr>
          <p:cNvPr id="29" name="Text 27"/>
          <p:cNvSpPr/>
          <p:nvPr/>
        </p:nvSpPr>
        <p:spPr>
          <a:xfrm>
            <a:off x="411480" y="4187952"/>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References the Branch table (not in current scope but implied). Storing branch_id enables filtering accounts by branch, generating branch-level reports, and enforcing branch-specific policies on account types and limits.</a:t>
            </a:r>
            <a:endParaRPr lang="en-US" sz="920" dirty="0"/>
          </a:p>
        </p:txBody>
      </p:sp>
      <p:sp>
        <p:nvSpPr>
          <p:cNvPr id="30" name="Shape 28"/>
          <p:cNvSpPr/>
          <p:nvPr/>
        </p:nvSpPr>
        <p:spPr>
          <a:xfrm>
            <a:off x="4663440" y="3639312"/>
            <a:ext cx="4206240" cy="1152144"/>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31" name="Shape 29"/>
          <p:cNvSpPr/>
          <p:nvPr/>
        </p:nvSpPr>
        <p:spPr>
          <a:xfrm>
            <a:off x="4663440" y="3639312"/>
            <a:ext cx="91440" cy="1152144"/>
          </a:xfrm>
          <a:prstGeom prst="rect">
            <a:avLst/>
          </a:prstGeom>
          <a:solidFill>
            <a:srgbClr val="A93226"/>
          </a:solidFill>
          <a:ln w="12700">
            <a:solidFill>
              <a:srgbClr val="A93226"/>
            </a:solidFill>
            <a:prstDash val="solid"/>
          </a:ln>
        </p:spPr>
      </p:sp>
      <p:sp>
        <p:nvSpPr>
          <p:cNvPr id="32" name="Text 30"/>
          <p:cNvSpPr/>
          <p:nvPr/>
        </p:nvSpPr>
        <p:spPr>
          <a:xfrm>
            <a:off x="4846320" y="3712464"/>
            <a:ext cx="2560320" cy="256032"/>
          </a:xfrm>
          <a:prstGeom prst="rect">
            <a:avLst/>
          </a:prstGeom>
          <a:noFill/>
          <a:ln/>
        </p:spPr>
        <p:txBody>
          <a:bodyPr wrap="square" lIns="0" tIns="0" rIns="0" bIns="0" rtlCol="0" anchor="ctr"/>
          <a:lstStyle/>
          <a:p>
            <a:pPr marL="0" indent="0">
              <a:buNone/>
            </a:pPr>
            <a:r>
              <a:rPr lang="en-US" sz="1150" b="1" dirty="0">
                <a:solidFill>
                  <a:srgbClr val="0F1923"/>
                </a:solidFill>
                <a:latin typeface="Consolas" pitchFamily="34" charset="0"/>
                <a:ea typeface="Consolas" pitchFamily="34" charset="-122"/>
                <a:cs typeface="Consolas" pitchFamily="34" charset="-120"/>
              </a:rPr>
              <a:t>status</a:t>
            </a:r>
            <a:endParaRPr lang="en-US" sz="1150" dirty="0"/>
          </a:p>
        </p:txBody>
      </p:sp>
      <p:sp>
        <p:nvSpPr>
          <p:cNvPr id="33" name="Text 31"/>
          <p:cNvSpPr/>
          <p:nvPr/>
        </p:nvSpPr>
        <p:spPr>
          <a:xfrm>
            <a:off x="4846320" y="3986784"/>
            <a:ext cx="2011680" cy="201168"/>
          </a:xfrm>
          <a:prstGeom prst="rect">
            <a:avLst/>
          </a:prstGeom>
          <a:noFill/>
          <a:ln/>
        </p:spPr>
        <p:txBody>
          <a:bodyPr wrap="square" rtlCol="0" anchor="ctr"/>
          <a:lstStyle/>
          <a:p>
            <a:pPr marL="0" indent="0">
              <a:buNone/>
            </a:pPr>
            <a:r>
              <a:rPr lang="en-US" sz="950" i="1" dirty="0">
                <a:solidFill>
                  <a:srgbClr val="A93226"/>
                </a:solidFill>
                <a:latin typeface="Consolas" pitchFamily="34" charset="0"/>
                <a:ea typeface="Consolas" pitchFamily="34" charset="-122"/>
                <a:cs typeface="Consolas" pitchFamily="34" charset="-120"/>
              </a:rPr>
              <a:t>ENUM('Active','Inactive')</a:t>
            </a:r>
            <a:endParaRPr lang="en-US" sz="950" dirty="0"/>
          </a:p>
        </p:txBody>
      </p:sp>
      <p:sp>
        <p:nvSpPr>
          <p:cNvPr id="34" name="Text 32"/>
          <p:cNvSpPr/>
          <p:nvPr/>
        </p:nvSpPr>
        <p:spPr>
          <a:xfrm>
            <a:off x="4846320" y="4187952"/>
            <a:ext cx="3931920" cy="530352"/>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Rather than deleting closed accounts (which would destroy audit history), accounts are marked 'Inactive'. This is the soft-delete pattern — preserving all transaction history while removing the account from active operations.</a:t>
            </a:r>
            <a:endParaRPr lang="en-US" sz="920" dirty="0"/>
          </a:p>
        </p:txBody>
      </p:sp>
      <p:sp>
        <p:nvSpPr>
          <p:cNvPr id="37" name="Shape 35"/>
          <p:cNvSpPr/>
          <p:nvPr/>
        </p:nvSpPr>
        <p:spPr>
          <a:xfrm>
            <a:off x="0" y="4892040"/>
            <a:ext cx="9144000" cy="251460"/>
          </a:xfrm>
          <a:prstGeom prst="rect">
            <a:avLst/>
          </a:prstGeom>
          <a:solidFill>
            <a:srgbClr val="0F1923"/>
          </a:solidFill>
          <a:ln w="12700">
            <a:solidFill>
              <a:srgbClr val="0F1923"/>
            </a:solidFill>
            <a:prstDash val="solid"/>
          </a:ln>
        </p:spPr>
      </p:sp>
      <p:sp>
        <p:nvSpPr>
          <p:cNvPr id="38" name="Text 36"/>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39" name="Text 37"/>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28600" y="109728"/>
            <a:ext cx="8686800" cy="493776"/>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SQL DDL — CREATE TABLE Statements</a:t>
            </a:r>
            <a:endParaRPr lang="en-US" sz="2600" dirty="0"/>
          </a:p>
        </p:txBody>
      </p:sp>
      <p:sp>
        <p:nvSpPr>
          <p:cNvPr id="3" name="Shape 1"/>
          <p:cNvSpPr/>
          <p:nvPr/>
        </p:nvSpPr>
        <p:spPr>
          <a:xfrm>
            <a:off x="228600" y="658368"/>
            <a:ext cx="8686800" cy="237744"/>
          </a:xfrm>
          <a:prstGeom prst="rect">
            <a:avLst/>
          </a:prstGeom>
          <a:solidFill>
            <a:srgbClr val="1F2937"/>
          </a:solidFill>
          <a:ln w="12700">
            <a:solidFill>
              <a:srgbClr val="1F2937"/>
            </a:solidFill>
            <a:prstDash val="solid"/>
          </a:ln>
        </p:spPr>
      </p:sp>
      <p:sp>
        <p:nvSpPr>
          <p:cNvPr id="4" name="Text 2"/>
          <p:cNvSpPr/>
          <p:nvPr/>
        </p:nvSpPr>
        <p:spPr>
          <a:xfrm>
            <a:off x="347472" y="658368"/>
            <a:ext cx="8412480" cy="237744"/>
          </a:xfrm>
          <a:prstGeom prst="rect">
            <a:avLst/>
          </a:prstGeom>
          <a:noFill/>
          <a:ln/>
        </p:spPr>
        <p:txBody>
          <a:bodyPr wrap="square" rtlCol="0" anchor="ctr"/>
          <a:lstStyle/>
          <a:p>
            <a:pPr marL="0" indent="0">
              <a:buNone/>
            </a:pPr>
            <a:r>
              <a:rPr lang="en-US" sz="950" i="1" dirty="0">
                <a:solidFill>
                  <a:srgbClr val="CDD5DF"/>
                </a:solidFill>
                <a:latin typeface="Calibri" pitchFamily="34" charset="0"/>
                <a:ea typeface="Calibri" pitchFamily="34" charset="-122"/>
                <a:cs typeface="Calibri" pitchFamily="34" charset="-120"/>
              </a:rPr>
              <a:t>These CREATE TABLE statements define the physical schema. Every design decision — data types, constraints, keys — is deliberate and production-grade.</a:t>
            </a:r>
            <a:endParaRPr lang="en-US" sz="950" dirty="0"/>
          </a:p>
        </p:txBody>
      </p:sp>
      <p:sp>
        <p:nvSpPr>
          <p:cNvPr id="5" name="Shape 3"/>
          <p:cNvSpPr/>
          <p:nvPr/>
        </p:nvSpPr>
        <p:spPr>
          <a:xfrm>
            <a:off x="228600" y="950976"/>
            <a:ext cx="4206240" cy="3840480"/>
          </a:xfrm>
          <a:prstGeom prst="rect">
            <a:avLst/>
          </a:prstGeom>
          <a:solidFill>
            <a:srgbClr val="161B22"/>
          </a:solidFill>
          <a:ln w="12700">
            <a:solidFill>
              <a:srgbClr val="161B22"/>
            </a:solidFill>
            <a:prstDash val="solid"/>
          </a:ln>
        </p:spPr>
      </p:sp>
      <p:sp>
        <p:nvSpPr>
          <p:cNvPr id="6" name="Shape 4"/>
          <p:cNvSpPr/>
          <p:nvPr/>
        </p:nvSpPr>
        <p:spPr>
          <a:xfrm>
            <a:off x="228600" y="950976"/>
            <a:ext cx="4206240" cy="3840480"/>
          </a:xfrm>
          <a:prstGeom prst="rect">
            <a:avLst/>
          </a:prstGeom>
          <a:solidFill>
            <a:srgbClr val="161B22"/>
          </a:solidFill>
          <a:ln w="6350">
            <a:solidFill>
              <a:srgbClr val="30363D"/>
            </a:solidFill>
            <a:prstDash val="solid"/>
          </a:ln>
        </p:spPr>
      </p:sp>
      <p:sp>
        <p:nvSpPr>
          <p:cNvPr id="7" name="Text 5"/>
          <p:cNvSpPr/>
          <p:nvPr/>
        </p:nvSpPr>
        <p:spPr>
          <a:xfrm>
            <a:off x="338328" y="1005840"/>
            <a:ext cx="4005072" cy="3749040"/>
          </a:xfrm>
          <a:prstGeom prst="rect">
            <a:avLst/>
          </a:prstGeom>
          <a:noFill/>
          <a:ln/>
        </p:spPr>
        <p:txBody>
          <a:bodyPr wrap="square" lIns="0" tIns="0" rIns="0" bIns="0" rtlCol="0" anchor="t"/>
          <a:lstStyle/>
          <a:p>
            <a:pPr marL="0" indent="0">
              <a:buNone/>
            </a:pPr>
            <a:r>
              <a:rPr lang="en-US" sz="920" dirty="0">
                <a:solidFill>
                  <a:srgbClr val="4EC9B0"/>
                </a:solidFill>
                <a:latin typeface="Consolas" pitchFamily="34" charset="0"/>
                <a:ea typeface="Consolas" pitchFamily="34" charset="-122"/>
                <a:cs typeface="Consolas" pitchFamily="34" charset="-120"/>
              </a:rPr>
              <a:t>-- ══════════════════════════════
</a:t>
            </a:r>
            <a:r>
              <a:rPr lang="en-US" sz="920" dirty="0">
                <a:solidFill>
                  <a:srgbClr val="6A9955"/>
                </a:solidFill>
                <a:latin typeface="Consolas" pitchFamily="34" charset="0"/>
                <a:ea typeface="Consolas" pitchFamily="34" charset="-122"/>
                <a:cs typeface="Consolas" pitchFamily="34" charset="-120"/>
              </a:rPr>
              <a:t>-- TABLE 1: Customer Biography
</a:t>
            </a:r>
            <a:r>
              <a:rPr lang="en-US" sz="920" dirty="0">
                <a:solidFill>
                  <a:srgbClr val="4EC9B0"/>
                </a:solidFill>
                <a:latin typeface="Consolas" pitchFamily="34" charset="0"/>
                <a:ea typeface="Consolas" pitchFamily="34" charset="-122"/>
                <a:cs typeface="Consolas" pitchFamily="34" charset="-120"/>
              </a:rPr>
              <a:t>-- ══════════════════════════════
</a:t>
            </a:r>
            <a:r>
              <a:rPr lang="en-US" sz="920" b="1" dirty="0">
                <a:solidFill>
                  <a:srgbClr val="569CD6"/>
                </a:solidFill>
                <a:latin typeface="Consolas" pitchFamily="34" charset="0"/>
                <a:ea typeface="Consolas" pitchFamily="34" charset="-122"/>
                <a:cs typeface="Consolas" pitchFamily="34" charset="-120"/>
              </a:rPr>
              <a:t>CREATE TABLE </a:t>
            </a:r>
            <a:r>
              <a:rPr lang="en-US" sz="920" dirty="0">
                <a:solidFill>
                  <a:srgbClr val="9CDCFE"/>
                </a:solidFill>
                <a:latin typeface="Consolas" pitchFamily="34" charset="0"/>
                <a:ea typeface="Consolas" pitchFamily="34" charset="-122"/>
                <a:cs typeface="Consolas" pitchFamily="34" charset="-120"/>
              </a:rPr>
              <a:t>customer_bio (
  customer_id   </a:t>
            </a:r>
            <a:r>
              <a:rPr lang="en-US" sz="920" dirty="0">
                <a:solidFill>
                  <a:srgbClr val="4EC9B0"/>
                </a:solidFill>
                <a:latin typeface="Consolas" pitchFamily="34" charset="0"/>
                <a:ea typeface="Consolas" pitchFamily="34" charset="-122"/>
                <a:cs typeface="Consolas" pitchFamily="34" charset="-120"/>
              </a:rPr>
              <a:t>VARCHAR</a:t>
            </a:r>
            <a:r>
              <a:rPr lang="en-US" sz="920" dirty="0">
                <a:solidFill>
                  <a:srgbClr val="CE9178"/>
                </a:solidFill>
                <a:latin typeface="Consolas" pitchFamily="34" charset="0"/>
                <a:ea typeface="Consolas" pitchFamily="34" charset="-122"/>
                <a:cs typeface="Consolas" pitchFamily="34" charset="-120"/>
              </a:rPr>
              <a:t>(20)  </a:t>
            </a:r>
            <a:r>
              <a:rPr lang="en-US" sz="920" b="1" dirty="0">
                <a:solidFill>
                  <a:srgbClr val="569CD6"/>
                </a:solidFill>
                <a:latin typeface="Consolas" pitchFamily="34" charset="0"/>
                <a:ea typeface="Consolas" pitchFamily="34" charset="-122"/>
                <a:cs typeface="Consolas" pitchFamily="34" charset="-120"/>
              </a:rPr>
              <a:t>NOT NULL
                 PRIMARY KEY,
</a:t>
            </a:r>
            <a:r>
              <a:rPr lang="en-US" sz="920" dirty="0">
                <a:solidFill>
                  <a:srgbClr val="9CDCFE"/>
                </a:solidFill>
                <a:latin typeface="Consolas" pitchFamily="34" charset="0"/>
                <a:ea typeface="Consolas" pitchFamily="34" charset="-122"/>
                <a:cs typeface="Consolas" pitchFamily="34" charset="-120"/>
              </a:rPr>
              <a:t>  first_name    </a:t>
            </a:r>
            <a:r>
              <a:rPr lang="en-US" sz="920" dirty="0">
                <a:solidFill>
                  <a:srgbClr val="4EC9B0"/>
                </a:solidFill>
                <a:latin typeface="Consolas" pitchFamily="34" charset="0"/>
                <a:ea typeface="Consolas" pitchFamily="34" charset="-122"/>
                <a:cs typeface="Consolas" pitchFamily="34" charset="-120"/>
              </a:rPr>
              <a:t>VARCHAR</a:t>
            </a:r>
            <a:r>
              <a:rPr lang="en-US" sz="920" dirty="0">
                <a:solidFill>
                  <a:srgbClr val="CE9178"/>
                </a:solidFill>
                <a:latin typeface="Consolas" pitchFamily="34" charset="0"/>
                <a:ea typeface="Consolas" pitchFamily="34" charset="-122"/>
                <a:cs typeface="Consolas" pitchFamily="34" charset="-120"/>
              </a:rPr>
              <a:t>(50)  </a:t>
            </a:r>
            <a:r>
              <a:rPr lang="en-US" sz="920" b="1" dirty="0">
                <a:solidFill>
                  <a:srgbClr val="569CD6"/>
                </a:solidFill>
                <a:latin typeface="Consolas" pitchFamily="34" charset="0"/>
                <a:ea typeface="Consolas" pitchFamily="34" charset="-122"/>
                <a:cs typeface="Consolas" pitchFamily="34" charset="-120"/>
              </a:rPr>
              <a:t>NOT NULL,
</a:t>
            </a:r>
            <a:r>
              <a:rPr lang="en-US" sz="920" dirty="0">
                <a:solidFill>
                  <a:srgbClr val="9CDCFE"/>
                </a:solidFill>
                <a:latin typeface="Consolas" pitchFamily="34" charset="0"/>
                <a:ea typeface="Consolas" pitchFamily="34" charset="-122"/>
                <a:cs typeface="Consolas" pitchFamily="34" charset="-120"/>
              </a:rPr>
              <a:t>  last_name     </a:t>
            </a:r>
            <a:r>
              <a:rPr lang="en-US" sz="920" dirty="0">
                <a:solidFill>
                  <a:srgbClr val="4EC9B0"/>
                </a:solidFill>
                <a:latin typeface="Consolas" pitchFamily="34" charset="0"/>
                <a:ea typeface="Consolas" pitchFamily="34" charset="-122"/>
                <a:cs typeface="Consolas" pitchFamily="34" charset="-120"/>
              </a:rPr>
              <a:t>VARCHAR</a:t>
            </a:r>
            <a:r>
              <a:rPr lang="en-US" sz="920" dirty="0">
                <a:solidFill>
                  <a:srgbClr val="CE9178"/>
                </a:solidFill>
                <a:latin typeface="Consolas" pitchFamily="34" charset="0"/>
                <a:ea typeface="Consolas" pitchFamily="34" charset="-122"/>
                <a:cs typeface="Consolas" pitchFamily="34" charset="-120"/>
              </a:rPr>
              <a:t>(50)  </a:t>
            </a:r>
            <a:r>
              <a:rPr lang="en-US" sz="920" b="1" dirty="0">
                <a:solidFill>
                  <a:srgbClr val="569CD6"/>
                </a:solidFill>
                <a:latin typeface="Consolas" pitchFamily="34" charset="0"/>
                <a:ea typeface="Consolas" pitchFamily="34" charset="-122"/>
                <a:cs typeface="Consolas" pitchFamily="34" charset="-120"/>
              </a:rPr>
              <a:t>NOT NULL,
</a:t>
            </a:r>
            <a:r>
              <a:rPr lang="en-US" sz="920" dirty="0">
                <a:solidFill>
                  <a:srgbClr val="9CDCFE"/>
                </a:solidFill>
                <a:latin typeface="Consolas" pitchFamily="34" charset="0"/>
                <a:ea typeface="Consolas" pitchFamily="34" charset="-122"/>
                <a:cs typeface="Consolas" pitchFamily="34" charset="-120"/>
              </a:rPr>
              <a:t>  date_of_birth </a:t>
            </a:r>
            <a:r>
              <a:rPr lang="en-US" sz="920" dirty="0">
                <a:solidFill>
                  <a:srgbClr val="4EC9B0"/>
                </a:solidFill>
                <a:latin typeface="Consolas" pitchFamily="34" charset="0"/>
                <a:ea typeface="Consolas" pitchFamily="34" charset="-122"/>
                <a:cs typeface="Consolas" pitchFamily="34" charset="-120"/>
              </a:rPr>
              <a:t>DATE          </a:t>
            </a:r>
            <a:r>
              <a:rPr lang="en-US" sz="920" b="1" dirty="0">
                <a:solidFill>
                  <a:srgbClr val="569CD6"/>
                </a:solidFill>
                <a:latin typeface="Consolas" pitchFamily="34" charset="0"/>
                <a:ea typeface="Consolas" pitchFamily="34" charset="-122"/>
                <a:cs typeface="Consolas" pitchFamily="34" charset="-120"/>
              </a:rPr>
              <a:t>NOT NULL,
</a:t>
            </a:r>
            <a:r>
              <a:rPr lang="en-US" sz="920" dirty="0">
                <a:solidFill>
                  <a:srgbClr val="9CDCFE"/>
                </a:solidFill>
                <a:latin typeface="Consolas" pitchFamily="34" charset="0"/>
                <a:ea typeface="Consolas" pitchFamily="34" charset="-122"/>
                <a:cs typeface="Consolas" pitchFamily="34" charset="-120"/>
              </a:rPr>
              <a:t>  gender        </a:t>
            </a:r>
            <a:r>
              <a:rPr lang="en-US" sz="920" dirty="0">
                <a:solidFill>
                  <a:srgbClr val="4EC9B0"/>
                </a:solidFill>
                <a:latin typeface="Consolas" pitchFamily="34" charset="0"/>
                <a:ea typeface="Consolas" pitchFamily="34" charset="-122"/>
                <a:cs typeface="Consolas" pitchFamily="34" charset="-120"/>
              </a:rPr>
              <a:t>ENUM</a:t>
            </a:r>
            <a:r>
              <a:rPr lang="en-US" sz="920" dirty="0">
                <a:solidFill>
                  <a:srgbClr val="CE9178"/>
                </a:solidFill>
                <a:latin typeface="Consolas" pitchFamily="34" charset="0"/>
                <a:ea typeface="Consolas" pitchFamily="34" charset="-122"/>
                <a:cs typeface="Consolas" pitchFamily="34" charset="-120"/>
              </a:rPr>
              <a:t>('m','f') </a:t>
            </a:r>
            <a:r>
              <a:rPr lang="en-US" sz="920" b="1" dirty="0">
                <a:solidFill>
                  <a:srgbClr val="569CD6"/>
                </a:solidFill>
                <a:latin typeface="Consolas" pitchFamily="34" charset="0"/>
                <a:ea typeface="Consolas" pitchFamily="34" charset="-122"/>
                <a:cs typeface="Consolas" pitchFamily="34" charset="-120"/>
              </a:rPr>
              <a:t>NOT NULL,
</a:t>
            </a:r>
            <a:r>
              <a:rPr lang="en-US" sz="920" dirty="0">
                <a:solidFill>
                  <a:srgbClr val="9CDCFE"/>
                </a:solidFill>
                <a:latin typeface="Consolas" pitchFamily="34" charset="0"/>
                <a:ea typeface="Consolas" pitchFamily="34" charset="-122"/>
                <a:cs typeface="Consolas" pitchFamily="34" charset="-120"/>
              </a:rPr>
              <a:t>  email         </a:t>
            </a:r>
            <a:r>
              <a:rPr lang="en-US" sz="920" dirty="0">
                <a:solidFill>
                  <a:srgbClr val="4EC9B0"/>
                </a:solidFill>
                <a:latin typeface="Consolas" pitchFamily="34" charset="0"/>
                <a:ea typeface="Consolas" pitchFamily="34" charset="-122"/>
                <a:cs typeface="Consolas" pitchFamily="34" charset="-120"/>
              </a:rPr>
              <a:t>VARCHAR</a:t>
            </a:r>
            <a:r>
              <a:rPr lang="en-US" sz="920" dirty="0">
                <a:solidFill>
                  <a:srgbClr val="CE9178"/>
                </a:solidFill>
                <a:latin typeface="Consolas" pitchFamily="34" charset="0"/>
                <a:ea typeface="Consolas" pitchFamily="34" charset="-122"/>
                <a:cs typeface="Consolas" pitchFamily="34" charset="-120"/>
              </a:rPr>
              <a:t>(100) </a:t>
            </a:r>
            <a:r>
              <a:rPr lang="en-US" sz="920" dirty="0">
                <a:solidFill>
                  <a:srgbClr val="DCDCAA"/>
                </a:solidFill>
                <a:latin typeface="Consolas" pitchFamily="34" charset="0"/>
                <a:ea typeface="Consolas" pitchFamily="34" charset="-122"/>
                <a:cs typeface="Consolas" pitchFamily="34" charset="-120"/>
              </a:rPr>
              <a:t>UNIQUE
</a:t>
            </a:r>
            <a:r>
              <a:rPr lang="en-US" sz="920" dirty="0">
                <a:solidFill>
                  <a:srgbClr val="9CDCFE"/>
                </a:solidFill>
                <a:latin typeface="Consolas" pitchFamily="34" charset="0"/>
                <a:ea typeface="Consolas" pitchFamily="34" charset="-122"/>
                <a:cs typeface="Consolas" pitchFamily="34" charset="-120"/>
              </a:rPr>
              <a:t>);
</a:t>
            </a:r>
            <a:r>
              <a:rPr lang="en-US" sz="920" dirty="0">
                <a:solidFill>
                  <a:srgbClr val="6A9955"/>
                </a:solidFill>
                <a:latin typeface="Consolas" pitchFamily="34" charset="0"/>
                <a:ea typeface="Consolas" pitchFamily="34" charset="-122"/>
                <a:cs typeface="Consolas" pitchFamily="34" charset="-120"/>
              </a:rPr>
              <a:t>
-- Index for fast lookup
</a:t>
            </a:r>
            <a:r>
              <a:rPr lang="en-US" sz="920" b="1" dirty="0">
                <a:solidFill>
                  <a:srgbClr val="569CD6"/>
                </a:solidFill>
                <a:latin typeface="Consolas" pitchFamily="34" charset="0"/>
                <a:ea typeface="Consolas" pitchFamily="34" charset="-122"/>
                <a:cs typeface="Consolas" pitchFamily="34" charset="-120"/>
              </a:rPr>
              <a:t>CREATE INDEX </a:t>
            </a:r>
            <a:r>
              <a:rPr lang="en-US" sz="920" dirty="0">
                <a:solidFill>
                  <a:srgbClr val="9CDCFE"/>
                </a:solidFill>
                <a:latin typeface="Consolas" pitchFamily="34" charset="0"/>
                <a:ea typeface="Consolas" pitchFamily="34" charset="-122"/>
                <a:cs typeface="Consolas" pitchFamily="34" charset="-120"/>
              </a:rPr>
              <a:t>idx_cust_name
</a:t>
            </a:r>
            <a:r>
              <a:rPr lang="en-US" sz="920" b="1" dirty="0">
                <a:solidFill>
                  <a:srgbClr val="569CD6"/>
                </a:solidFill>
                <a:latin typeface="Consolas" pitchFamily="34" charset="0"/>
                <a:ea typeface="Consolas" pitchFamily="34" charset="-122"/>
                <a:cs typeface="Consolas" pitchFamily="34" charset="-120"/>
              </a:rPr>
              <a:t>ON </a:t>
            </a:r>
            <a:r>
              <a:rPr lang="en-US" sz="920" dirty="0">
                <a:solidFill>
                  <a:srgbClr val="9CDCFE"/>
                </a:solidFill>
                <a:latin typeface="Consolas" pitchFamily="34" charset="0"/>
                <a:ea typeface="Consolas" pitchFamily="34" charset="-122"/>
                <a:cs typeface="Consolas" pitchFamily="34" charset="-120"/>
              </a:rPr>
              <a:t>customer_bio</a:t>
            </a:r>
            <a:r>
              <a:rPr lang="en-US" sz="920" dirty="0">
                <a:solidFill>
                  <a:srgbClr val="CE9178"/>
                </a:solidFill>
                <a:latin typeface="Consolas" pitchFamily="34" charset="0"/>
                <a:ea typeface="Consolas" pitchFamily="34" charset="-122"/>
                <a:cs typeface="Consolas" pitchFamily="34" charset="-120"/>
              </a:rPr>
              <a:t>(last_name);</a:t>
            </a:r>
            <a:endParaRPr lang="en-US" sz="920" dirty="0"/>
          </a:p>
        </p:txBody>
      </p:sp>
      <p:sp>
        <p:nvSpPr>
          <p:cNvPr id="8" name="Shape 6"/>
          <p:cNvSpPr/>
          <p:nvPr/>
        </p:nvSpPr>
        <p:spPr>
          <a:xfrm>
            <a:off x="4663440" y="950976"/>
            <a:ext cx="4251960" cy="3840480"/>
          </a:xfrm>
          <a:prstGeom prst="rect">
            <a:avLst/>
          </a:prstGeom>
          <a:solidFill>
            <a:srgbClr val="161B22"/>
          </a:solidFill>
          <a:ln w="6350">
            <a:solidFill>
              <a:srgbClr val="30363D"/>
            </a:solidFill>
            <a:prstDash val="solid"/>
          </a:ln>
        </p:spPr>
      </p:sp>
      <p:sp>
        <p:nvSpPr>
          <p:cNvPr id="9" name="Text 7"/>
          <p:cNvSpPr/>
          <p:nvPr/>
        </p:nvSpPr>
        <p:spPr>
          <a:xfrm>
            <a:off x="4773168" y="1005840"/>
            <a:ext cx="4050792" cy="3749040"/>
          </a:xfrm>
          <a:prstGeom prst="rect">
            <a:avLst/>
          </a:prstGeom>
          <a:noFill/>
          <a:ln/>
        </p:spPr>
        <p:txBody>
          <a:bodyPr wrap="square" lIns="0" tIns="0" rIns="0" bIns="0" rtlCol="0" anchor="t"/>
          <a:lstStyle/>
          <a:p>
            <a:pPr marL="0" indent="0">
              <a:buNone/>
            </a:pPr>
            <a:r>
              <a:rPr lang="en-US" sz="920" dirty="0">
                <a:solidFill>
                  <a:srgbClr val="4EC9B0"/>
                </a:solidFill>
                <a:latin typeface="Consolas" pitchFamily="34" charset="0"/>
                <a:ea typeface="Consolas" pitchFamily="34" charset="-122"/>
                <a:cs typeface="Consolas" pitchFamily="34" charset="-120"/>
              </a:rPr>
              <a:t>-- ══════════════════════════════
</a:t>
            </a:r>
            <a:r>
              <a:rPr lang="en-US" sz="920" dirty="0">
                <a:solidFill>
                  <a:srgbClr val="6A9955"/>
                </a:solidFill>
                <a:latin typeface="Consolas" pitchFamily="34" charset="0"/>
                <a:ea typeface="Consolas" pitchFamily="34" charset="-122"/>
                <a:cs typeface="Consolas" pitchFamily="34" charset="-120"/>
              </a:rPr>
              <a:t>-- TABLE 2: Account Details
</a:t>
            </a:r>
            <a:r>
              <a:rPr lang="en-US" sz="920" dirty="0">
                <a:solidFill>
                  <a:srgbClr val="4EC9B0"/>
                </a:solidFill>
                <a:latin typeface="Consolas" pitchFamily="34" charset="0"/>
                <a:ea typeface="Consolas" pitchFamily="34" charset="-122"/>
                <a:cs typeface="Consolas" pitchFamily="34" charset="-120"/>
              </a:rPr>
              <a:t>-- ══════════════════════════════
</a:t>
            </a:r>
            <a:r>
              <a:rPr lang="en-US" sz="920" b="1" dirty="0">
                <a:solidFill>
                  <a:srgbClr val="569CD6"/>
                </a:solidFill>
                <a:latin typeface="Consolas" pitchFamily="34" charset="0"/>
                <a:ea typeface="Consolas" pitchFamily="34" charset="-122"/>
                <a:cs typeface="Consolas" pitchFamily="34" charset="-120"/>
              </a:rPr>
              <a:t>CREATE TABLE </a:t>
            </a:r>
            <a:r>
              <a:rPr lang="en-US" sz="920" dirty="0">
                <a:solidFill>
                  <a:srgbClr val="9CDCFE"/>
                </a:solidFill>
                <a:latin typeface="Consolas" pitchFamily="34" charset="0"/>
                <a:ea typeface="Consolas" pitchFamily="34" charset="-122"/>
                <a:cs typeface="Consolas" pitchFamily="34" charset="-120"/>
              </a:rPr>
              <a:t>account_details (
  account_number </a:t>
            </a:r>
            <a:r>
              <a:rPr lang="en-US" sz="920" dirty="0">
                <a:solidFill>
                  <a:srgbClr val="4EC9B0"/>
                </a:solidFill>
                <a:latin typeface="Consolas" pitchFamily="34" charset="0"/>
                <a:ea typeface="Consolas" pitchFamily="34" charset="-122"/>
                <a:cs typeface="Consolas" pitchFamily="34" charset="-120"/>
              </a:rPr>
              <a:t>INT           </a:t>
            </a:r>
            <a:r>
              <a:rPr lang="en-US" sz="920" b="1" dirty="0">
                <a:solidFill>
                  <a:srgbClr val="569CD6"/>
                </a:solidFill>
                <a:latin typeface="Consolas" pitchFamily="34" charset="0"/>
                <a:ea typeface="Consolas" pitchFamily="34" charset="-122"/>
                <a:cs typeface="Consolas" pitchFamily="34" charset="-120"/>
              </a:rPr>
              <a:t>PRIMARY KEY,
</a:t>
            </a:r>
            <a:r>
              <a:rPr lang="en-US" sz="920" dirty="0">
                <a:solidFill>
                  <a:srgbClr val="9CDCFE"/>
                </a:solidFill>
                <a:latin typeface="Consolas" pitchFamily="34" charset="0"/>
                <a:ea typeface="Consolas" pitchFamily="34" charset="-122"/>
                <a:cs typeface="Consolas" pitchFamily="34" charset="-120"/>
              </a:rPr>
              <a:t>  customer_id    </a:t>
            </a:r>
            <a:r>
              <a:rPr lang="en-US" sz="920" dirty="0">
                <a:solidFill>
                  <a:srgbClr val="4EC9B0"/>
                </a:solidFill>
                <a:latin typeface="Consolas" pitchFamily="34" charset="0"/>
                <a:ea typeface="Consolas" pitchFamily="34" charset="-122"/>
                <a:cs typeface="Consolas" pitchFamily="34" charset="-120"/>
              </a:rPr>
              <a:t>VARCHAR</a:t>
            </a:r>
            <a:r>
              <a:rPr lang="en-US" sz="920" dirty="0">
                <a:solidFill>
                  <a:srgbClr val="CE9178"/>
                </a:solidFill>
                <a:latin typeface="Consolas" pitchFamily="34" charset="0"/>
                <a:ea typeface="Consolas" pitchFamily="34" charset="-122"/>
                <a:cs typeface="Consolas" pitchFamily="34" charset="-120"/>
              </a:rPr>
              <a:t>(20) </a:t>
            </a:r>
            <a:r>
              <a:rPr lang="en-US" sz="920" b="1" dirty="0">
                <a:solidFill>
                  <a:srgbClr val="569CD6"/>
                </a:solidFill>
                <a:latin typeface="Consolas" pitchFamily="34" charset="0"/>
                <a:ea typeface="Consolas" pitchFamily="34" charset="-122"/>
                <a:cs typeface="Consolas" pitchFamily="34" charset="-120"/>
              </a:rPr>
              <a:t>NOT NULL,
</a:t>
            </a:r>
            <a:r>
              <a:rPr lang="en-US" sz="920" dirty="0">
                <a:solidFill>
                  <a:srgbClr val="9CDCFE"/>
                </a:solidFill>
                <a:latin typeface="Consolas" pitchFamily="34" charset="0"/>
                <a:ea typeface="Consolas" pitchFamily="34" charset="-122"/>
                <a:cs typeface="Consolas" pitchFamily="34" charset="-120"/>
              </a:rPr>
              <a:t>  account_type   </a:t>
            </a:r>
            <a:r>
              <a:rPr lang="en-US" sz="920" dirty="0">
                <a:solidFill>
                  <a:srgbClr val="4EC9B0"/>
                </a:solidFill>
                <a:latin typeface="Consolas" pitchFamily="34" charset="0"/>
                <a:ea typeface="Consolas" pitchFamily="34" charset="-122"/>
                <a:cs typeface="Consolas" pitchFamily="34" charset="-120"/>
              </a:rPr>
              <a:t>ENUM</a:t>
            </a:r>
            <a:r>
              <a:rPr lang="en-US" sz="920" dirty="0">
                <a:solidFill>
                  <a:srgbClr val="CE9178"/>
                </a:solidFill>
                <a:latin typeface="Consolas" pitchFamily="34" charset="0"/>
                <a:ea typeface="Consolas" pitchFamily="34" charset="-122"/>
                <a:cs typeface="Consolas" pitchFamily="34" charset="-120"/>
              </a:rPr>
              <a:t>('savings','current')
</a:t>
            </a:r>
            <a:r>
              <a:rPr lang="en-US" sz="920" b="1" dirty="0">
                <a:solidFill>
                  <a:srgbClr val="569CD6"/>
                </a:solidFill>
                <a:latin typeface="Consolas" pitchFamily="34" charset="0"/>
                <a:ea typeface="Consolas" pitchFamily="34" charset="-122"/>
                <a:cs typeface="Consolas" pitchFamily="34" charset="-120"/>
              </a:rPr>
              <a:t>                  NOT NULL,
</a:t>
            </a:r>
            <a:r>
              <a:rPr lang="en-US" sz="920" dirty="0">
                <a:solidFill>
                  <a:srgbClr val="9CDCFE"/>
                </a:solidFill>
                <a:latin typeface="Consolas" pitchFamily="34" charset="0"/>
                <a:ea typeface="Consolas" pitchFamily="34" charset="-122"/>
                <a:cs typeface="Consolas" pitchFamily="34" charset="-120"/>
              </a:rPr>
              <a:t>  balance         </a:t>
            </a:r>
            <a:r>
              <a:rPr lang="en-US" sz="920" dirty="0">
                <a:solidFill>
                  <a:srgbClr val="4EC9B0"/>
                </a:solidFill>
                <a:latin typeface="Consolas" pitchFamily="34" charset="0"/>
                <a:ea typeface="Consolas" pitchFamily="34" charset="-122"/>
                <a:cs typeface="Consolas" pitchFamily="34" charset="-120"/>
              </a:rPr>
              <a:t>DECIMAL</a:t>
            </a:r>
            <a:r>
              <a:rPr lang="en-US" sz="920" dirty="0">
                <a:solidFill>
                  <a:srgbClr val="CE9178"/>
                </a:solidFill>
                <a:latin typeface="Consolas" pitchFamily="34" charset="0"/>
                <a:ea typeface="Consolas" pitchFamily="34" charset="-122"/>
                <a:cs typeface="Consolas" pitchFamily="34" charset="-120"/>
              </a:rPr>
              <a:t>(12,2) </a:t>
            </a:r>
            <a:r>
              <a:rPr lang="en-US" sz="920" b="1" dirty="0">
                <a:solidFill>
                  <a:srgbClr val="569CD6"/>
                </a:solidFill>
                <a:latin typeface="Consolas" pitchFamily="34" charset="0"/>
                <a:ea typeface="Consolas" pitchFamily="34" charset="-122"/>
                <a:cs typeface="Consolas" pitchFamily="34" charset="-120"/>
              </a:rPr>
              <a:t>NOT NULL
</a:t>
            </a:r>
            <a:r>
              <a:rPr lang="en-US" sz="920" dirty="0">
                <a:solidFill>
                  <a:srgbClr val="DCDCAA"/>
                </a:solidFill>
                <a:latin typeface="Consolas" pitchFamily="34" charset="0"/>
                <a:ea typeface="Consolas" pitchFamily="34" charset="-122"/>
                <a:cs typeface="Consolas" pitchFamily="34" charset="-120"/>
              </a:rPr>
              <a:t>    CONSTRAINT chk_balance
</a:t>
            </a:r>
            <a:r>
              <a:rPr lang="en-US" sz="920" b="1" dirty="0">
                <a:solidFill>
                  <a:srgbClr val="569CD6"/>
                </a:solidFill>
                <a:latin typeface="Consolas" pitchFamily="34" charset="0"/>
                <a:ea typeface="Consolas" pitchFamily="34" charset="-122"/>
                <a:cs typeface="Consolas" pitchFamily="34" charset="-120"/>
              </a:rPr>
              <a:t>    CHECK </a:t>
            </a:r>
            <a:r>
              <a:rPr lang="en-US" sz="920" dirty="0">
                <a:solidFill>
                  <a:srgbClr val="CE9178"/>
                </a:solidFill>
                <a:latin typeface="Consolas" pitchFamily="34" charset="0"/>
                <a:ea typeface="Consolas" pitchFamily="34" charset="-122"/>
                <a:cs typeface="Consolas" pitchFamily="34" charset="-120"/>
              </a:rPr>
              <a:t>(balance &gt;= 0),
</a:t>
            </a:r>
            <a:r>
              <a:rPr lang="en-US" sz="920" dirty="0">
                <a:solidFill>
                  <a:srgbClr val="9CDCFE"/>
                </a:solidFill>
                <a:latin typeface="Consolas" pitchFamily="34" charset="0"/>
                <a:ea typeface="Consolas" pitchFamily="34" charset="-122"/>
                <a:cs typeface="Consolas" pitchFamily="34" charset="-120"/>
              </a:rPr>
              <a:t>  currency        </a:t>
            </a:r>
            <a:r>
              <a:rPr lang="en-US" sz="920" dirty="0">
                <a:solidFill>
                  <a:srgbClr val="4EC9B0"/>
                </a:solidFill>
                <a:latin typeface="Consolas" pitchFamily="34" charset="0"/>
                <a:ea typeface="Consolas" pitchFamily="34" charset="-122"/>
                <a:cs typeface="Consolas" pitchFamily="34" charset="-120"/>
              </a:rPr>
              <a:t>CHAR</a:t>
            </a:r>
            <a:r>
              <a:rPr lang="en-US" sz="920" dirty="0">
                <a:solidFill>
                  <a:srgbClr val="CE9178"/>
                </a:solidFill>
                <a:latin typeface="Consolas" pitchFamily="34" charset="0"/>
                <a:ea typeface="Consolas" pitchFamily="34" charset="-122"/>
                <a:cs typeface="Consolas" pitchFamily="34" charset="-120"/>
              </a:rPr>
              <a:t>(3) </a:t>
            </a:r>
            <a:r>
              <a:rPr lang="en-US" sz="920" b="1" dirty="0">
                <a:solidFill>
                  <a:srgbClr val="569CD6"/>
                </a:solidFill>
                <a:latin typeface="Consolas" pitchFamily="34" charset="0"/>
                <a:ea typeface="Consolas" pitchFamily="34" charset="-122"/>
                <a:cs typeface="Consolas" pitchFamily="34" charset="-120"/>
              </a:rPr>
              <a:t>DEFAULT </a:t>
            </a:r>
            <a:r>
              <a:rPr lang="en-US" sz="920" dirty="0">
                <a:solidFill>
                  <a:srgbClr val="CE9178"/>
                </a:solidFill>
                <a:latin typeface="Consolas" pitchFamily="34" charset="0"/>
                <a:ea typeface="Consolas" pitchFamily="34" charset="-122"/>
                <a:cs typeface="Consolas" pitchFamily="34" charset="-120"/>
              </a:rPr>
              <a:t>'USD',
</a:t>
            </a:r>
            <a:r>
              <a:rPr lang="en-US" sz="920" dirty="0">
                <a:solidFill>
                  <a:srgbClr val="9CDCFE"/>
                </a:solidFill>
                <a:latin typeface="Consolas" pitchFamily="34" charset="0"/>
                <a:ea typeface="Consolas" pitchFamily="34" charset="-122"/>
                <a:cs typeface="Consolas" pitchFamily="34" charset="-120"/>
              </a:rPr>
              <a:t>  branch_id       </a:t>
            </a:r>
            <a:r>
              <a:rPr lang="en-US" sz="920" dirty="0">
                <a:solidFill>
                  <a:srgbClr val="4EC9B0"/>
                </a:solidFill>
                <a:latin typeface="Consolas" pitchFamily="34" charset="0"/>
                <a:ea typeface="Consolas" pitchFamily="34" charset="-122"/>
                <a:cs typeface="Consolas" pitchFamily="34" charset="-120"/>
              </a:rPr>
              <a:t>INT           </a:t>
            </a:r>
            <a:r>
              <a:rPr lang="en-US" sz="920" b="1" dirty="0">
                <a:solidFill>
                  <a:srgbClr val="569CD6"/>
                </a:solidFill>
                <a:latin typeface="Consolas" pitchFamily="34" charset="0"/>
                <a:ea typeface="Consolas" pitchFamily="34" charset="-122"/>
                <a:cs typeface="Consolas" pitchFamily="34" charset="-120"/>
              </a:rPr>
              <a:t>NOT NULL,
</a:t>
            </a:r>
            <a:r>
              <a:rPr lang="en-US" sz="920" dirty="0">
                <a:solidFill>
                  <a:srgbClr val="9CDCFE"/>
                </a:solidFill>
                <a:latin typeface="Consolas" pitchFamily="34" charset="0"/>
                <a:ea typeface="Consolas" pitchFamily="34" charset="-122"/>
                <a:cs typeface="Consolas" pitchFamily="34" charset="-120"/>
              </a:rPr>
              <a:t>  status          </a:t>
            </a:r>
            <a:r>
              <a:rPr lang="en-US" sz="920" dirty="0">
                <a:solidFill>
                  <a:srgbClr val="4EC9B0"/>
                </a:solidFill>
                <a:latin typeface="Consolas" pitchFamily="34" charset="0"/>
                <a:ea typeface="Consolas" pitchFamily="34" charset="-122"/>
                <a:cs typeface="Consolas" pitchFamily="34" charset="-120"/>
              </a:rPr>
              <a:t>ENUM</a:t>
            </a:r>
            <a:r>
              <a:rPr lang="en-US" sz="920" dirty="0">
                <a:solidFill>
                  <a:srgbClr val="CE9178"/>
                </a:solidFill>
                <a:latin typeface="Consolas" pitchFamily="34" charset="0"/>
                <a:ea typeface="Consolas" pitchFamily="34" charset="-122"/>
                <a:cs typeface="Consolas" pitchFamily="34" charset="-120"/>
              </a:rPr>
              <a:t>('Active','Inactive')
</a:t>
            </a:r>
            <a:r>
              <a:rPr lang="en-US" sz="920" b="1" dirty="0">
                <a:solidFill>
                  <a:srgbClr val="569CD6"/>
                </a:solidFill>
                <a:latin typeface="Consolas" pitchFamily="34" charset="0"/>
                <a:ea typeface="Consolas" pitchFamily="34" charset="-122"/>
                <a:cs typeface="Consolas" pitchFamily="34" charset="-120"/>
              </a:rPr>
              <a:t>    DEFAULT </a:t>
            </a:r>
            <a:r>
              <a:rPr lang="en-US" sz="920" dirty="0">
                <a:solidFill>
                  <a:srgbClr val="CE9178"/>
                </a:solidFill>
                <a:latin typeface="Consolas" pitchFamily="34" charset="0"/>
                <a:ea typeface="Consolas" pitchFamily="34" charset="-122"/>
                <a:cs typeface="Consolas" pitchFamily="34" charset="-120"/>
              </a:rPr>
              <a:t>'Active',
</a:t>
            </a:r>
            <a:r>
              <a:rPr lang="en-US" sz="920" b="1" dirty="0">
                <a:solidFill>
                  <a:srgbClr val="569CD6"/>
                </a:solidFill>
                <a:latin typeface="Consolas" pitchFamily="34" charset="0"/>
                <a:ea typeface="Consolas" pitchFamily="34" charset="-122"/>
                <a:cs typeface="Consolas" pitchFamily="34" charset="-120"/>
              </a:rPr>
              <a:t>  FOREIGN KEY </a:t>
            </a:r>
            <a:r>
              <a:rPr lang="en-US" sz="920" dirty="0">
                <a:solidFill>
                  <a:srgbClr val="9CDCFE"/>
                </a:solidFill>
                <a:latin typeface="Consolas" pitchFamily="34" charset="0"/>
                <a:ea typeface="Consolas" pitchFamily="34" charset="-122"/>
                <a:cs typeface="Consolas" pitchFamily="34" charset="-120"/>
              </a:rPr>
              <a:t>(customer_id)
</a:t>
            </a:r>
            <a:r>
              <a:rPr lang="en-US" sz="920" b="1" dirty="0">
                <a:solidFill>
                  <a:srgbClr val="569CD6"/>
                </a:solidFill>
                <a:latin typeface="Consolas" pitchFamily="34" charset="0"/>
                <a:ea typeface="Consolas" pitchFamily="34" charset="-122"/>
                <a:cs typeface="Consolas" pitchFamily="34" charset="-120"/>
              </a:rPr>
              <a:t>    REFERENCES </a:t>
            </a:r>
            <a:r>
              <a:rPr lang="en-US" sz="920" dirty="0">
                <a:solidFill>
                  <a:srgbClr val="9CDCFE"/>
                </a:solidFill>
                <a:latin typeface="Consolas" pitchFamily="34" charset="0"/>
                <a:ea typeface="Consolas" pitchFamily="34" charset="-122"/>
                <a:cs typeface="Consolas" pitchFamily="34" charset="-120"/>
              </a:rPr>
              <a:t>customer_bio</a:t>
            </a:r>
            <a:r>
              <a:rPr lang="en-US" sz="920" dirty="0">
                <a:solidFill>
                  <a:srgbClr val="CE9178"/>
                </a:solidFill>
                <a:latin typeface="Consolas" pitchFamily="34" charset="0"/>
                <a:ea typeface="Consolas" pitchFamily="34" charset="-122"/>
                <a:cs typeface="Consolas" pitchFamily="34" charset="-120"/>
              </a:rPr>
              <a:t>(customer_id)
</a:t>
            </a:r>
            <a:r>
              <a:rPr lang="en-US" sz="920" b="1" dirty="0">
                <a:solidFill>
                  <a:srgbClr val="569CD6"/>
                </a:solidFill>
                <a:latin typeface="Consolas" pitchFamily="34" charset="0"/>
                <a:ea typeface="Consolas" pitchFamily="34" charset="-122"/>
                <a:cs typeface="Consolas" pitchFamily="34" charset="-120"/>
              </a:rPr>
              <a:t>    ON DELETE </a:t>
            </a:r>
            <a:r>
              <a:rPr lang="en-US" sz="920" dirty="0">
                <a:solidFill>
                  <a:srgbClr val="DCDCAA"/>
                </a:solidFill>
                <a:latin typeface="Consolas" pitchFamily="34" charset="0"/>
                <a:ea typeface="Consolas" pitchFamily="34" charset="-122"/>
                <a:cs typeface="Consolas" pitchFamily="34" charset="-120"/>
              </a:rPr>
              <a:t>RESTRICT
</a:t>
            </a:r>
            <a:r>
              <a:rPr lang="en-US" sz="920" dirty="0">
                <a:solidFill>
                  <a:srgbClr val="9CDCFE"/>
                </a:solidFill>
                <a:latin typeface="Consolas" pitchFamily="34" charset="0"/>
                <a:ea typeface="Consolas" pitchFamily="34" charset="-122"/>
                <a:cs typeface="Consolas" pitchFamily="34" charset="-120"/>
              </a:rPr>
              <a:t>);
</a:t>
            </a:r>
            <a:endParaRPr lang="en-US" sz="920" dirty="0"/>
          </a:p>
        </p:txBody>
      </p:sp>
      <p:sp>
        <p:nvSpPr>
          <p:cNvPr id="10" name="Shape 8"/>
          <p:cNvSpPr/>
          <p:nvPr/>
        </p:nvSpPr>
        <p:spPr>
          <a:xfrm>
            <a:off x="0" y="4892040"/>
            <a:ext cx="9144000" cy="251460"/>
          </a:xfrm>
          <a:prstGeom prst="rect">
            <a:avLst/>
          </a:prstGeom>
          <a:solidFill>
            <a:srgbClr val="0F1923"/>
          </a:solidFill>
          <a:ln w="12700">
            <a:solidFill>
              <a:srgbClr val="0F1923"/>
            </a:solidFill>
            <a:prstDash val="solid"/>
          </a:ln>
        </p:spPr>
      </p:sp>
      <p:sp>
        <p:nvSpPr>
          <p:cNvPr id="11" name="Text 9"/>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12" name="Text 10"/>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9"/>
        </a:solidFill>
        <a:effectLst/>
      </p:bgPr>
    </p:bg>
    <p:spTree>
      <p:nvGrpSpPr>
        <p:cNvPr id="1" name=""/>
        <p:cNvGrpSpPr/>
        <p:nvPr/>
      </p:nvGrpSpPr>
      <p:grpSpPr>
        <a:xfrm>
          <a:off x="0" y="0"/>
          <a:ext cx="0" cy="0"/>
          <a:chOff x="0" y="0"/>
          <a:chExt cx="0" cy="0"/>
        </a:xfrm>
      </p:grpSpPr>
      <p:sp>
        <p:nvSpPr>
          <p:cNvPr id="2" name="Text 0"/>
          <p:cNvSpPr/>
          <p:nvPr/>
        </p:nvSpPr>
        <p:spPr>
          <a:xfrm>
            <a:off x="228600" y="137160"/>
            <a:ext cx="8686800" cy="530352"/>
          </a:xfrm>
          <a:prstGeom prst="rect">
            <a:avLst/>
          </a:prstGeom>
          <a:noFill/>
          <a:ln/>
        </p:spPr>
        <p:txBody>
          <a:bodyPr wrap="square" rtlCol="0" anchor="ctr"/>
          <a:lstStyle/>
          <a:p>
            <a:pPr marL="0" indent="0">
              <a:buNone/>
            </a:pPr>
            <a:r>
              <a:rPr lang="en-US" sz="2700" b="1" dirty="0">
                <a:solidFill>
                  <a:srgbClr val="0F1923"/>
                </a:solidFill>
                <a:latin typeface="Calibri" pitchFamily="34" charset="0"/>
                <a:ea typeface="Calibri" pitchFamily="34" charset="-122"/>
                <a:cs typeface="Calibri" pitchFamily="34" charset="-120"/>
              </a:rPr>
              <a:t>Data Population — INSERT Statements &amp; Error Analysis</a:t>
            </a:r>
            <a:endParaRPr lang="en-US" sz="2700" dirty="0"/>
          </a:p>
        </p:txBody>
      </p:sp>
      <p:sp>
        <p:nvSpPr>
          <p:cNvPr id="3" name="Shape 1"/>
          <p:cNvSpPr/>
          <p:nvPr/>
        </p:nvSpPr>
        <p:spPr>
          <a:xfrm>
            <a:off x="228600" y="749808"/>
            <a:ext cx="8686800" cy="256032"/>
          </a:xfrm>
          <a:prstGeom prst="rect">
            <a:avLst/>
          </a:prstGeom>
          <a:solidFill>
            <a:srgbClr val="0A7E8C"/>
          </a:solidFill>
          <a:ln w="12700">
            <a:solidFill>
              <a:srgbClr val="0A7E8C"/>
            </a:solidFill>
            <a:prstDash val="solid"/>
          </a:ln>
        </p:spPr>
      </p:sp>
      <p:sp>
        <p:nvSpPr>
          <p:cNvPr id="4" name="Text 2"/>
          <p:cNvSpPr/>
          <p:nvPr/>
        </p:nvSpPr>
        <p:spPr>
          <a:xfrm>
            <a:off x="347472" y="749808"/>
            <a:ext cx="8412480" cy="256032"/>
          </a:xfrm>
          <a:prstGeom prst="rect">
            <a:avLst/>
          </a:prstGeom>
          <a:noFill/>
          <a:ln/>
        </p:spPr>
        <p:txBody>
          <a:bodyPr wrap="square"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DML  ·  SAMPLE DATA  ·  DATA QUALITY OBSERVATIONS</a:t>
            </a:r>
            <a:endParaRPr lang="en-US" sz="950" dirty="0"/>
          </a:p>
        </p:txBody>
      </p:sp>
      <p:sp>
        <p:nvSpPr>
          <p:cNvPr id="5" name="Shape 3"/>
          <p:cNvSpPr/>
          <p:nvPr/>
        </p:nvSpPr>
        <p:spPr>
          <a:xfrm>
            <a:off x="228600" y="1115568"/>
            <a:ext cx="4206240" cy="3200400"/>
          </a:xfrm>
          <a:prstGeom prst="rect">
            <a:avLst/>
          </a:prstGeom>
          <a:solidFill>
            <a:srgbClr val="0F1923"/>
          </a:solidFill>
          <a:ln w="5080">
            <a:solidFill>
              <a:srgbClr val="CDD5DF"/>
            </a:solidFill>
            <a:prstDash val="solid"/>
          </a:ln>
          <a:effectLst>
            <a:outerShdw blurRad="101600" dist="38100" dir="8100000" algn="bl" rotWithShape="0">
              <a:srgbClr val="000000">
                <a:alpha val="18000"/>
              </a:srgbClr>
            </a:outerShdw>
          </a:effectLst>
        </p:spPr>
      </p:sp>
      <p:sp>
        <p:nvSpPr>
          <p:cNvPr id="6" name="Shape 4"/>
          <p:cNvSpPr/>
          <p:nvPr/>
        </p:nvSpPr>
        <p:spPr>
          <a:xfrm>
            <a:off x="228600" y="1115568"/>
            <a:ext cx="4206240" cy="310896"/>
          </a:xfrm>
          <a:prstGeom prst="rect">
            <a:avLst/>
          </a:prstGeom>
          <a:solidFill>
            <a:srgbClr val="0A7E8C"/>
          </a:solidFill>
          <a:ln w="12700">
            <a:solidFill>
              <a:srgbClr val="0A7E8C"/>
            </a:solidFill>
            <a:prstDash val="solid"/>
          </a:ln>
        </p:spPr>
      </p:sp>
      <p:sp>
        <p:nvSpPr>
          <p:cNvPr id="7" name="Text 5"/>
          <p:cNvSpPr/>
          <p:nvPr/>
        </p:nvSpPr>
        <p:spPr>
          <a:xfrm>
            <a:off x="320040" y="1115568"/>
            <a:ext cx="402336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Sample INSERT — customer_bio</a:t>
            </a:r>
            <a:endParaRPr lang="en-US" sz="1050" dirty="0"/>
          </a:p>
        </p:txBody>
      </p:sp>
      <p:sp>
        <p:nvSpPr>
          <p:cNvPr id="8" name="Shape 6"/>
          <p:cNvSpPr/>
          <p:nvPr/>
        </p:nvSpPr>
        <p:spPr>
          <a:xfrm>
            <a:off x="228600" y="1426464"/>
            <a:ext cx="4206240" cy="2889504"/>
          </a:xfrm>
          <a:prstGeom prst="rect">
            <a:avLst/>
          </a:prstGeom>
          <a:solidFill>
            <a:srgbClr val="161B22"/>
          </a:solidFill>
          <a:ln w="5080">
            <a:solidFill>
              <a:srgbClr val="30363D"/>
            </a:solidFill>
            <a:prstDash val="solid"/>
          </a:ln>
        </p:spPr>
      </p:sp>
      <p:sp>
        <p:nvSpPr>
          <p:cNvPr id="9" name="Text 7"/>
          <p:cNvSpPr/>
          <p:nvPr/>
        </p:nvSpPr>
        <p:spPr>
          <a:xfrm>
            <a:off x="338328" y="1481328"/>
            <a:ext cx="4005072" cy="2779776"/>
          </a:xfrm>
          <a:prstGeom prst="rect">
            <a:avLst/>
          </a:prstGeom>
          <a:noFill/>
          <a:ln/>
        </p:spPr>
        <p:txBody>
          <a:bodyPr wrap="square" lIns="0" tIns="0" rIns="0" bIns="0" rtlCol="0" anchor="t"/>
          <a:lstStyle/>
          <a:p>
            <a:pPr marL="0" indent="0">
              <a:buNone/>
            </a:pPr>
            <a:r>
              <a:rPr lang="en-US" sz="920" b="1" dirty="0">
                <a:solidFill>
                  <a:srgbClr val="569CD6"/>
                </a:solidFill>
                <a:latin typeface="Consolas" pitchFamily="34" charset="0"/>
                <a:ea typeface="Consolas" pitchFamily="34" charset="-122"/>
                <a:cs typeface="Consolas" pitchFamily="34" charset="-120"/>
              </a:rPr>
              <a:t>INSERT INTO </a:t>
            </a:r>
            <a:r>
              <a:rPr lang="en-US" sz="920" dirty="0">
                <a:solidFill>
                  <a:srgbClr val="9CDCFE"/>
                </a:solidFill>
                <a:latin typeface="Consolas" pitchFamily="34" charset="0"/>
                <a:ea typeface="Consolas" pitchFamily="34" charset="-122"/>
                <a:cs typeface="Consolas" pitchFamily="34" charset="-120"/>
              </a:rPr>
              <a:t>customer_bio
  (customer_id, first_name, last_name,
   date_of_birth, gender, email)
</a:t>
            </a:r>
            <a:r>
              <a:rPr lang="en-US" sz="920" b="1" dirty="0">
                <a:solidFill>
                  <a:srgbClr val="569CD6"/>
                </a:solidFill>
                <a:latin typeface="Consolas" pitchFamily="34" charset="0"/>
                <a:ea typeface="Consolas" pitchFamily="34" charset="-122"/>
                <a:cs typeface="Consolas" pitchFamily="34" charset="-120"/>
              </a:rPr>
              <a:t>VALUES
</a:t>
            </a:r>
            <a:r>
              <a:rPr lang="en-US" sz="920" dirty="0">
                <a:solidFill>
                  <a:srgbClr val="CE9178"/>
                </a:solidFill>
                <a:latin typeface="Consolas" pitchFamily="34" charset="0"/>
                <a:ea typeface="Consolas" pitchFamily="34" charset="-122"/>
                <a:cs typeface="Consolas" pitchFamily="34" charset="-120"/>
              </a:rPr>
              <a:t>('CID-2024-1001','James','Smith',
 '1985-01-12','m',
 'james.smith@email.com'),
('CID-2024-1007','Michael','Matovu',
 '1982-02-14','m',
 'mike.m@email.com'),
</a:t>
            </a:r>
            <a:r>
              <a:rPr lang="en-US" sz="920" dirty="0">
                <a:solidFill>
                  <a:srgbClr val="6A9955"/>
                </a:solidFill>
                <a:latin typeface="Consolas" pitchFamily="34" charset="0"/>
                <a:ea typeface="Consolas" pitchFamily="34" charset="-122"/>
                <a:cs typeface="Consolas" pitchFamily="34" charset="-120"/>
              </a:rPr>
              <a:t>-- ... 29 records total
</a:t>
            </a:r>
            <a:r>
              <a:rPr lang="en-US" sz="920" dirty="0">
                <a:solidFill>
                  <a:srgbClr val="CE9178"/>
                </a:solidFill>
                <a:latin typeface="Consolas" pitchFamily="34" charset="0"/>
                <a:ea typeface="Consolas" pitchFamily="34" charset="-122"/>
                <a:cs typeface="Consolas" pitchFamily="34" charset="-120"/>
              </a:rPr>
              <a:t>('CID-2024-1030','Ashley','Robinson',
 '1996-09-20','m',
 'ash.r@email.com');
</a:t>
            </a:r>
            <a:endParaRPr lang="en-US" sz="920" dirty="0"/>
          </a:p>
        </p:txBody>
      </p:sp>
      <p:sp>
        <p:nvSpPr>
          <p:cNvPr id="10" name="Shape 8"/>
          <p:cNvSpPr/>
          <p:nvPr/>
        </p:nvSpPr>
        <p:spPr>
          <a:xfrm>
            <a:off x="4663440" y="1115568"/>
            <a:ext cx="4251960" cy="320040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1" name="Shape 9"/>
          <p:cNvSpPr/>
          <p:nvPr/>
        </p:nvSpPr>
        <p:spPr>
          <a:xfrm>
            <a:off x="4663440" y="1115568"/>
            <a:ext cx="4251960" cy="310896"/>
          </a:xfrm>
          <a:prstGeom prst="rect">
            <a:avLst/>
          </a:prstGeom>
          <a:solidFill>
            <a:srgbClr val="A93226"/>
          </a:solidFill>
          <a:ln w="12700">
            <a:solidFill>
              <a:srgbClr val="A93226"/>
            </a:solidFill>
            <a:prstDash val="solid"/>
          </a:ln>
        </p:spPr>
      </p:sp>
      <p:sp>
        <p:nvSpPr>
          <p:cNvPr id="12" name="Text 10"/>
          <p:cNvSpPr/>
          <p:nvPr/>
        </p:nvSpPr>
        <p:spPr>
          <a:xfrm>
            <a:off x="4754880" y="1115568"/>
            <a:ext cx="406908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Errors Found in Raw INSERT Data</a:t>
            </a:r>
            <a:endParaRPr lang="en-US" sz="1050" dirty="0"/>
          </a:p>
        </p:txBody>
      </p:sp>
      <p:sp>
        <p:nvSpPr>
          <p:cNvPr id="13" name="Text 11"/>
          <p:cNvSpPr/>
          <p:nvPr/>
        </p:nvSpPr>
        <p:spPr>
          <a:xfrm>
            <a:off x="4773168" y="1499616"/>
            <a:ext cx="1234440" cy="128016"/>
          </a:xfrm>
          <a:prstGeom prst="rect">
            <a:avLst/>
          </a:prstGeom>
          <a:noFill/>
          <a:ln/>
        </p:spPr>
        <p:txBody>
          <a:bodyPr wrap="square" lIns="0" tIns="0" rIns="0" bIns="0" rtlCol="0" anchor="ctr"/>
          <a:lstStyle/>
          <a:p>
            <a:pPr marL="0" indent="0">
              <a:buNone/>
            </a:pPr>
            <a:r>
              <a:rPr lang="en-US" sz="850" b="1" dirty="0">
                <a:solidFill>
                  <a:srgbClr val="A93226"/>
                </a:solidFill>
                <a:latin typeface="Consolas" pitchFamily="34" charset="0"/>
                <a:ea typeface="Consolas" pitchFamily="34" charset="-122"/>
                <a:cs typeface="Consolas" pitchFamily="34" charset="-120"/>
              </a:rPr>
              <a:t>CID-2024-1011</a:t>
            </a:r>
            <a:endParaRPr lang="en-US" sz="850" dirty="0"/>
          </a:p>
        </p:txBody>
      </p:sp>
      <p:sp>
        <p:nvSpPr>
          <p:cNvPr id="14" name="Text 12"/>
          <p:cNvSpPr/>
          <p:nvPr/>
        </p:nvSpPr>
        <p:spPr>
          <a:xfrm>
            <a:off x="4773168" y="1636776"/>
            <a:ext cx="4041648" cy="274320"/>
          </a:xfrm>
          <a:prstGeom prst="rect">
            <a:avLst/>
          </a:prstGeom>
          <a:noFill/>
          <a:ln/>
        </p:spPr>
        <p:txBody>
          <a:bodyPr wrap="square" rtlCol="0" anchor="ctr"/>
          <a:lstStyle/>
          <a:p>
            <a:pPr marL="0" indent="0">
              <a:buNone/>
            </a:pPr>
            <a:r>
              <a:rPr lang="en-US" sz="880" dirty="0">
                <a:solidFill>
                  <a:srgbClr val="0F1923"/>
                </a:solidFill>
                <a:latin typeface="Calibri" pitchFamily="34" charset="0"/>
                <a:ea typeface="Calibri" pitchFamily="34" charset="-122"/>
                <a:cs typeface="Calibri" pitchFamily="34" charset="-120"/>
              </a:rPr>
              <a:t>Missing opening quote in email field — dave.h@email.com' should be 'dave.h@email.com'. SQL syntax error; INSERT would fail.</a:t>
            </a:r>
            <a:endParaRPr lang="en-US" sz="880" dirty="0"/>
          </a:p>
        </p:txBody>
      </p:sp>
      <p:sp>
        <p:nvSpPr>
          <p:cNvPr id="15" name="Shape 13"/>
          <p:cNvSpPr/>
          <p:nvPr/>
        </p:nvSpPr>
        <p:spPr>
          <a:xfrm>
            <a:off x="4773168" y="1929384"/>
            <a:ext cx="4041648" cy="9144"/>
          </a:xfrm>
          <a:prstGeom prst="rect">
            <a:avLst/>
          </a:prstGeom>
          <a:solidFill>
            <a:srgbClr val="CDD5DF"/>
          </a:solidFill>
          <a:ln w="12700">
            <a:solidFill>
              <a:srgbClr val="CDD5DF"/>
            </a:solidFill>
            <a:prstDash val="solid"/>
          </a:ln>
        </p:spPr>
      </p:sp>
      <p:sp>
        <p:nvSpPr>
          <p:cNvPr id="16" name="Text 14"/>
          <p:cNvSpPr/>
          <p:nvPr/>
        </p:nvSpPr>
        <p:spPr>
          <a:xfrm>
            <a:off x="4773168" y="1956816"/>
            <a:ext cx="1234440" cy="128016"/>
          </a:xfrm>
          <a:prstGeom prst="rect">
            <a:avLst/>
          </a:prstGeom>
          <a:noFill/>
          <a:ln/>
        </p:spPr>
        <p:txBody>
          <a:bodyPr wrap="square" lIns="0" tIns="0" rIns="0" bIns="0" rtlCol="0" anchor="ctr"/>
          <a:lstStyle/>
          <a:p>
            <a:pPr marL="0" indent="0">
              <a:buNone/>
            </a:pPr>
            <a:r>
              <a:rPr lang="en-US" sz="850" b="1" dirty="0">
                <a:solidFill>
                  <a:srgbClr val="A93226"/>
                </a:solidFill>
                <a:latin typeface="Consolas" pitchFamily="34" charset="0"/>
                <a:ea typeface="Consolas" pitchFamily="34" charset="-122"/>
                <a:cs typeface="Consolas" pitchFamily="34" charset="-120"/>
              </a:rPr>
              <a:t>CID-2024-1012</a:t>
            </a:r>
            <a:endParaRPr lang="en-US" sz="850" dirty="0"/>
          </a:p>
        </p:txBody>
      </p:sp>
      <p:sp>
        <p:nvSpPr>
          <p:cNvPr id="17" name="Text 15"/>
          <p:cNvSpPr/>
          <p:nvPr/>
        </p:nvSpPr>
        <p:spPr>
          <a:xfrm>
            <a:off x="4773168" y="2093976"/>
            <a:ext cx="4041648" cy="274320"/>
          </a:xfrm>
          <a:prstGeom prst="rect">
            <a:avLst/>
          </a:prstGeom>
          <a:noFill/>
          <a:ln/>
        </p:spPr>
        <p:txBody>
          <a:bodyPr wrap="square" rtlCol="0" anchor="ctr"/>
          <a:lstStyle/>
          <a:p>
            <a:pPr marL="0" indent="0">
              <a:buNone/>
            </a:pPr>
            <a:r>
              <a:rPr lang="en-US" sz="880" dirty="0">
                <a:solidFill>
                  <a:srgbClr val="0F1923"/>
                </a:solidFill>
                <a:latin typeface="Calibri" pitchFamily="34" charset="0"/>
                <a:ea typeface="Calibri" pitchFamily="34" charset="-122"/>
                <a:cs typeface="Calibri" pitchFamily="34" charset="-120"/>
              </a:rPr>
              <a:t>Trailing comma after last value field — ('barb.l@email.com',) — extraneous comma causes syntax error in strict SQL mode.</a:t>
            </a:r>
            <a:endParaRPr lang="en-US" sz="880" dirty="0"/>
          </a:p>
        </p:txBody>
      </p:sp>
      <p:sp>
        <p:nvSpPr>
          <p:cNvPr id="18" name="Shape 16"/>
          <p:cNvSpPr/>
          <p:nvPr/>
        </p:nvSpPr>
        <p:spPr>
          <a:xfrm>
            <a:off x="4773168" y="2386584"/>
            <a:ext cx="4041648" cy="9144"/>
          </a:xfrm>
          <a:prstGeom prst="rect">
            <a:avLst/>
          </a:prstGeom>
          <a:solidFill>
            <a:srgbClr val="CDD5DF"/>
          </a:solidFill>
          <a:ln w="12700">
            <a:solidFill>
              <a:srgbClr val="CDD5DF"/>
            </a:solidFill>
            <a:prstDash val="solid"/>
          </a:ln>
        </p:spPr>
      </p:sp>
      <p:sp>
        <p:nvSpPr>
          <p:cNvPr id="19" name="Text 17"/>
          <p:cNvSpPr/>
          <p:nvPr/>
        </p:nvSpPr>
        <p:spPr>
          <a:xfrm>
            <a:off x="4773168" y="2414016"/>
            <a:ext cx="1234440" cy="128016"/>
          </a:xfrm>
          <a:prstGeom prst="rect">
            <a:avLst/>
          </a:prstGeom>
          <a:noFill/>
          <a:ln/>
        </p:spPr>
        <p:txBody>
          <a:bodyPr wrap="square" lIns="0" tIns="0" rIns="0" bIns="0" rtlCol="0" anchor="ctr"/>
          <a:lstStyle/>
          <a:p>
            <a:pPr marL="0" indent="0">
              <a:buNone/>
            </a:pPr>
            <a:r>
              <a:rPr lang="en-US" sz="850" b="1" dirty="0">
                <a:solidFill>
                  <a:srgbClr val="A93226"/>
                </a:solidFill>
                <a:latin typeface="Consolas" pitchFamily="34" charset="0"/>
                <a:ea typeface="Consolas" pitchFamily="34" charset="-122"/>
                <a:cs typeface="Consolas" pitchFamily="34" charset="-120"/>
              </a:rPr>
              <a:t>CID-2024-1017</a:t>
            </a:r>
            <a:endParaRPr lang="en-US" sz="850" dirty="0"/>
          </a:p>
        </p:txBody>
      </p:sp>
      <p:sp>
        <p:nvSpPr>
          <p:cNvPr id="20" name="Text 18"/>
          <p:cNvSpPr/>
          <p:nvPr/>
        </p:nvSpPr>
        <p:spPr>
          <a:xfrm>
            <a:off x="4773168" y="2551176"/>
            <a:ext cx="4041648" cy="274320"/>
          </a:xfrm>
          <a:prstGeom prst="rect">
            <a:avLst/>
          </a:prstGeom>
          <a:noFill/>
          <a:ln/>
        </p:spPr>
        <p:txBody>
          <a:bodyPr wrap="square" rtlCol="0" anchor="ctr"/>
          <a:lstStyle/>
          <a:p>
            <a:pPr marL="0" indent="0">
              <a:buNone/>
            </a:pPr>
            <a:r>
              <a:rPr lang="en-US" sz="880" dirty="0">
                <a:solidFill>
                  <a:srgbClr val="0F1923"/>
                </a:solidFill>
                <a:latin typeface="Calibri" pitchFamily="34" charset="0"/>
                <a:ea typeface="Calibri" pitchFamily="34" charset="-122"/>
                <a:cs typeface="Calibri" pitchFamily="34" charset="-120"/>
              </a:rPr>
              <a:t>Double comma (,,) before date_of_birth — 'Tom','Tuhaise',,'1986...' — this NULL placeholder is invalid syntax; would require explicit NULL.</a:t>
            </a:r>
            <a:endParaRPr lang="en-US" sz="880" dirty="0"/>
          </a:p>
        </p:txBody>
      </p:sp>
      <p:sp>
        <p:nvSpPr>
          <p:cNvPr id="21" name="Shape 19"/>
          <p:cNvSpPr/>
          <p:nvPr/>
        </p:nvSpPr>
        <p:spPr>
          <a:xfrm>
            <a:off x="4773168" y="2843784"/>
            <a:ext cx="4041648" cy="9144"/>
          </a:xfrm>
          <a:prstGeom prst="rect">
            <a:avLst/>
          </a:prstGeom>
          <a:solidFill>
            <a:srgbClr val="CDD5DF"/>
          </a:solidFill>
          <a:ln w="12700">
            <a:solidFill>
              <a:srgbClr val="CDD5DF"/>
            </a:solidFill>
            <a:prstDash val="solid"/>
          </a:ln>
        </p:spPr>
      </p:sp>
      <p:sp>
        <p:nvSpPr>
          <p:cNvPr id="22" name="Text 20"/>
          <p:cNvSpPr/>
          <p:nvPr/>
        </p:nvSpPr>
        <p:spPr>
          <a:xfrm>
            <a:off x="4773168" y="2871216"/>
            <a:ext cx="1234440" cy="128016"/>
          </a:xfrm>
          <a:prstGeom prst="rect">
            <a:avLst/>
          </a:prstGeom>
          <a:noFill/>
          <a:ln/>
        </p:spPr>
        <p:txBody>
          <a:bodyPr wrap="square" lIns="0" tIns="0" rIns="0" bIns="0" rtlCol="0" anchor="ctr"/>
          <a:lstStyle/>
          <a:p>
            <a:pPr marL="0" indent="0">
              <a:buNone/>
            </a:pPr>
            <a:r>
              <a:rPr lang="en-US" sz="850" b="1" dirty="0">
                <a:solidFill>
                  <a:srgbClr val="A93226"/>
                </a:solidFill>
                <a:latin typeface="Consolas" pitchFamily="34" charset="0"/>
                <a:ea typeface="Consolas" pitchFamily="34" charset="-122"/>
                <a:cs typeface="Consolas" pitchFamily="34" charset="-120"/>
              </a:rPr>
              <a:t>CID-2024-1023</a:t>
            </a:r>
            <a:endParaRPr lang="en-US" sz="850" dirty="0"/>
          </a:p>
        </p:txBody>
      </p:sp>
      <p:sp>
        <p:nvSpPr>
          <p:cNvPr id="23" name="Text 21"/>
          <p:cNvSpPr/>
          <p:nvPr/>
        </p:nvSpPr>
        <p:spPr>
          <a:xfrm>
            <a:off x="4773168" y="3008376"/>
            <a:ext cx="4041648" cy="274320"/>
          </a:xfrm>
          <a:prstGeom prst="rect">
            <a:avLst/>
          </a:prstGeom>
          <a:noFill/>
          <a:ln/>
        </p:spPr>
        <p:txBody>
          <a:bodyPr wrap="square" rtlCol="0" anchor="ctr"/>
          <a:lstStyle/>
          <a:p>
            <a:pPr marL="0" indent="0">
              <a:buNone/>
            </a:pPr>
            <a:r>
              <a:rPr lang="en-US" sz="880" dirty="0">
                <a:solidFill>
                  <a:srgbClr val="0F1923"/>
                </a:solidFill>
                <a:latin typeface="Calibri" pitchFamily="34" charset="0"/>
                <a:ea typeface="Calibri" pitchFamily="34" charset="-122"/>
                <a:cs typeface="Calibri" pitchFamily="34" charset="-120"/>
              </a:rPr>
              <a:t>Trailing comma after last column value — same as CID-1012. Must be removed before execution.</a:t>
            </a:r>
            <a:endParaRPr lang="en-US" sz="880" dirty="0"/>
          </a:p>
        </p:txBody>
      </p:sp>
      <p:sp>
        <p:nvSpPr>
          <p:cNvPr id="24" name="Shape 22"/>
          <p:cNvSpPr/>
          <p:nvPr/>
        </p:nvSpPr>
        <p:spPr>
          <a:xfrm>
            <a:off x="4773168" y="3300984"/>
            <a:ext cx="4041648" cy="9144"/>
          </a:xfrm>
          <a:prstGeom prst="rect">
            <a:avLst/>
          </a:prstGeom>
          <a:solidFill>
            <a:srgbClr val="CDD5DF"/>
          </a:solidFill>
          <a:ln w="12700">
            <a:solidFill>
              <a:srgbClr val="CDD5DF"/>
            </a:solidFill>
            <a:prstDash val="solid"/>
          </a:ln>
        </p:spPr>
      </p:sp>
      <p:sp>
        <p:nvSpPr>
          <p:cNvPr id="25" name="Text 23"/>
          <p:cNvSpPr/>
          <p:nvPr/>
        </p:nvSpPr>
        <p:spPr>
          <a:xfrm>
            <a:off x="4773168" y="3328416"/>
            <a:ext cx="1234440" cy="128016"/>
          </a:xfrm>
          <a:prstGeom prst="rect">
            <a:avLst/>
          </a:prstGeom>
          <a:noFill/>
          <a:ln/>
        </p:spPr>
        <p:txBody>
          <a:bodyPr wrap="square" lIns="0" tIns="0" rIns="0" bIns="0" rtlCol="0" anchor="ctr"/>
          <a:lstStyle/>
          <a:p>
            <a:pPr marL="0" indent="0">
              <a:buNone/>
            </a:pPr>
            <a:r>
              <a:rPr lang="en-US" sz="850" b="1" dirty="0">
                <a:solidFill>
                  <a:srgbClr val="A93226"/>
                </a:solidFill>
                <a:latin typeface="Consolas" pitchFamily="34" charset="0"/>
                <a:ea typeface="Consolas" pitchFamily="34" charset="-122"/>
                <a:cs typeface="Consolas" pitchFamily="34" charset="-120"/>
              </a:rPr>
              <a:t>CID-2024-1028</a:t>
            </a:r>
            <a:endParaRPr lang="en-US" sz="850" dirty="0"/>
          </a:p>
        </p:txBody>
      </p:sp>
      <p:sp>
        <p:nvSpPr>
          <p:cNvPr id="26" name="Text 24"/>
          <p:cNvSpPr/>
          <p:nvPr/>
        </p:nvSpPr>
        <p:spPr>
          <a:xfrm>
            <a:off x="4773168" y="3465576"/>
            <a:ext cx="4041648" cy="274320"/>
          </a:xfrm>
          <a:prstGeom prst="rect">
            <a:avLst/>
          </a:prstGeom>
          <a:noFill/>
          <a:ln/>
        </p:spPr>
        <p:txBody>
          <a:bodyPr wrap="square" rtlCol="0" anchor="ctr"/>
          <a:lstStyle/>
          <a:p>
            <a:pPr marL="0" indent="0">
              <a:buNone/>
            </a:pPr>
            <a:r>
              <a:rPr lang="en-US" sz="880" dirty="0">
                <a:solidFill>
                  <a:srgbClr val="0F1923"/>
                </a:solidFill>
                <a:latin typeface="Calibri" pitchFamily="34" charset="0"/>
                <a:ea typeface="Calibri" pitchFamily="34" charset="-122"/>
                <a:cs typeface="Calibri" pitchFamily="34" charset="-120"/>
              </a:rPr>
              <a:t>Columns are in wrong order — email appears where date_of_birth should be. Data type mismatch would cause implicit conversion error or INSERT failure.</a:t>
            </a:r>
            <a:endParaRPr lang="en-US" sz="880" dirty="0"/>
          </a:p>
        </p:txBody>
      </p:sp>
      <p:sp>
        <p:nvSpPr>
          <p:cNvPr id="27" name="Shape 25"/>
          <p:cNvSpPr/>
          <p:nvPr/>
        </p:nvSpPr>
        <p:spPr>
          <a:xfrm>
            <a:off x="4773168" y="3758184"/>
            <a:ext cx="4041648" cy="9144"/>
          </a:xfrm>
          <a:prstGeom prst="rect">
            <a:avLst/>
          </a:prstGeom>
          <a:solidFill>
            <a:srgbClr val="CDD5DF"/>
          </a:solidFill>
          <a:ln w="12700">
            <a:solidFill>
              <a:srgbClr val="CDD5DF"/>
            </a:solidFill>
            <a:prstDash val="solid"/>
          </a:ln>
        </p:spPr>
      </p:sp>
      <p:sp>
        <p:nvSpPr>
          <p:cNvPr id="28" name="Text 26"/>
          <p:cNvSpPr/>
          <p:nvPr/>
        </p:nvSpPr>
        <p:spPr>
          <a:xfrm>
            <a:off x="4773168" y="3785616"/>
            <a:ext cx="1234440" cy="128016"/>
          </a:xfrm>
          <a:prstGeom prst="rect">
            <a:avLst/>
          </a:prstGeom>
          <a:noFill/>
          <a:ln/>
        </p:spPr>
        <p:txBody>
          <a:bodyPr wrap="square" lIns="0" tIns="0" rIns="0" bIns="0" rtlCol="0" anchor="ctr"/>
          <a:lstStyle/>
          <a:p>
            <a:pPr marL="0" indent="0">
              <a:buNone/>
            </a:pPr>
            <a:r>
              <a:rPr lang="en-US" sz="850" b="1" dirty="0">
                <a:solidFill>
                  <a:srgbClr val="A93226"/>
                </a:solidFill>
                <a:latin typeface="Consolas" pitchFamily="34" charset="0"/>
                <a:ea typeface="Consolas" pitchFamily="34" charset="-122"/>
                <a:cs typeface="Consolas" pitchFamily="34" charset="-120"/>
              </a:rPr>
              <a:t>account_details</a:t>
            </a:r>
            <a:endParaRPr lang="en-US" sz="850" dirty="0"/>
          </a:p>
        </p:txBody>
      </p:sp>
      <p:sp>
        <p:nvSpPr>
          <p:cNvPr id="29" name="Text 27"/>
          <p:cNvSpPr/>
          <p:nvPr/>
        </p:nvSpPr>
        <p:spPr>
          <a:xfrm>
            <a:off x="4773168" y="3922776"/>
            <a:ext cx="4041648" cy="274320"/>
          </a:xfrm>
          <a:prstGeom prst="rect">
            <a:avLst/>
          </a:prstGeom>
          <a:noFill/>
          <a:ln/>
        </p:spPr>
        <p:txBody>
          <a:bodyPr wrap="square" rtlCol="0" anchor="ctr"/>
          <a:lstStyle/>
          <a:p>
            <a:pPr marL="0" indent="0">
              <a:buNone/>
            </a:pPr>
            <a:r>
              <a:rPr lang="en-US" sz="880" dirty="0">
                <a:solidFill>
                  <a:srgbClr val="0F1923"/>
                </a:solidFill>
                <a:latin typeface="Calibri" pitchFamily="34" charset="0"/>
                <a:ea typeface="Calibri" pitchFamily="34" charset="-122"/>
                <a:cs typeface="Calibri" pitchFamily="34" charset="-120"/>
              </a:rPr>
              <a:t>Account 10012015 is missing — gap in sequence between 10012014 and 10012016. Possibly deleted before export; should be investigated for audit trail.</a:t>
            </a:r>
            <a:endParaRPr lang="en-US" sz="880" dirty="0"/>
          </a:p>
        </p:txBody>
      </p:sp>
      <p:sp>
        <p:nvSpPr>
          <p:cNvPr id="30" name="Shape 28"/>
          <p:cNvSpPr/>
          <p:nvPr/>
        </p:nvSpPr>
        <p:spPr>
          <a:xfrm>
            <a:off x="228600" y="4425696"/>
            <a:ext cx="2057400" cy="402336"/>
          </a:xfrm>
          <a:prstGeom prst="rect">
            <a:avLst/>
          </a:prstGeom>
          <a:solidFill>
            <a:srgbClr val="0A7E8C"/>
          </a:solidFill>
          <a:ln w="5080">
            <a:solidFill>
              <a:srgbClr val="CDD5DF"/>
            </a:solidFill>
            <a:prstDash val="solid"/>
          </a:ln>
          <a:effectLst>
            <a:outerShdw blurRad="101600" dist="38100" dir="8100000" algn="bl" rotWithShape="0">
              <a:srgbClr val="000000">
                <a:alpha val="18000"/>
              </a:srgbClr>
            </a:outerShdw>
          </a:effectLst>
        </p:spPr>
      </p:sp>
      <p:sp>
        <p:nvSpPr>
          <p:cNvPr id="31" name="Text 29"/>
          <p:cNvSpPr/>
          <p:nvPr/>
        </p:nvSpPr>
        <p:spPr>
          <a:xfrm>
            <a:off x="228600" y="4425696"/>
            <a:ext cx="54864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29</a:t>
            </a:r>
            <a:endParaRPr lang="en-US" sz="1800" dirty="0"/>
          </a:p>
        </p:txBody>
      </p:sp>
      <p:sp>
        <p:nvSpPr>
          <p:cNvPr id="32" name="Text 30"/>
          <p:cNvSpPr/>
          <p:nvPr/>
        </p:nvSpPr>
        <p:spPr>
          <a:xfrm>
            <a:off x="795528" y="4425696"/>
            <a:ext cx="1444752" cy="402336"/>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Customer Records Inserted</a:t>
            </a:r>
            <a:endParaRPr lang="en-US" sz="900" dirty="0"/>
          </a:p>
        </p:txBody>
      </p:sp>
      <p:sp>
        <p:nvSpPr>
          <p:cNvPr id="33" name="Shape 31"/>
          <p:cNvSpPr/>
          <p:nvPr/>
        </p:nvSpPr>
        <p:spPr>
          <a:xfrm>
            <a:off x="2423160" y="4425696"/>
            <a:ext cx="2057400" cy="402336"/>
          </a:xfrm>
          <a:prstGeom prst="rect">
            <a:avLst/>
          </a:prstGeom>
          <a:solidFill>
            <a:srgbClr val="1B4F72"/>
          </a:solidFill>
          <a:ln w="5080">
            <a:solidFill>
              <a:srgbClr val="CDD5DF"/>
            </a:solidFill>
            <a:prstDash val="solid"/>
          </a:ln>
          <a:effectLst>
            <a:outerShdw blurRad="101600" dist="38100" dir="8100000" algn="bl" rotWithShape="0">
              <a:srgbClr val="000000">
                <a:alpha val="18000"/>
              </a:srgbClr>
            </a:outerShdw>
          </a:effectLst>
        </p:spPr>
      </p:sp>
      <p:sp>
        <p:nvSpPr>
          <p:cNvPr id="34" name="Text 32"/>
          <p:cNvSpPr/>
          <p:nvPr/>
        </p:nvSpPr>
        <p:spPr>
          <a:xfrm>
            <a:off x="2423160" y="4425696"/>
            <a:ext cx="54864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29</a:t>
            </a:r>
            <a:endParaRPr lang="en-US" sz="1800" dirty="0"/>
          </a:p>
        </p:txBody>
      </p:sp>
      <p:sp>
        <p:nvSpPr>
          <p:cNvPr id="35" name="Text 33"/>
          <p:cNvSpPr/>
          <p:nvPr/>
        </p:nvSpPr>
        <p:spPr>
          <a:xfrm>
            <a:off x="2990088" y="4425696"/>
            <a:ext cx="1444752" cy="402336"/>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Account Records Inserted</a:t>
            </a:r>
            <a:endParaRPr lang="en-US" sz="900" dirty="0"/>
          </a:p>
        </p:txBody>
      </p:sp>
      <p:sp>
        <p:nvSpPr>
          <p:cNvPr id="36" name="Shape 34"/>
          <p:cNvSpPr/>
          <p:nvPr/>
        </p:nvSpPr>
        <p:spPr>
          <a:xfrm>
            <a:off x="4617720" y="4425696"/>
            <a:ext cx="2057400" cy="402336"/>
          </a:xfrm>
          <a:prstGeom prst="rect">
            <a:avLst/>
          </a:prstGeom>
          <a:solidFill>
            <a:srgbClr val="0A7E8C"/>
          </a:solidFill>
          <a:ln w="5080">
            <a:solidFill>
              <a:srgbClr val="CDD5DF"/>
            </a:solidFill>
            <a:prstDash val="solid"/>
          </a:ln>
          <a:effectLst>
            <a:outerShdw blurRad="101600" dist="38100" dir="8100000" algn="bl" rotWithShape="0">
              <a:srgbClr val="000000">
                <a:alpha val="18000"/>
              </a:srgbClr>
            </a:outerShdw>
          </a:effectLst>
        </p:spPr>
      </p:sp>
      <p:sp>
        <p:nvSpPr>
          <p:cNvPr id="37" name="Text 35"/>
          <p:cNvSpPr/>
          <p:nvPr/>
        </p:nvSpPr>
        <p:spPr>
          <a:xfrm>
            <a:off x="4617720" y="4425696"/>
            <a:ext cx="54864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38" name="Text 36"/>
          <p:cNvSpPr/>
          <p:nvPr/>
        </p:nvSpPr>
        <p:spPr>
          <a:xfrm>
            <a:off x="5184648" y="4425696"/>
            <a:ext cx="1444752" cy="402336"/>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Inactive Account (CID-1006)</a:t>
            </a:r>
            <a:endParaRPr lang="en-US" sz="900" dirty="0"/>
          </a:p>
        </p:txBody>
      </p:sp>
      <p:sp>
        <p:nvSpPr>
          <p:cNvPr id="39" name="Shape 37"/>
          <p:cNvSpPr/>
          <p:nvPr/>
        </p:nvSpPr>
        <p:spPr>
          <a:xfrm>
            <a:off x="6812280" y="4425696"/>
            <a:ext cx="2057400" cy="402336"/>
          </a:xfrm>
          <a:prstGeom prst="rect">
            <a:avLst/>
          </a:prstGeom>
          <a:solidFill>
            <a:srgbClr val="1B4F72"/>
          </a:solidFill>
          <a:ln w="5080">
            <a:solidFill>
              <a:srgbClr val="CDD5DF"/>
            </a:solidFill>
            <a:prstDash val="solid"/>
          </a:ln>
          <a:effectLst>
            <a:outerShdw blurRad="101600" dist="38100" dir="8100000" algn="bl" rotWithShape="0">
              <a:srgbClr val="000000">
                <a:alpha val="18000"/>
              </a:srgbClr>
            </a:outerShdw>
          </a:effectLst>
        </p:spPr>
      </p:sp>
      <p:sp>
        <p:nvSpPr>
          <p:cNvPr id="40" name="Text 38"/>
          <p:cNvSpPr/>
          <p:nvPr/>
        </p:nvSpPr>
        <p:spPr>
          <a:xfrm>
            <a:off x="6812280" y="4425696"/>
            <a:ext cx="54864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1" name="Text 39"/>
          <p:cNvSpPr/>
          <p:nvPr/>
        </p:nvSpPr>
        <p:spPr>
          <a:xfrm>
            <a:off x="7379208" y="4425696"/>
            <a:ext cx="1444752" cy="402336"/>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SQL Errors in Raw Data</a:t>
            </a:r>
            <a:endParaRPr lang="en-US" sz="900" dirty="0"/>
          </a:p>
        </p:txBody>
      </p:sp>
      <p:sp>
        <p:nvSpPr>
          <p:cNvPr id="42" name="Shape 40"/>
          <p:cNvSpPr/>
          <p:nvPr/>
        </p:nvSpPr>
        <p:spPr>
          <a:xfrm>
            <a:off x="0" y="4892040"/>
            <a:ext cx="9144000" cy="251460"/>
          </a:xfrm>
          <a:prstGeom prst="rect">
            <a:avLst/>
          </a:prstGeom>
          <a:solidFill>
            <a:srgbClr val="0F1923"/>
          </a:solidFill>
          <a:ln w="12700">
            <a:solidFill>
              <a:srgbClr val="0F1923"/>
            </a:solidFill>
            <a:prstDash val="solid"/>
          </a:ln>
        </p:spPr>
      </p:sp>
      <p:sp>
        <p:nvSpPr>
          <p:cNvPr id="43" name="Text 41"/>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44" name="Text 42"/>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28600" y="109728"/>
            <a:ext cx="8686800" cy="493776"/>
          </a:xfrm>
          <a:prstGeom prst="rect">
            <a:avLst/>
          </a:prstGeom>
          <a:noFill/>
          <a:ln/>
        </p:spPr>
        <p:txBody>
          <a:bodyPr wrap="square"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SQL Queries — Retrieval &amp; Analysis (Part 1)</a:t>
            </a:r>
            <a:endParaRPr lang="en-US" sz="2500" dirty="0"/>
          </a:p>
        </p:txBody>
      </p:sp>
      <p:sp>
        <p:nvSpPr>
          <p:cNvPr id="3" name="Shape 1"/>
          <p:cNvSpPr/>
          <p:nvPr/>
        </p:nvSpPr>
        <p:spPr>
          <a:xfrm>
            <a:off x="228600" y="658368"/>
            <a:ext cx="8686800" cy="219456"/>
          </a:xfrm>
          <a:prstGeom prst="rect">
            <a:avLst/>
          </a:prstGeom>
          <a:solidFill>
            <a:srgbClr val="1F2937"/>
          </a:solidFill>
          <a:ln w="12700">
            <a:solidFill>
              <a:srgbClr val="1F2937"/>
            </a:solidFill>
            <a:prstDash val="solid"/>
          </a:ln>
        </p:spPr>
      </p:sp>
      <p:sp>
        <p:nvSpPr>
          <p:cNvPr id="4" name="Text 2"/>
          <p:cNvSpPr/>
          <p:nvPr/>
        </p:nvSpPr>
        <p:spPr>
          <a:xfrm>
            <a:off x="347472" y="658368"/>
            <a:ext cx="8412480" cy="219456"/>
          </a:xfrm>
          <a:prstGeom prst="rect">
            <a:avLst/>
          </a:prstGeom>
          <a:noFill/>
          <a:ln/>
        </p:spPr>
        <p:txBody>
          <a:bodyPr wrap="square" rtlCol="0" anchor="ctr"/>
          <a:lstStyle/>
          <a:p>
            <a:pPr marL="0" indent="0">
              <a:buNone/>
            </a:pPr>
            <a:r>
              <a:rPr lang="en-US" sz="950" i="1" dirty="0">
                <a:solidFill>
                  <a:srgbClr val="CDD5DF"/>
                </a:solidFill>
                <a:latin typeface="Calibri" pitchFamily="34" charset="0"/>
                <a:ea typeface="Calibri" pitchFamily="34" charset="-122"/>
                <a:cs typeface="Calibri" pitchFamily="34" charset="-120"/>
              </a:rPr>
              <a:t>Each query below addresses a real operational need. The JOIN pattern linking customer_bio to account_details is the system's most powerful feature.</a:t>
            </a:r>
            <a:endParaRPr lang="en-US" sz="950" dirty="0"/>
          </a:p>
        </p:txBody>
      </p:sp>
      <p:sp>
        <p:nvSpPr>
          <p:cNvPr id="5" name="Shape 3"/>
          <p:cNvSpPr/>
          <p:nvPr/>
        </p:nvSpPr>
        <p:spPr>
          <a:xfrm>
            <a:off x="228600" y="950976"/>
            <a:ext cx="4206240" cy="292608"/>
          </a:xfrm>
          <a:prstGeom prst="rect">
            <a:avLst/>
          </a:prstGeom>
          <a:solidFill>
            <a:srgbClr val="0A7E8C"/>
          </a:solidFill>
          <a:ln w="12700">
            <a:solidFill>
              <a:srgbClr val="0A7E8C"/>
            </a:solidFill>
            <a:prstDash val="solid"/>
          </a:ln>
        </p:spPr>
      </p:sp>
      <p:sp>
        <p:nvSpPr>
          <p:cNvPr id="6" name="Text 4"/>
          <p:cNvSpPr/>
          <p:nvPr/>
        </p:nvSpPr>
        <p:spPr>
          <a:xfrm>
            <a:off x="301752" y="950976"/>
            <a:ext cx="4059936" cy="292608"/>
          </a:xfrm>
          <a:prstGeom prst="rect">
            <a:avLst/>
          </a:prstGeom>
          <a:noFill/>
          <a:ln/>
        </p:spPr>
        <p:txBody>
          <a:bodyPr wrap="square" lIns="0" tIns="0" rIns="0" bIns="0" rtlCol="0" anchor="ctr"/>
          <a:lstStyle/>
          <a:p>
            <a:pPr marL="0" indent="0">
              <a:buNone/>
            </a:pPr>
            <a:r>
              <a:rPr lang="en-US" sz="1000" b="1" dirty="0">
                <a:solidFill>
                  <a:srgbClr val="0F1923"/>
                </a:solidFill>
                <a:latin typeface="Calibri" pitchFamily="34" charset="0"/>
                <a:ea typeface="Calibri" pitchFamily="34" charset="-122"/>
                <a:cs typeface="Calibri" pitchFamily="34" charset="-120"/>
              </a:rPr>
              <a:t>Q1 — Full Customer Profile (JOIN both tables)</a:t>
            </a:r>
            <a:endParaRPr lang="en-US" sz="1000" dirty="0"/>
          </a:p>
        </p:txBody>
      </p:sp>
      <p:sp>
        <p:nvSpPr>
          <p:cNvPr id="7" name="Shape 5"/>
          <p:cNvSpPr/>
          <p:nvPr/>
        </p:nvSpPr>
        <p:spPr>
          <a:xfrm>
            <a:off x="228600" y="1243584"/>
            <a:ext cx="4206240" cy="274320"/>
          </a:xfrm>
          <a:prstGeom prst="rect">
            <a:avLst/>
          </a:prstGeom>
          <a:solidFill>
            <a:srgbClr val="1F2937"/>
          </a:solidFill>
          <a:ln w="12700">
            <a:solidFill>
              <a:srgbClr val="1F2937"/>
            </a:solidFill>
            <a:prstDash val="solid"/>
          </a:ln>
        </p:spPr>
      </p:sp>
      <p:sp>
        <p:nvSpPr>
          <p:cNvPr id="8" name="Text 6"/>
          <p:cNvSpPr/>
          <p:nvPr/>
        </p:nvSpPr>
        <p:spPr>
          <a:xfrm>
            <a:off x="320040" y="1243584"/>
            <a:ext cx="4023360" cy="274320"/>
          </a:xfrm>
          <a:prstGeom prst="rect">
            <a:avLst/>
          </a:prstGeom>
          <a:noFill/>
          <a:ln/>
        </p:spPr>
        <p:txBody>
          <a:bodyPr wrap="square" rtlCol="0" anchor="ctr"/>
          <a:lstStyle/>
          <a:p>
            <a:pPr marL="0" indent="0">
              <a:buNone/>
            </a:pPr>
            <a:r>
              <a:rPr lang="en-US" sz="850" i="1" dirty="0">
                <a:solidFill>
                  <a:srgbClr val="ADBAC7"/>
                </a:solidFill>
                <a:latin typeface="Calibri" pitchFamily="34" charset="0"/>
                <a:ea typeface="Calibri" pitchFamily="34" charset="-122"/>
                <a:cs typeface="Calibri" pitchFamily="34" charset="-120"/>
              </a:rPr>
              <a:t>Purpose: Operational need: A teller needs the complete record of a customer — both personal data and account summary — in a single query.</a:t>
            </a:r>
            <a:endParaRPr lang="en-US" sz="850" dirty="0"/>
          </a:p>
        </p:txBody>
      </p:sp>
      <p:sp>
        <p:nvSpPr>
          <p:cNvPr id="9" name="Shape 7"/>
          <p:cNvSpPr/>
          <p:nvPr/>
        </p:nvSpPr>
        <p:spPr>
          <a:xfrm>
            <a:off x="228600" y="1517904"/>
            <a:ext cx="4206240" cy="3200400"/>
          </a:xfrm>
          <a:prstGeom prst="rect">
            <a:avLst/>
          </a:prstGeom>
          <a:solidFill>
            <a:srgbClr val="161B22"/>
          </a:solidFill>
          <a:ln w="5080">
            <a:solidFill>
              <a:srgbClr val="30363D"/>
            </a:solidFill>
            <a:prstDash val="solid"/>
          </a:ln>
        </p:spPr>
      </p:sp>
      <p:sp>
        <p:nvSpPr>
          <p:cNvPr id="10" name="Text 8"/>
          <p:cNvSpPr/>
          <p:nvPr/>
        </p:nvSpPr>
        <p:spPr>
          <a:xfrm>
            <a:off x="338328" y="1572768"/>
            <a:ext cx="4005072" cy="3090672"/>
          </a:xfrm>
          <a:prstGeom prst="rect">
            <a:avLst/>
          </a:prstGeom>
          <a:noFill/>
          <a:ln/>
        </p:spPr>
        <p:txBody>
          <a:bodyPr wrap="square" lIns="0" tIns="0" rIns="0" bIns="0" rtlCol="0" anchor="t"/>
          <a:lstStyle/>
          <a:p>
            <a:pPr marL="0" indent="0">
              <a:buNone/>
            </a:pPr>
            <a:r>
              <a:rPr lang="en-US" sz="950" b="1" dirty="0">
                <a:solidFill>
                  <a:srgbClr val="569CD6"/>
                </a:solidFill>
                <a:latin typeface="Consolas" pitchFamily="34" charset="0"/>
                <a:ea typeface="Consolas" pitchFamily="34" charset="-122"/>
                <a:cs typeface="Consolas" pitchFamily="34" charset="-120"/>
              </a:rPr>
              <a:t>SELECT </a:t>
            </a:r>
            <a:r>
              <a:rPr lang="en-US" sz="950" dirty="0">
                <a:solidFill>
                  <a:srgbClr val="9CDCFE"/>
                </a:solidFill>
                <a:latin typeface="Consolas" pitchFamily="34" charset="0"/>
                <a:ea typeface="Consolas" pitchFamily="34" charset="-122"/>
                <a:cs typeface="Consolas" pitchFamily="34" charset="-120"/>
              </a:rPr>
              <a:t>cb.customer_id, cb.first_name, cb.last_name,
       cb.gender, cb.email,
       ad.account_number, ad.account_type,
       ad.balance, ad.status, ad.branch_id
</a:t>
            </a:r>
            <a:r>
              <a:rPr lang="en-US" sz="950" b="1" dirty="0">
                <a:solidFill>
                  <a:srgbClr val="569CD6"/>
                </a:solidFill>
                <a:latin typeface="Consolas" pitchFamily="34" charset="0"/>
                <a:ea typeface="Consolas" pitchFamily="34" charset="-122"/>
                <a:cs typeface="Consolas" pitchFamily="34" charset="-120"/>
              </a:rPr>
              <a:t>FROM </a:t>
            </a:r>
            <a:r>
              <a:rPr lang="en-US" sz="950" dirty="0">
                <a:solidFill>
                  <a:srgbClr val="9CDCFE"/>
                </a:solidFill>
                <a:latin typeface="Consolas" pitchFamily="34" charset="0"/>
                <a:ea typeface="Consolas" pitchFamily="34" charset="-122"/>
                <a:cs typeface="Consolas" pitchFamily="34" charset="-120"/>
              </a:rPr>
              <a:t>customer_bio cb
</a:t>
            </a:r>
            <a:r>
              <a:rPr lang="en-US" sz="950" b="1" dirty="0">
                <a:solidFill>
                  <a:srgbClr val="569CD6"/>
                </a:solidFill>
                <a:latin typeface="Consolas" pitchFamily="34" charset="0"/>
                <a:ea typeface="Consolas" pitchFamily="34" charset="-122"/>
                <a:cs typeface="Consolas" pitchFamily="34" charset="-120"/>
              </a:rPr>
              <a:t>INNER JOIN </a:t>
            </a:r>
            <a:r>
              <a:rPr lang="en-US" sz="950" dirty="0">
                <a:solidFill>
                  <a:srgbClr val="9CDCFE"/>
                </a:solidFill>
                <a:latin typeface="Consolas" pitchFamily="34" charset="0"/>
                <a:ea typeface="Consolas" pitchFamily="34" charset="-122"/>
                <a:cs typeface="Consolas" pitchFamily="34" charset="-120"/>
              </a:rPr>
              <a:t>account_details ad</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b="1" dirty="0">
                <a:solidFill>
                  <a:srgbClr val="569CD6"/>
                </a:solidFill>
                <a:latin typeface="Consolas" pitchFamily="34" charset="0"/>
                <a:ea typeface="Consolas" pitchFamily="34" charset="-122"/>
                <a:cs typeface="Consolas" pitchFamily="34" charset="-120"/>
              </a:rPr>
              <a:t>ON </a:t>
            </a:r>
            <a:r>
              <a:rPr lang="en-US" sz="950" dirty="0">
                <a:solidFill>
                  <a:srgbClr val="9CDCFE"/>
                </a:solidFill>
                <a:latin typeface="Consolas" pitchFamily="34" charset="0"/>
                <a:ea typeface="Consolas" pitchFamily="34" charset="-122"/>
                <a:cs typeface="Consolas" pitchFamily="34" charset="-120"/>
              </a:rPr>
              <a:t>cb.customer_id = ad.customer_id
</a:t>
            </a:r>
            <a:r>
              <a:rPr lang="en-US" sz="950" b="1" dirty="0">
                <a:solidFill>
                  <a:srgbClr val="569CD6"/>
                </a:solidFill>
                <a:latin typeface="Consolas" pitchFamily="34" charset="0"/>
                <a:ea typeface="Consolas" pitchFamily="34" charset="-122"/>
                <a:cs typeface="Consolas" pitchFamily="34" charset="-120"/>
              </a:rPr>
              <a:t>WHERE </a:t>
            </a:r>
            <a:r>
              <a:rPr lang="en-US" sz="950" dirty="0">
                <a:solidFill>
                  <a:srgbClr val="9CDCFE"/>
                </a:solidFill>
                <a:latin typeface="Consolas" pitchFamily="34" charset="0"/>
                <a:ea typeface="Consolas" pitchFamily="34" charset="-122"/>
                <a:cs typeface="Consolas" pitchFamily="34" charset="-120"/>
              </a:rPr>
              <a:t>cb.customer_id = </a:t>
            </a:r>
            <a:r>
              <a:rPr lang="en-US" sz="950" dirty="0">
                <a:solidFill>
                  <a:srgbClr val="CE9178"/>
                </a:solidFill>
                <a:latin typeface="Consolas" pitchFamily="34" charset="0"/>
                <a:ea typeface="Consolas" pitchFamily="34" charset="-122"/>
                <a:cs typeface="Consolas" pitchFamily="34" charset="-120"/>
              </a:rPr>
              <a:t>'CID-2024-1001'</a:t>
            </a:r>
            <a:r>
              <a:rPr lang="en-US" sz="950" dirty="0">
                <a:solidFill>
                  <a:srgbClr val="9CDCFE"/>
                </a:solidFill>
                <a:latin typeface="Consolas" pitchFamily="34" charset="0"/>
                <a:ea typeface="Consolas" pitchFamily="34" charset="-122"/>
                <a:cs typeface="Consolas" pitchFamily="34" charset="-120"/>
              </a:rPr>
              <a:t>;</a:t>
            </a:r>
            <a:endParaRPr lang="en-US" sz="950" dirty="0"/>
          </a:p>
        </p:txBody>
      </p:sp>
      <p:sp>
        <p:nvSpPr>
          <p:cNvPr id="11" name="Shape 9"/>
          <p:cNvSpPr/>
          <p:nvPr/>
        </p:nvSpPr>
        <p:spPr>
          <a:xfrm>
            <a:off x="4709160" y="950976"/>
            <a:ext cx="4206240" cy="292608"/>
          </a:xfrm>
          <a:prstGeom prst="rect">
            <a:avLst/>
          </a:prstGeom>
          <a:solidFill>
            <a:srgbClr val="C8922A"/>
          </a:solidFill>
          <a:ln w="12700">
            <a:solidFill>
              <a:srgbClr val="C8922A"/>
            </a:solidFill>
            <a:prstDash val="solid"/>
          </a:ln>
        </p:spPr>
      </p:sp>
      <p:sp>
        <p:nvSpPr>
          <p:cNvPr id="12" name="Text 10"/>
          <p:cNvSpPr/>
          <p:nvPr/>
        </p:nvSpPr>
        <p:spPr>
          <a:xfrm>
            <a:off x="4782312" y="950976"/>
            <a:ext cx="4059936" cy="292608"/>
          </a:xfrm>
          <a:prstGeom prst="rect">
            <a:avLst/>
          </a:prstGeom>
          <a:noFill/>
          <a:ln/>
        </p:spPr>
        <p:txBody>
          <a:bodyPr wrap="square" lIns="0" tIns="0" rIns="0" bIns="0" rtlCol="0" anchor="ctr"/>
          <a:lstStyle/>
          <a:p>
            <a:pPr marL="0" indent="0">
              <a:buNone/>
            </a:pPr>
            <a:r>
              <a:rPr lang="en-US" sz="1000" b="1" dirty="0">
                <a:solidFill>
                  <a:srgbClr val="0F1923"/>
                </a:solidFill>
                <a:latin typeface="Calibri" pitchFamily="34" charset="0"/>
                <a:ea typeface="Calibri" pitchFamily="34" charset="-122"/>
                <a:cs typeface="Calibri" pitchFamily="34" charset="-120"/>
              </a:rPr>
              <a:t>Q2 — All Active Accounts with Balance &gt; $5,000</a:t>
            </a:r>
            <a:endParaRPr lang="en-US" sz="1000" dirty="0"/>
          </a:p>
        </p:txBody>
      </p:sp>
      <p:sp>
        <p:nvSpPr>
          <p:cNvPr id="13" name="Shape 11"/>
          <p:cNvSpPr/>
          <p:nvPr/>
        </p:nvSpPr>
        <p:spPr>
          <a:xfrm>
            <a:off x="4709160" y="1243584"/>
            <a:ext cx="4206240" cy="274320"/>
          </a:xfrm>
          <a:prstGeom prst="rect">
            <a:avLst/>
          </a:prstGeom>
          <a:solidFill>
            <a:srgbClr val="1F2937"/>
          </a:solidFill>
          <a:ln w="12700">
            <a:solidFill>
              <a:srgbClr val="1F2937"/>
            </a:solidFill>
            <a:prstDash val="solid"/>
          </a:ln>
        </p:spPr>
      </p:sp>
      <p:sp>
        <p:nvSpPr>
          <p:cNvPr id="14" name="Text 12"/>
          <p:cNvSpPr/>
          <p:nvPr/>
        </p:nvSpPr>
        <p:spPr>
          <a:xfrm>
            <a:off x="4800600" y="1243584"/>
            <a:ext cx="4023360" cy="274320"/>
          </a:xfrm>
          <a:prstGeom prst="rect">
            <a:avLst/>
          </a:prstGeom>
          <a:noFill/>
          <a:ln/>
        </p:spPr>
        <p:txBody>
          <a:bodyPr wrap="square" rtlCol="0" anchor="ctr"/>
          <a:lstStyle/>
          <a:p>
            <a:pPr marL="0" indent="0">
              <a:buNone/>
            </a:pPr>
            <a:r>
              <a:rPr lang="en-US" sz="850" i="1" dirty="0">
                <a:solidFill>
                  <a:srgbClr val="ADBAC7"/>
                </a:solidFill>
                <a:latin typeface="Calibri" pitchFamily="34" charset="0"/>
                <a:ea typeface="Calibri" pitchFamily="34" charset="-122"/>
                <a:cs typeface="Calibri" pitchFamily="34" charset="-120"/>
              </a:rPr>
              <a:t>Purpose: Management need: Identify high-value customers for premium product offerings or relationship manager assignment.</a:t>
            </a:r>
            <a:endParaRPr lang="en-US" sz="850" dirty="0"/>
          </a:p>
        </p:txBody>
      </p:sp>
      <p:sp>
        <p:nvSpPr>
          <p:cNvPr id="15" name="Shape 13"/>
          <p:cNvSpPr/>
          <p:nvPr/>
        </p:nvSpPr>
        <p:spPr>
          <a:xfrm>
            <a:off x="4709160" y="1517904"/>
            <a:ext cx="4206240" cy="3200400"/>
          </a:xfrm>
          <a:prstGeom prst="rect">
            <a:avLst/>
          </a:prstGeom>
          <a:solidFill>
            <a:srgbClr val="161B22"/>
          </a:solidFill>
          <a:ln w="5080">
            <a:solidFill>
              <a:srgbClr val="30363D"/>
            </a:solidFill>
            <a:prstDash val="solid"/>
          </a:ln>
        </p:spPr>
      </p:sp>
      <p:sp>
        <p:nvSpPr>
          <p:cNvPr id="16" name="Text 14"/>
          <p:cNvSpPr/>
          <p:nvPr/>
        </p:nvSpPr>
        <p:spPr>
          <a:xfrm>
            <a:off x="4818888" y="1572768"/>
            <a:ext cx="4005072" cy="3090672"/>
          </a:xfrm>
          <a:prstGeom prst="rect">
            <a:avLst/>
          </a:prstGeom>
          <a:noFill/>
          <a:ln/>
        </p:spPr>
        <p:txBody>
          <a:bodyPr wrap="square" lIns="0" tIns="0" rIns="0" bIns="0" rtlCol="0" anchor="t"/>
          <a:lstStyle/>
          <a:p>
            <a:pPr marL="0" indent="0">
              <a:buNone/>
            </a:pPr>
            <a:r>
              <a:rPr lang="en-US" sz="950" b="1" dirty="0">
                <a:solidFill>
                  <a:srgbClr val="569CD6"/>
                </a:solidFill>
                <a:latin typeface="Consolas" pitchFamily="34" charset="0"/>
                <a:ea typeface="Consolas" pitchFamily="34" charset="-122"/>
                <a:cs typeface="Consolas" pitchFamily="34" charset="-120"/>
              </a:rPr>
              <a:t>SELECT </a:t>
            </a:r>
            <a:r>
              <a:rPr lang="en-US" sz="950" dirty="0">
                <a:solidFill>
                  <a:srgbClr val="9CDCFE"/>
                </a:solidFill>
                <a:latin typeface="Consolas" pitchFamily="34" charset="0"/>
                <a:ea typeface="Consolas" pitchFamily="34" charset="-122"/>
                <a:cs typeface="Consolas" pitchFamily="34" charset="-120"/>
              </a:rPr>
              <a:t>cb.first_name, cb.last_name,
       ad.account_number, ad.account_type,
       ad.balance, ad.branch_id
</a:t>
            </a:r>
            <a:r>
              <a:rPr lang="en-US" sz="950" b="1" dirty="0">
                <a:solidFill>
                  <a:srgbClr val="569CD6"/>
                </a:solidFill>
                <a:latin typeface="Consolas" pitchFamily="34" charset="0"/>
                <a:ea typeface="Consolas" pitchFamily="34" charset="-122"/>
                <a:cs typeface="Consolas" pitchFamily="34" charset="-120"/>
              </a:rPr>
              <a:t>FROM </a:t>
            </a:r>
            <a:r>
              <a:rPr lang="en-US" sz="950" dirty="0">
                <a:solidFill>
                  <a:srgbClr val="9CDCFE"/>
                </a:solidFill>
                <a:latin typeface="Consolas" pitchFamily="34" charset="0"/>
                <a:ea typeface="Consolas" pitchFamily="34" charset="-122"/>
                <a:cs typeface="Consolas" pitchFamily="34" charset="-120"/>
              </a:rPr>
              <a:t>customer_bio cb
</a:t>
            </a:r>
            <a:r>
              <a:rPr lang="en-US" sz="950" b="1" dirty="0">
                <a:solidFill>
                  <a:srgbClr val="569CD6"/>
                </a:solidFill>
                <a:latin typeface="Consolas" pitchFamily="34" charset="0"/>
                <a:ea typeface="Consolas" pitchFamily="34" charset="-122"/>
                <a:cs typeface="Consolas" pitchFamily="34" charset="-120"/>
              </a:rPr>
              <a:t>JOIN </a:t>
            </a:r>
            <a:r>
              <a:rPr lang="en-US" sz="950" dirty="0">
                <a:solidFill>
                  <a:srgbClr val="9CDCFE"/>
                </a:solidFill>
                <a:latin typeface="Consolas" pitchFamily="34" charset="0"/>
                <a:ea typeface="Consolas" pitchFamily="34" charset="-122"/>
                <a:cs typeface="Consolas" pitchFamily="34" charset="-120"/>
              </a:rPr>
              <a:t>account_details ad</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b="1" dirty="0">
                <a:solidFill>
                  <a:srgbClr val="569CD6"/>
                </a:solidFill>
                <a:latin typeface="Consolas" pitchFamily="34" charset="0"/>
                <a:ea typeface="Consolas" pitchFamily="34" charset="-122"/>
                <a:cs typeface="Consolas" pitchFamily="34" charset="-120"/>
              </a:rPr>
              <a:t>ON </a:t>
            </a:r>
            <a:r>
              <a:rPr lang="en-US" sz="950" dirty="0">
                <a:solidFill>
                  <a:srgbClr val="9CDCFE"/>
                </a:solidFill>
                <a:latin typeface="Consolas" pitchFamily="34" charset="0"/>
                <a:ea typeface="Consolas" pitchFamily="34" charset="-122"/>
                <a:cs typeface="Consolas" pitchFamily="34" charset="-120"/>
              </a:rPr>
              <a:t>cb.customer_id = ad.customer_id
</a:t>
            </a:r>
            <a:r>
              <a:rPr lang="en-US" sz="950" b="1" dirty="0">
                <a:solidFill>
                  <a:srgbClr val="569CD6"/>
                </a:solidFill>
                <a:latin typeface="Consolas" pitchFamily="34" charset="0"/>
                <a:ea typeface="Consolas" pitchFamily="34" charset="-122"/>
                <a:cs typeface="Consolas" pitchFamily="34" charset="-120"/>
              </a:rPr>
              <a:t>WHERE </a:t>
            </a:r>
            <a:r>
              <a:rPr lang="en-US" sz="950" dirty="0">
                <a:solidFill>
                  <a:srgbClr val="9CDCFE"/>
                </a:solidFill>
                <a:latin typeface="Consolas" pitchFamily="34" charset="0"/>
                <a:ea typeface="Consolas" pitchFamily="34" charset="-122"/>
                <a:cs typeface="Consolas" pitchFamily="34" charset="-120"/>
              </a:rPr>
              <a:t>ad.balance &gt; </a:t>
            </a:r>
            <a:r>
              <a:rPr lang="en-US" sz="950" dirty="0">
                <a:solidFill>
                  <a:srgbClr val="B5CEA8"/>
                </a:solidFill>
                <a:latin typeface="Consolas" pitchFamily="34" charset="0"/>
                <a:ea typeface="Consolas" pitchFamily="34" charset="-122"/>
                <a:cs typeface="Consolas" pitchFamily="34" charset="-120"/>
              </a:rPr>
              <a:t>5000 </a:t>
            </a:r>
            <a:r>
              <a:rPr lang="en-US" sz="950" b="1" dirty="0">
                <a:solidFill>
                  <a:srgbClr val="569CD6"/>
                </a:solidFill>
                <a:latin typeface="Consolas" pitchFamily="34" charset="0"/>
                <a:ea typeface="Consolas" pitchFamily="34" charset="-122"/>
                <a:cs typeface="Consolas" pitchFamily="34" charset="-120"/>
              </a:rPr>
              <a:t>AND </a:t>
            </a:r>
            <a:r>
              <a:rPr lang="en-US" sz="950" dirty="0">
                <a:solidFill>
                  <a:srgbClr val="9CDCFE"/>
                </a:solidFill>
                <a:latin typeface="Consolas" pitchFamily="34" charset="0"/>
                <a:ea typeface="Consolas" pitchFamily="34" charset="-122"/>
                <a:cs typeface="Consolas" pitchFamily="34" charset="-120"/>
              </a:rPr>
              <a:t>ad.status = </a:t>
            </a:r>
            <a:r>
              <a:rPr lang="en-US" sz="950" dirty="0">
                <a:solidFill>
                  <a:srgbClr val="CE9178"/>
                </a:solidFill>
                <a:latin typeface="Consolas" pitchFamily="34" charset="0"/>
                <a:ea typeface="Consolas" pitchFamily="34" charset="-122"/>
                <a:cs typeface="Consolas" pitchFamily="34" charset="-120"/>
              </a:rPr>
              <a:t>'Active'
</a:t>
            </a:r>
            <a:r>
              <a:rPr lang="en-US" sz="950" b="1" dirty="0">
                <a:solidFill>
                  <a:srgbClr val="569CD6"/>
                </a:solidFill>
                <a:latin typeface="Consolas" pitchFamily="34" charset="0"/>
                <a:ea typeface="Consolas" pitchFamily="34" charset="-122"/>
                <a:cs typeface="Consolas" pitchFamily="34" charset="-120"/>
              </a:rPr>
              <a:t>ORDER BY </a:t>
            </a:r>
            <a:r>
              <a:rPr lang="en-US" sz="950" dirty="0">
                <a:solidFill>
                  <a:srgbClr val="9CDCFE"/>
                </a:solidFill>
                <a:latin typeface="Consolas" pitchFamily="34" charset="0"/>
                <a:ea typeface="Consolas" pitchFamily="34" charset="-122"/>
                <a:cs typeface="Consolas" pitchFamily="34" charset="-120"/>
              </a:rPr>
              <a:t>ad.balance </a:t>
            </a:r>
            <a:r>
              <a:rPr lang="en-US" sz="950" b="1" dirty="0">
                <a:solidFill>
                  <a:srgbClr val="569CD6"/>
                </a:solidFill>
                <a:latin typeface="Consolas" pitchFamily="34" charset="0"/>
                <a:ea typeface="Consolas" pitchFamily="34" charset="-122"/>
                <a:cs typeface="Consolas" pitchFamily="34" charset="-120"/>
              </a:rPr>
              <a:t>DESC</a:t>
            </a:r>
            <a:r>
              <a:rPr lang="en-US" sz="950" dirty="0">
                <a:solidFill>
                  <a:srgbClr val="9CDCFE"/>
                </a:solidFill>
                <a:latin typeface="Consolas" pitchFamily="34" charset="0"/>
                <a:ea typeface="Consolas" pitchFamily="34" charset="-122"/>
                <a:cs typeface="Consolas" pitchFamily="34" charset="-120"/>
              </a:rPr>
              <a:t>;</a:t>
            </a:r>
            <a:endParaRPr lang="en-US" sz="950" dirty="0"/>
          </a:p>
        </p:txBody>
      </p:sp>
      <p:sp>
        <p:nvSpPr>
          <p:cNvPr id="17" name="Shape 15"/>
          <p:cNvSpPr/>
          <p:nvPr/>
        </p:nvSpPr>
        <p:spPr>
          <a:xfrm>
            <a:off x="0" y="4892040"/>
            <a:ext cx="9144000" cy="251460"/>
          </a:xfrm>
          <a:prstGeom prst="rect">
            <a:avLst/>
          </a:prstGeom>
          <a:solidFill>
            <a:srgbClr val="0F1923"/>
          </a:solidFill>
          <a:ln w="12700">
            <a:solidFill>
              <a:srgbClr val="0F1923"/>
            </a:solidFill>
            <a:prstDash val="solid"/>
          </a:ln>
        </p:spPr>
      </p:sp>
      <p:sp>
        <p:nvSpPr>
          <p:cNvPr id="18" name="Text 16"/>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19" name="Text 17"/>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3CC9F1-C022-B9C5-22FE-7CCD79BAF9AE}"/>
              </a:ext>
            </a:extLst>
          </p:cNvPr>
          <p:cNvSpPr txBox="1"/>
          <p:nvPr/>
        </p:nvSpPr>
        <p:spPr>
          <a:xfrm>
            <a:off x="734785" y="118293"/>
            <a:ext cx="8041821" cy="646331"/>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1A query joining names and balance. Here I linked two tables using the foreign key and produced a list of customers showing their names and their current bank balance</a:t>
            </a:r>
            <a:endParaRPr lang="en-US" dirty="0"/>
          </a:p>
        </p:txBody>
      </p:sp>
      <p:pic>
        <p:nvPicPr>
          <p:cNvPr id="5" name="Picture 4">
            <a:extLst>
              <a:ext uri="{FF2B5EF4-FFF2-40B4-BE49-F238E27FC236}">
                <a16:creationId xmlns:a16="http://schemas.microsoft.com/office/drawing/2014/main" id="{7D5EF402-32EC-1877-B5AC-317493ECE960}"/>
              </a:ext>
            </a:extLst>
          </p:cNvPr>
          <p:cNvPicPr>
            <a:picLocks noChangeAspect="1"/>
          </p:cNvPicPr>
          <p:nvPr/>
        </p:nvPicPr>
        <p:blipFill>
          <a:blip r:embed="rId2"/>
          <a:stretch>
            <a:fillRect/>
          </a:stretch>
        </p:blipFill>
        <p:spPr>
          <a:xfrm>
            <a:off x="1802634" y="764624"/>
            <a:ext cx="5538731" cy="4378876"/>
          </a:xfrm>
          <a:prstGeom prst="rect">
            <a:avLst/>
          </a:prstGeom>
        </p:spPr>
      </p:pic>
    </p:spTree>
    <p:extLst>
      <p:ext uri="{BB962C8B-B14F-4D97-AF65-F5344CB8AC3E}">
        <p14:creationId xmlns:p14="http://schemas.microsoft.com/office/powerpoint/2010/main" val="1618731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228600" y="109728"/>
            <a:ext cx="8686800" cy="493776"/>
          </a:xfrm>
          <a:prstGeom prst="rect">
            <a:avLst/>
          </a:prstGeom>
          <a:noFill/>
          <a:ln/>
        </p:spPr>
        <p:txBody>
          <a:bodyPr wrap="square"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SQL Queries — Aggregation &amp; Analytics (Part 2)</a:t>
            </a:r>
            <a:endParaRPr lang="en-US" sz="2500" dirty="0"/>
          </a:p>
        </p:txBody>
      </p:sp>
      <p:sp>
        <p:nvSpPr>
          <p:cNvPr id="3" name="Shape 1"/>
          <p:cNvSpPr/>
          <p:nvPr/>
        </p:nvSpPr>
        <p:spPr>
          <a:xfrm>
            <a:off x="228600" y="658368"/>
            <a:ext cx="8686800" cy="219456"/>
          </a:xfrm>
          <a:prstGeom prst="rect">
            <a:avLst/>
          </a:prstGeom>
          <a:solidFill>
            <a:srgbClr val="1F2937"/>
          </a:solidFill>
          <a:ln w="12700">
            <a:solidFill>
              <a:srgbClr val="1F2937"/>
            </a:solidFill>
            <a:prstDash val="solid"/>
          </a:ln>
        </p:spPr>
      </p:sp>
      <p:sp>
        <p:nvSpPr>
          <p:cNvPr id="4" name="Text 2"/>
          <p:cNvSpPr/>
          <p:nvPr/>
        </p:nvSpPr>
        <p:spPr>
          <a:xfrm>
            <a:off x="347472" y="658368"/>
            <a:ext cx="8412480" cy="219456"/>
          </a:xfrm>
          <a:prstGeom prst="rect">
            <a:avLst/>
          </a:prstGeom>
          <a:noFill/>
          <a:ln/>
        </p:spPr>
        <p:txBody>
          <a:bodyPr wrap="square" rtlCol="0" anchor="ctr"/>
          <a:lstStyle/>
          <a:p>
            <a:pPr marL="0" indent="0">
              <a:buNone/>
            </a:pPr>
            <a:r>
              <a:rPr lang="en-US" sz="950" i="1" dirty="0">
                <a:solidFill>
                  <a:srgbClr val="CDD5DF"/>
                </a:solidFill>
                <a:latin typeface="Calibri" pitchFamily="34" charset="0"/>
                <a:ea typeface="Calibri" pitchFamily="34" charset="-122"/>
                <a:cs typeface="Calibri" pitchFamily="34" charset="-120"/>
              </a:rPr>
              <a:t>Aggregate queries transform raw records into management intelligence — the true value of a structured database over a spreadsheet.</a:t>
            </a:r>
            <a:endParaRPr lang="en-US" sz="950" dirty="0"/>
          </a:p>
        </p:txBody>
      </p:sp>
      <p:sp>
        <p:nvSpPr>
          <p:cNvPr id="5" name="Shape 3"/>
          <p:cNvSpPr/>
          <p:nvPr/>
        </p:nvSpPr>
        <p:spPr>
          <a:xfrm>
            <a:off x="228600" y="950976"/>
            <a:ext cx="8686800" cy="292608"/>
          </a:xfrm>
          <a:prstGeom prst="rect">
            <a:avLst/>
          </a:prstGeom>
          <a:solidFill>
            <a:srgbClr val="0A7E8C"/>
          </a:solidFill>
          <a:ln w="12700">
            <a:solidFill>
              <a:srgbClr val="0A7E8C"/>
            </a:solidFill>
            <a:prstDash val="solid"/>
          </a:ln>
        </p:spPr>
      </p:sp>
      <p:sp>
        <p:nvSpPr>
          <p:cNvPr id="6" name="Text 4"/>
          <p:cNvSpPr/>
          <p:nvPr/>
        </p:nvSpPr>
        <p:spPr>
          <a:xfrm>
            <a:off x="320040" y="950976"/>
            <a:ext cx="8412480" cy="292608"/>
          </a:xfrm>
          <a:prstGeom prst="rect">
            <a:avLst/>
          </a:prstGeom>
          <a:noFill/>
          <a:ln/>
        </p:spPr>
        <p:txBody>
          <a:bodyPr wrap="square" lIns="0" tIns="0" rIns="0" bIns="0" rtlCol="0" anchor="ctr"/>
          <a:lstStyle/>
          <a:p>
            <a:pPr marL="0" indent="0">
              <a:buNone/>
            </a:pPr>
            <a:r>
              <a:rPr lang="en-US" sz="1050" b="1" dirty="0">
                <a:solidFill>
                  <a:srgbClr val="0F1923"/>
                </a:solidFill>
                <a:latin typeface="Calibri" pitchFamily="34" charset="0"/>
                <a:ea typeface="Calibri" pitchFamily="34" charset="-122"/>
                <a:cs typeface="Calibri" pitchFamily="34" charset="-120"/>
              </a:rPr>
              <a:t>Q3 — Account Summary by Branch (Management Dashboard Query)</a:t>
            </a:r>
            <a:endParaRPr lang="en-US" sz="1050" dirty="0"/>
          </a:p>
        </p:txBody>
      </p:sp>
      <p:sp>
        <p:nvSpPr>
          <p:cNvPr id="7" name="Shape 5"/>
          <p:cNvSpPr/>
          <p:nvPr/>
        </p:nvSpPr>
        <p:spPr>
          <a:xfrm>
            <a:off x="228600" y="1243584"/>
            <a:ext cx="8686800" cy="1371600"/>
          </a:xfrm>
          <a:prstGeom prst="rect">
            <a:avLst/>
          </a:prstGeom>
          <a:solidFill>
            <a:srgbClr val="161B22"/>
          </a:solidFill>
          <a:ln w="5080">
            <a:solidFill>
              <a:srgbClr val="30363D"/>
            </a:solidFill>
            <a:prstDash val="solid"/>
          </a:ln>
        </p:spPr>
      </p:sp>
      <p:sp>
        <p:nvSpPr>
          <p:cNvPr id="8" name="Text 6"/>
          <p:cNvSpPr/>
          <p:nvPr/>
        </p:nvSpPr>
        <p:spPr>
          <a:xfrm>
            <a:off x="338328" y="1280160"/>
            <a:ext cx="8503920" cy="1298448"/>
          </a:xfrm>
          <a:prstGeom prst="rect">
            <a:avLst/>
          </a:prstGeom>
          <a:noFill/>
          <a:ln/>
        </p:spPr>
        <p:txBody>
          <a:bodyPr wrap="square" lIns="0" tIns="0" rIns="0" bIns="0" rtlCol="0" anchor="t"/>
          <a:lstStyle/>
          <a:p>
            <a:pPr marL="0" indent="0">
              <a:buNone/>
            </a:pPr>
            <a:r>
              <a:rPr lang="en-US" sz="950" b="1" dirty="0">
                <a:solidFill>
                  <a:srgbClr val="569CD6"/>
                </a:solidFill>
                <a:latin typeface="Consolas" pitchFamily="34" charset="0"/>
                <a:ea typeface="Consolas" pitchFamily="34" charset="-122"/>
                <a:cs typeface="Consolas" pitchFamily="34" charset="-120"/>
              </a:rPr>
              <a:t>SELECT </a:t>
            </a:r>
            <a:r>
              <a:rPr lang="en-US" sz="950" dirty="0">
                <a:solidFill>
                  <a:srgbClr val="9CDCFE"/>
                </a:solidFill>
                <a:latin typeface="Consolas" pitchFamily="34" charset="0"/>
                <a:ea typeface="Consolas" pitchFamily="34" charset="-122"/>
                <a:cs typeface="Consolas" pitchFamily="34" charset="-120"/>
              </a:rPr>
              <a:t>ad.branch_id,</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DCDCAA"/>
                </a:solidFill>
                <a:latin typeface="Consolas" pitchFamily="34" charset="0"/>
                <a:ea typeface="Consolas" pitchFamily="34" charset="-122"/>
                <a:cs typeface="Consolas" pitchFamily="34" charset="-120"/>
              </a:rPr>
              <a:t>COUNT</a:t>
            </a:r>
            <a:r>
              <a:rPr lang="en-US" sz="950" dirty="0">
                <a:solidFill>
                  <a:srgbClr val="9CDCFE"/>
                </a:solidFill>
                <a:latin typeface="Consolas" pitchFamily="34" charset="0"/>
                <a:ea typeface="Consolas" pitchFamily="34" charset="-122"/>
                <a:cs typeface="Consolas" pitchFamily="34" charset="-120"/>
              </a:rPr>
              <a:t>(*)                          AS total_accounts,</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DCDCAA"/>
                </a:solidFill>
                <a:latin typeface="Consolas" pitchFamily="34" charset="0"/>
                <a:ea typeface="Consolas" pitchFamily="34" charset="-122"/>
                <a:cs typeface="Consolas" pitchFamily="34" charset="-120"/>
              </a:rPr>
              <a:t>SUM</a:t>
            </a:r>
            <a:r>
              <a:rPr lang="en-US" sz="950" dirty="0">
                <a:solidFill>
                  <a:srgbClr val="9CDCFE"/>
                </a:solidFill>
                <a:latin typeface="Consolas" pitchFamily="34" charset="0"/>
                <a:ea typeface="Consolas" pitchFamily="34" charset="-122"/>
                <a:cs typeface="Consolas" pitchFamily="34" charset="-120"/>
              </a:rPr>
              <a:t>(ad.balance)                 AS total_deposits_usd,</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DCDCAA"/>
                </a:solidFill>
                <a:latin typeface="Consolas" pitchFamily="34" charset="0"/>
                <a:ea typeface="Consolas" pitchFamily="34" charset="-122"/>
                <a:cs typeface="Consolas" pitchFamily="34" charset="-120"/>
              </a:rPr>
              <a:t>AVG</a:t>
            </a:r>
            <a:r>
              <a:rPr lang="en-US" sz="950" dirty="0">
                <a:solidFill>
                  <a:srgbClr val="9CDCFE"/>
                </a:solidFill>
                <a:latin typeface="Consolas" pitchFamily="34" charset="0"/>
                <a:ea typeface="Consolas" pitchFamily="34" charset="-122"/>
                <a:cs typeface="Consolas" pitchFamily="34" charset="-120"/>
              </a:rPr>
              <a:t>(ad.balance)                 AS avg_balance_usd,</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DCDCAA"/>
                </a:solidFill>
                <a:latin typeface="Consolas" pitchFamily="34" charset="0"/>
                <a:ea typeface="Consolas" pitchFamily="34" charset="-122"/>
                <a:cs typeface="Consolas" pitchFamily="34" charset="-120"/>
              </a:rPr>
              <a:t>SUM</a:t>
            </a:r>
            <a:r>
              <a:rPr lang="en-US" sz="950" dirty="0">
                <a:solidFill>
                  <a:srgbClr val="9CDCFE"/>
                </a:solidFill>
                <a:latin typeface="Consolas" pitchFamily="34" charset="0"/>
                <a:ea typeface="Consolas" pitchFamily="34" charset="-122"/>
                <a:cs typeface="Consolas" pitchFamily="34" charset="-120"/>
              </a:rPr>
              <a:t>(</a:t>
            </a:r>
            <a:r>
              <a:rPr lang="en-US" sz="950" b="1" dirty="0">
                <a:solidFill>
                  <a:srgbClr val="569CD6"/>
                </a:solidFill>
                <a:latin typeface="Consolas" pitchFamily="34" charset="0"/>
                <a:ea typeface="Consolas" pitchFamily="34" charset="-122"/>
                <a:cs typeface="Consolas" pitchFamily="34" charset="-120"/>
              </a:rPr>
              <a:t>CASE WHEN </a:t>
            </a:r>
            <a:r>
              <a:rPr lang="en-US" sz="950" dirty="0">
                <a:solidFill>
                  <a:srgbClr val="9CDCFE"/>
                </a:solidFill>
                <a:latin typeface="Consolas" pitchFamily="34" charset="0"/>
                <a:ea typeface="Consolas" pitchFamily="34" charset="-122"/>
                <a:cs typeface="Consolas" pitchFamily="34" charset="-120"/>
              </a:rPr>
              <a:t>account_type=</a:t>
            </a:r>
            <a:r>
              <a:rPr lang="en-US" sz="950" dirty="0">
                <a:solidFill>
                  <a:srgbClr val="CE9178"/>
                </a:solidFill>
                <a:latin typeface="Consolas" pitchFamily="34" charset="0"/>
                <a:ea typeface="Consolas" pitchFamily="34" charset="-122"/>
                <a:cs typeface="Consolas" pitchFamily="34" charset="-120"/>
              </a:rPr>
              <a:t>'savings' THEN 1 ELSE 0 END</a:t>
            </a:r>
            <a:r>
              <a:rPr lang="en-US" sz="950" dirty="0">
                <a:solidFill>
                  <a:srgbClr val="9CDCFE"/>
                </a:solidFill>
                <a:latin typeface="Consolas" pitchFamily="34" charset="0"/>
                <a:ea typeface="Consolas" pitchFamily="34" charset="-122"/>
                <a:cs typeface="Consolas" pitchFamily="34" charset="-120"/>
              </a:rPr>
              <a:t>) AS savings_count,</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DCDCAA"/>
                </a:solidFill>
                <a:latin typeface="Consolas" pitchFamily="34" charset="0"/>
                <a:ea typeface="Consolas" pitchFamily="34" charset="-122"/>
                <a:cs typeface="Consolas" pitchFamily="34" charset="-120"/>
              </a:rPr>
              <a:t>SUM</a:t>
            </a:r>
            <a:r>
              <a:rPr lang="en-US" sz="950" dirty="0">
                <a:solidFill>
                  <a:srgbClr val="9CDCFE"/>
                </a:solidFill>
                <a:latin typeface="Consolas" pitchFamily="34" charset="0"/>
                <a:ea typeface="Consolas" pitchFamily="34" charset="-122"/>
                <a:cs typeface="Consolas" pitchFamily="34" charset="-120"/>
              </a:rPr>
              <a:t>(</a:t>
            </a:r>
            <a:r>
              <a:rPr lang="en-US" sz="950" b="1" dirty="0">
                <a:solidFill>
                  <a:srgbClr val="569CD6"/>
                </a:solidFill>
                <a:latin typeface="Consolas" pitchFamily="34" charset="0"/>
                <a:ea typeface="Consolas" pitchFamily="34" charset="-122"/>
                <a:cs typeface="Consolas" pitchFamily="34" charset="-120"/>
              </a:rPr>
              <a:t>CASE WHEN </a:t>
            </a:r>
            <a:r>
              <a:rPr lang="en-US" sz="950" dirty="0">
                <a:solidFill>
                  <a:srgbClr val="9CDCFE"/>
                </a:solidFill>
                <a:latin typeface="Consolas" pitchFamily="34" charset="0"/>
                <a:ea typeface="Consolas" pitchFamily="34" charset="-122"/>
                <a:cs typeface="Consolas" pitchFamily="34" charset="-120"/>
              </a:rPr>
              <a:t>account_type=</a:t>
            </a:r>
            <a:r>
              <a:rPr lang="en-US" sz="950" dirty="0">
                <a:solidFill>
                  <a:srgbClr val="CE9178"/>
                </a:solidFill>
                <a:latin typeface="Consolas" pitchFamily="34" charset="0"/>
                <a:ea typeface="Consolas" pitchFamily="34" charset="-122"/>
                <a:cs typeface="Consolas" pitchFamily="34" charset="-120"/>
              </a:rPr>
              <a:t>'current' THEN 1 ELSE 0 END</a:t>
            </a:r>
            <a:r>
              <a:rPr lang="en-US" sz="950" dirty="0">
                <a:solidFill>
                  <a:srgbClr val="9CDCFE"/>
                </a:solidFill>
                <a:latin typeface="Consolas" pitchFamily="34" charset="0"/>
                <a:ea typeface="Consolas" pitchFamily="34" charset="-122"/>
                <a:cs typeface="Consolas" pitchFamily="34" charset="-120"/>
              </a:rPr>
              <a:t>) AS current_count
</a:t>
            </a:r>
            <a:r>
              <a:rPr lang="en-US" sz="950" b="1" dirty="0">
                <a:solidFill>
                  <a:srgbClr val="569CD6"/>
                </a:solidFill>
                <a:latin typeface="Consolas" pitchFamily="34" charset="0"/>
                <a:ea typeface="Consolas" pitchFamily="34" charset="-122"/>
                <a:cs typeface="Consolas" pitchFamily="34" charset="-120"/>
              </a:rPr>
              <a:t>FROM </a:t>
            </a:r>
            <a:r>
              <a:rPr lang="en-US" sz="950" dirty="0">
                <a:solidFill>
                  <a:srgbClr val="9CDCFE"/>
                </a:solidFill>
                <a:latin typeface="Consolas" pitchFamily="34" charset="0"/>
                <a:ea typeface="Consolas" pitchFamily="34" charset="-122"/>
                <a:cs typeface="Consolas" pitchFamily="34" charset="-120"/>
              </a:rPr>
              <a:t>account_details ad  </a:t>
            </a:r>
            <a:r>
              <a:rPr lang="en-US" sz="950" b="1" dirty="0">
                <a:solidFill>
                  <a:srgbClr val="569CD6"/>
                </a:solidFill>
                <a:latin typeface="Consolas" pitchFamily="34" charset="0"/>
                <a:ea typeface="Consolas" pitchFamily="34" charset="-122"/>
                <a:cs typeface="Consolas" pitchFamily="34" charset="-120"/>
              </a:rPr>
              <a:t>GROUP BY </a:t>
            </a:r>
            <a:r>
              <a:rPr lang="en-US" sz="950" dirty="0">
                <a:solidFill>
                  <a:srgbClr val="9CDCFE"/>
                </a:solidFill>
                <a:latin typeface="Consolas" pitchFamily="34" charset="0"/>
                <a:ea typeface="Consolas" pitchFamily="34" charset="-122"/>
                <a:cs typeface="Consolas" pitchFamily="34" charset="-120"/>
              </a:rPr>
              <a:t>ad.branch_id  </a:t>
            </a:r>
            <a:r>
              <a:rPr lang="en-US" sz="950" b="1" dirty="0">
                <a:solidFill>
                  <a:srgbClr val="569CD6"/>
                </a:solidFill>
                <a:latin typeface="Consolas" pitchFamily="34" charset="0"/>
                <a:ea typeface="Consolas" pitchFamily="34" charset="-122"/>
                <a:cs typeface="Consolas" pitchFamily="34" charset="-120"/>
              </a:rPr>
              <a:t>ORDER BY </a:t>
            </a:r>
            <a:r>
              <a:rPr lang="en-US" sz="950" dirty="0">
                <a:solidFill>
                  <a:srgbClr val="9CDCFE"/>
                </a:solidFill>
                <a:latin typeface="Consolas" pitchFamily="34" charset="0"/>
                <a:ea typeface="Consolas" pitchFamily="34" charset="-122"/>
                <a:cs typeface="Consolas" pitchFamily="34" charset="-120"/>
              </a:rPr>
              <a:t>total_deposits_usd </a:t>
            </a:r>
            <a:r>
              <a:rPr lang="en-US" sz="950" b="1" dirty="0">
                <a:solidFill>
                  <a:srgbClr val="569CD6"/>
                </a:solidFill>
                <a:latin typeface="Consolas" pitchFamily="34" charset="0"/>
                <a:ea typeface="Consolas" pitchFamily="34" charset="-122"/>
                <a:cs typeface="Consolas" pitchFamily="34" charset="-120"/>
              </a:rPr>
              <a:t>DESC</a:t>
            </a:r>
            <a:r>
              <a:rPr lang="en-US" sz="950" dirty="0">
                <a:solidFill>
                  <a:srgbClr val="9CDCFE"/>
                </a:solidFill>
                <a:latin typeface="Consolas" pitchFamily="34" charset="0"/>
                <a:ea typeface="Consolas" pitchFamily="34" charset="-122"/>
                <a:cs typeface="Consolas" pitchFamily="34" charset="-120"/>
              </a:rPr>
              <a:t>;</a:t>
            </a:r>
            <a:endParaRPr lang="en-US" sz="950" dirty="0"/>
          </a:p>
        </p:txBody>
      </p:sp>
      <p:sp>
        <p:nvSpPr>
          <p:cNvPr id="9" name="Shape 7"/>
          <p:cNvSpPr/>
          <p:nvPr/>
        </p:nvSpPr>
        <p:spPr>
          <a:xfrm>
            <a:off x="228600" y="2724912"/>
            <a:ext cx="8686800" cy="292608"/>
          </a:xfrm>
          <a:prstGeom prst="rect">
            <a:avLst/>
          </a:prstGeom>
          <a:solidFill>
            <a:srgbClr val="6C3483"/>
          </a:solidFill>
          <a:ln w="12700">
            <a:solidFill>
              <a:srgbClr val="6C3483"/>
            </a:solidFill>
            <a:prstDash val="solid"/>
          </a:ln>
        </p:spPr>
      </p:sp>
      <p:sp>
        <p:nvSpPr>
          <p:cNvPr id="10" name="Text 8"/>
          <p:cNvSpPr/>
          <p:nvPr/>
        </p:nvSpPr>
        <p:spPr>
          <a:xfrm>
            <a:off x="320040" y="2724912"/>
            <a:ext cx="8412480"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Q4 — Gender &amp; Age Distribution of Customers (Demographic Analytics)</a:t>
            </a:r>
            <a:endParaRPr lang="en-US" sz="1050" dirty="0"/>
          </a:p>
        </p:txBody>
      </p:sp>
      <p:sp>
        <p:nvSpPr>
          <p:cNvPr id="11" name="Shape 9"/>
          <p:cNvSpPr/>
          <p:nvPr/>
        </p:nvSpPr>
        <p:spPr>
          <a:xfrm>
            <a:off x="228600" y="3017520"/>
            <a:ext cx="8686800" cy="1143000"/>
          </a:xfrm>
          <a:prstGeom prst="rect">
            <a:avLst/>
          </a:prstGeom>
          <a:solidFill>
            <a:srgbClr val="161B22"/>
          </a:solidFill>
          <a:ln w="5080">
            <a:solidFill>
              <a:srgbClr val="30363D"/>
            </a:solidFill>
            <a:prstDash val="solid"/>
          </a:ln>
        </p:spPr>
      </p:sp>
      <p:sp>
        <p:nvSpPr>
          <p:cNvPr id="12" name="Text 10"/>
          <p:cNvSpPr/>
          <p:nvPr/>
        </p:nvSpPr>
        <p:spPr>
          <a:xfrm>
            <a:off x="338328" y="3054096"/>
            <a:ext cx="8503920" cy="1078992"/>
          </a:xfrm>
          <a:prstGeom prst="rect">
            <a:avLst/>
          </a:prstGeom>
          <a:noFill/>
          <a:ln/>
        </p:spPr>
        <p:txBody>
          <a:bodyPr wrap="square" lIns="0" tIns="0" rIns="0" bIns="0" rtlCol="0" anchor="t"/>
          <a:lstStyle/>
          <a:p>
            <a:pPr marL="0" indent="0">
              <a:buNone/>
            </a:pPr>
            <a:r>
              <a:rPr lang="en-US" sz="950" b="1" dirty="0">
                <a:solidFill>
                  <a:srgbClr val="569CD6"/>
                </a:solidFill>
                <a:latin typeface="Consolas" pitchFamily="34" charset="0"/>
                <a:ea typeface="Consolas" pitchFamily="34" charset="-122"/>
                <a:cs typeface="Consolas" pitchFamily="34" charset="-120"/>
              </a:rPr>
              <a:t>SELECT </a:t>
            </a:r>
            <a:r>
              <a:rPr lang="en-US" sz="950" dirty="0">
                <a:solidFill>
                  <a:srgbClr val="9CDCFE"/>
                </a:solidFill>
                <a:latin typeface="Consolas" pitchFamily="34" charset="0"/>
                <a:ea typeface="Consolas" pitchFamily="34" charset="-122"/>
                <a:cs typeface="Consolas" pitchFamily="34" charset="-120"/>
              </a:rPr>
              <a:t>gender,</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DCDCAA"/>
                </a:solidFill>
                <a:latin typeface="Consolas" pitchFamily="34" charset="0"/>
                <a:ea typeface="Consolas" pitchFamily="34" charset="-122"/>
                <a:cs typeface="Consolas" pitchFamily="34" charset="-120"/>
              </a:rPr>
              <a:t>COUNT</a:t>
            </a:r>
            <a:r>
              <a:rPr lang="en-US" sz="950" dirty="0">
                <a:solidFill>
                  <a:srgbClr val="9CDCFE"/>
                </a:solidFill>
                <a:latin typeface="Consolas" pitchFamily="34" charset="0"/>
                <a:ea typeface="Consolas" pitchFamily="34" charset="-122"/>
                <a:cs typeface="Consolas" pitchFamily="34" charset="-120"/>
              </a:rPr>
              <a:t>(*)  AS total_customers,</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DCDCAA"/>
                </a:solidFill>
                <a:latin typeface="Consolas" pitchFamily="34" charset="0"/>
                <a:ea typeface="Consolas" pitchFamily="34" charset="-122"/>
                <a:cs typeface="Consolas" pitchFamily="34" charset="-120"/>
              </a:rPr>
              <a:t>AVG</a:t>
            </a:r>
            <a:r>
              <a:rPr lang="en-US" sz="950" dirty="0">
                <a:solidFill>
                  <a:srgbClr val="9CDCFE"/>
                </a:solidFill>
                <a:latin typeface="Consolas" pitchFamily="34" charset="0"/>
                <a:ea typeface="Consolas" pitchFamily="34" charset="-122"/>
                <a:cs typeface="Consolas" pitchFamily="34" charset="-120"/>
              </a:rPr>
              <a:t>(</a:t>
            </a:r>
            <a:r>
              <a:rPr lang="en-US" sz="950" dirty="0">
                <a:solidFill>
                  <a:srgbClr val="DCDCAA"/>
                </a:solidFill>
                <a:latin typeface="Consolas" pitchFamily="34" charset="0"/>
                <a:ea typeface="Consolas" pitchFamily="34" charset="-122"/>
                <a:cs typeface="Consolas" pitchFamily="34" charset="-120"/>
              </a:rPr>
              <a:t>TIMESTAMPDIFF</a:t>
            </a:r>
            <a:r>
              <a:rPr lang="en-US" sz="950" dirty="0">
                <a:solidFill>
                  <a:srgbClr val="9CDCFE"/>
                </a:solidFill>
                <a:latin typeface="Consolas" pitchFamily="34" charset="0"/>
                <a:ea typeface="Consolas" pitchFamily="34" charset="-122"/>
                <a:cs typeface="Consolas" pitchFamily="34" charset="-120"/>
              </a:rPr>
              <a:t>(YEAR, date_of_birth, </a:t>
            </a:r>
            <a:r>
              <a:rPr lang="en-US" sz="950" dirty="0">
                <a:solidFill>
                  <a:srgbClr val="DCDCAA"/>
                </a:solidFill>
                <a:latin typeface="Consolas" pitchFamily="34" charset="0"/>
                <a:ea typeface="Consolas" pitchFamily="34" charset="-122"/>
                <a:cs typeface="Consolas" pitchFamily="34" charset="-120"/>
              </a:rPr>
              <a:t>CURDATE</a:t>
            </a:r>
            <a:r>
              <a:rPr lang="en-US" sz="950" dirty="0">
                <a:solidFill>
                  <a:srgbClr val="9CDCFE"/>
                </a:solidFill>
                <a:latin typeface="Consolas" pitchFamily="34" charset="0"/>
                <a:ea typeface="Consolas" pitchFamily="34" charset="-122"/>
                <a:cs typeface="Consolas" pitchFamily="34" charset="-120"/>
              </a:rPr>
              <a:t>())) AS avg_age,</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DCDCAA"/>
                </a:solidFill>
                <a:latin typeface="Consolas" pitchFamily="34" charset="0"/>
                <a:ea typeface="Consolas" pitchFamily="34" charset="-122"/>
                <a:cs typeface="Consolas" pitchFamily="34" charset="-120"/>
              </a:rPr>
              <a:t>MIN</a:t>
            </a:r>
            <a:r>
              <a:rPr lang="en-US" sz="950" dirty="0">
                <a:solidFill>
                  <a:srgbClr val="9CDCFE"/>
                </a:solidFill>
                <a:latin typeface="Consolas" pitchFamily="34" charset="0"/>
                <a:ea typeface="Consolas" pitchFamily="34" charset="-122"/>
                <a:cs typeface="Consolas" pitchFamily="34" charset="-120"/>
              </a:rPr>
              <a:t>(</a:t>
            </a:r>
            <a:r>
              <a:rPr lang="en-US" sz="950" dirty="0">
                <a:solidFill>
                  <a:srgbClr val="DCDCAA"/>
                </a:solidFill>
                <a:latin typeface="Consolas" pitchFamily="34" charset="0"/>
                <a:ea typeface="Consolas" pitchFamily="34" charset="-122"/>
                <a:cs typeface="Consolas" pitchFamily="34" charset="-120"/>
              </a:rPr>
              <a:t>TIMESTAMPDIFF</a:t>
            </a:r>
            <a:r>
              <a:rPr lang="en-US" sz="950" dirty="0">
                <a:solidFill>
                  <a:srgbClr val="9CDCFE"/>
                </a:solidFill>
                <a:latin typeface="Consolas" pitchFamily="34" charset="0"/>
                <a:ea typeface="Consolas" pitchFamily="34" charset="-122"/>
                <a:cs typeface="Consolas" pitchFamily="34" charset="-120"/>
              </a:rPr>
              <a:t>(YEAR, date_of_birth, </a:t>
            </a:r>
            <a:r>
              <a:rPr lang="en-US" sz="950" dirty="0">
                <a:solidFill>
                  <a:srgbClr val="DCDCAA"/>
                </a:solidFill>
                <a:latin typeface="Consolas" pitchFamily="34" charset="0"/>
                <a:ea typeface="Consolas" pitchFamily="34" charset="-122"/>
                <a:cs typeface="Consolas" pitchFamily="34" charset="-120"/>
              </a:rPr>
              <a:t>CURDATE</a:t>
            </a:r>
            <a:r>
              <a:rPr lang="en-US" sz="950" dirty="0">
                <a:solidFill>
                  <a:srgbClr val="9CDCFE"/>
                </a:solidFill>
                <a:latin typeface="Consolas" pitchFamily="34" charset="0"/>
                <a:ea typeface="Consolas" pitchFamily="34" charset="-122"/>
                <a:cs typeface="Consolas" pitchFamily="34" charset="-120"/>
              </a:rPr>
              <a:t>())) AS youngest_age,</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DCDCAA"/>
                </a:solidFill>
                <a:latin typeface="Consolas" pitchFamily="34" charset="0"/>
                <a:ea typeface="Consolas" pitchFamily="34" charset="-122"/>
                <a:cs typeface="Consolas" pitchFamily="34" charset="-120"/>
              </a:rPr>
              <a:t>MAX</a:t>
            </a:r>
            <a:r>
              <a:rPr lang="en-US" sz="950" dirty="0">
                <a:solidFill>
                  <a:srgbClr val="9CDCFE"/>
                </a:solidFill>
                <a:latin typeface="Consolas" pitchFamily="34" charset="0"/>
                <a:ea typeface="Consolas" pitchFamily="34" charset="-122"/>
                <a:cs typeface="Consolas" pitchFamily="34" charset="-120"/>
              </a:rPr>
              <a:t>(</a:t>
            </a:r>
            <a:r>
              <a:rPr lang="en-US" sz="950" dirty="0">
                <a:solidFill>
                  <a:srgbClr val="DCDCAA"/>
                </a:solidFill>
                <a:latin typeface="Consolas" pitchFamily="34" charset="0"/>
                <a:ea typeface="Consolas" pitchFamily="34" charset="-122"/>
                <a:cs typeface="Consolas" pitchFamily="34" charset="-120"/>
              </a:rPr>
              <a:t>TIMESTAMPDIFF</a:t>
            </a:r>
            <a:r>
              <a:rPr lang="en-US" sz="950" dirty="0">
                <a:solidFill>
                  <a:srgbClr val="9CDCFE"/>
                </a:solidFill>
                <a:latin typeface="Consolas" pitchFamily="34" charset="0"/>
                <a:ea typeface="Consolas" pitchFamily="34" charset="-122"/>
                <a:cs typeface="Consolas" pitchFamily="34" charset="-120"/>
              </a:rPr>
              <a:t>(YEAR, date_of_birth, </a:t>
            </a:r>
            <a:r>
              <a:rPr lang="en-US" sz="950" dirty="0">
                <a:solidFill>
                  <a:srgbClr val="DCDCAA"/>
                </a:solidFill>
                <a:latin typeface="Consolas" pitchFamily="34" charset="0"/>
                <a:ea typeface="Consolas" pitchFamily="34" charset="-122"/>
                <a:cs typeface="Consolas" pitchFamily="34" charset="-120"/>
              </a:rPr>
              <a:t>CURDATE</a:t>
            </a:r>
            <a:r>
              <a:rPr lang="en-US" sz="950" dirty="0">
                <a:solidFill>
                  <a:srgbClr val="9CDCFE"/>
                </a:solidFill>
                <a:latin typeface="Consolas" pitchFamily="34" charset="0"/>
                <a:ea typeface="Consolas" pitchFamily="34" charset="-122"/>
                <a:cs typeface="Consolas" pitchFamily="34" charset="-120"/>
              </a:rPr>
              <a:t>())) AS oldest_age
</a:t>
            </a:r>
            <a:r>
              <a:rPr lang="en-US" sz="950" b="1" dirty="0">
                <a:solidFill>
                  <a:srgbClr val="569CD6"/>
                </a:solidFill>
                <a:latin typeface="Consolas" pitchFamily="34" charset="0"/>
                <a:ea typeface="Consolas" pitchFamily="34" charset="-122"/>
                <a:cs typeface="Consolas" pitchFamily="34" charset="-120"/>
              </a:rPr>
              <a:t>FROM </a:t>
            </a:r>
            <a:r>
              <a:rPr lang="en-US" sz="950" dirty="0">
                <a:solidFill>
                  <a:srgbClr val="9CDCFE"/>
                </a:solidFill>
                <a:latin typeface="Consolas" pitchFamily="34" charset="0"/>
                <a:ea typeface="Consolas" pitchFamily="34" charset="-122"/>
                <a:cs typeface="Consolas" pitchFamily="34" charset="-120"/>
              </a:rPr>
              <a:t>customer_bio  </a:t>
            </a:r>
            <a:r>
              <a:rPr lang="en-US" sz="950" b="1" dirty="0">
                <a:solidFill>
                  <a:srgbClr val="569CD6"/>
                </a:solidFill>
                <a:latin typeface="Consolas" pitchFamily="34" charset="0"/>
                <a:ea typeface="Consolas" pitchFamily="34" charset="-122"/>
                <a:cs typeface="Consolas" pitchFamily="34" charset="-120"/>
              </a:rPr>
              <a:t>GROUP BY </a:t>
            </a:r>
            <a:r>
              <a:rPr lang="en-US" sz="950" dirty="0">
                <a:solidFill>
                  <a:srgbClr val="9CDCFE"/>
                </a:solidFill>
                <a:latin typeface="Consolas" pitchFamily="34" charset="0"/>
                <a:ea typeface="Consolas" pitchFamily="34" charset="-122"/>
                <a:cs typeface="Consolas" pitchFamily="34" charset="-120"/>
              </a:rPr>
              <a:t>gender;</a:t>
            </a:r>
            <a:endParaRPr lang="en-US" sz="950" dirty="0"/>
          </a:p>
        </p:txBody>
      </p:sp>
      <p:sp>
        <p:nvSpPr>
          <p:cNvPr id="13" name="Shape 11"/>
          <p:cNvSpPr/>
          <p:nvPr/>
        </p:nvSpPr>
        <p:spPr>
          <a:xfrm>
            <a:off x="228600" y="4242816"/>
            <a:ext cx="8686800" cy="475488"/>
          </a:xfrm>
          <a:prstGeom prst="rect">
            <a:avLst/>
          </a:prstGeom>
          <a:solidFill>
            <a:srgbClr val="0D2137"/>
          </a:solidFill>
          <a:ln w="5080">
            <a:solidFill>
              <a:srgbClr val="CDD5DF"/>
            </a:solidFill>
            <a:prstDash val="solid"/>
          </a:ln>
          <a:effectLst>
            <a:outerShdw blurRad="101600" dist="38100" dir="8100000" algn="bl" rotWithShape="0">
              <a:srgbClr val="000000">
                <a:alpha val="18000"/>
              </a:srgbClr>
            </a:outerShdw>
          </a:effectLst>
        </p:spPr>
      </p:sp>
      <p:sp>
        <p:nvSpPr>
          <p:cNvPr id="14" name="Text 12"/>
          <p:cNvSpPr/>
          <p:nvPr/>
        </p:nvSpPr>
        <p:spPr>
          <a:xfrm>
            <a:off x="347472" y="4242816"/>
            <a:ext cx="8412480" cy="475488"/>
          </a:xfrm>
          <a:prstGeom prst="rect">
            <a:avLst/>
          </a:prstGeom>
          <a:noFill/>
          <a:ln/>
        </p:spPr>
        <p:txBody>
          <a:bodyPr wrap="square" rtlCol="0" anchor="ctr"/>
          <a:lstStyle/>
          <a:p>
            <a:pPr marL="0" indent="0">
              <a:buNone/>
            </a:pPr>
            <a:r>
              <a:rPr lang="en-US" sz="920" b="1" dirty="0">
                <a:solidFill>
                  <a:srgbClr val="F5C842"/>
                </a:solidFill>
                <a:latin typeface="Calibri" pitchFamily="34" charset="0"/>
                <a:ea typeface="Calibri" pitchFamily="34" charset="-122"/>
                <a:cs typeface="Calibri" pitchFamily="34" charset="-120"/>
              </a:rPr>
              <a:t>Expected Q3 Result (from data):  </a:t>
            </a:r>
            <a:r>
              <a:rPr lang="en-US" sz="920" dirty="0">
                <a:solidFill>
                  <a:srgbClr val="CDD5DF"/>
                </a:solidFill>
                <a:latin typeface="Calibri" pitchFamily="34" charset="0"/>
                <a:ea typeface="Calibri" pitchFamily="34" charset="-122"/>
                <a:cs typeface="Calibri" pitchFamily="34" charset="-120"/>
              </a:rPr>
              <a:t>Branch 101 has the most accounts (9).  Branch 105 has the highest avg balance ($15,450).  </a:t>
            </a:r>
            <a:r>
              <a:rPr lang="en-US" sz="920" b="1" dirty="0">
                <a:solidFill>
                  <a:srgbClr val="12B5C4"/>
                </a:solidFill>
                <a:latin typeface="Calibri" pitchFamily="34" charset="0"/>
                <a:ea typeface="Calibri" pitchFamily="34" charset="-122"/>
                <a:cs typeface="Calibri" pitchFamily="34" charset="-120"/>
              </a:rPr>
              <a:t>Expected Q4 Result:  </a:t>
            </a:r>
            <a:r>
              <a:rPr lang="en-US" sz="920" dirty="0">
                <a:solidFill>
                  <a:srgbClr val="CDD5DF"/>
                </a:solidFill>
                <a:latin typeface="Calibri" pitchFamily="34" charset="0"/>
                <a:ea typeface="Calibri" pitchFamily="34" charset="-122"/>
                <a:cs typeface="Calibri" pitchFamily="34" charset="-120"/>
              </a:rPr>
              <a:t>15 male customers (avg age ~37)  ·  14 female customers (avg age ~35)  ·  Ashley Robinson (1996) is youngest  ·  Linda Dauda (1975) is oldest</a:t>
            </a:r>
            <a:endParaRPr lang="en-US" sz="920" dirty="0"/>
          </a:p>
        </p:txBody>
      </p:sp>
      <p:sp>
        <p:nvSpPr>
          <p:cNvPr id="15" name="Shape 13"/>
          <p:cNvSpPr/>
          <p:nvPr/>
        </p:nvSpPr>
        <p:spPr>
          <a:xfrm>
            <a:off x="0" y="4892040"/>
            <a:ext cx="9144000" cy="251460"/>
          </a:xfrm>
          <a:prstGeom prst="rect">
            <a:avLst/>
          </a:prstGeom>
          <a:solidFill>
            <a:srgbClr val="0F1923"/>
          </a:solidFill>
          <a:ln w="12700">
            <a:solidFill>
              <a:srgbClr val="0F1923"/>
            </a:solidFill>
            <a:prstDash val="solid"/>
          </a:ln>
        </p:spPr>
      </p:sp>
      <p:sp>
        <p:nvSpPr>
          <p:cNvPr id="16" name="Text 14"/>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17" name="Text 15"/>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2F5F9"/>
        </a:solidFill>
        <a:effectLst/>
      </p:bgPr>
    </p:bg>
    <p:spTree>
      <p:nvGrpSpPr>
        <p:cNvPr id="1" name=""/>
        <p:cNvGrpSpPr/>
        <p:nvPr/>
      </p:nvGrpSpPr>
      <p:grpSpPr>
        <a:xfrm>
          <a:off x="0" y="0"/>
          <a:ext cx="0" cy="0"/>
          <a:chOff x="0" y="0"/>
          <a:chExt cx="0" cy="0"/>
        </a:xfrm>
      </p:grpSpPr>
      <p:sp>
        <p:nvSpPr>
          <p:cNvPr id="2" name="Text 0"/>
          <p:cNvSpPr/>
          <p:nvPr/>
        </p:nvSpPr>
        <p:spPr>
          <a:xfrm>
            <a:off x="228600" y="137160"/>
            <a:ext cx="8686800" cy="530352"/>
          </a:xfrm>
          <a:prstGeom prst="rect">
            <a:avLst/>
          </a:prstGeom>
          <a:noFill/>
          <a:ln/>
        </p:spPr>
        <p:txBody>
          <a:bodyPr wrap="square" rtlCol="0" anchor="ctr"/>
          <a:lstStyle/>
          <a:p>
            <a:pPr marL="0" indent="0">
              <a:buNone/>
            </a:pPr>
            <a:r>
              <a:rPr lang="en-US" sz="2700" b="1" dirty="0">
                <a:solidFill>
                  <a:srgbClr val="0F1923"/>
                </a:solidFill>
                <a:latin typeface="Calibri" pitchFamily="34" charset="0"/>
                <a:ea typeface="Calibri" pitchFamily="34" charset="-122"/>
                <a:cs typeface="Calibri" pitchFamily="34" charset="-120"/>
              </a:rPr>
              <a:t>Data Insights — What the Dataset Reveals</a:t>
            </a:r>
            <a:endParaRPr lang="en-US" sz="2700" dirty="0"/>
          </a:p>
        </p:txBody>
      </p:sp>
      <p:sp>
        <p:nvSpPr>
          <p:cNvPr id="3" name="Shape 1"/>
          <p:cNvSpPr/>
          <p:nvPr/>
        </p:nvSpPr>
        <p:spPr>
          <a:xfrm>
            <a:off x="228600" y="749808"/>
            <a:ext cx="8686800" cy="256032"/>
          </a:xfrm>
          <a:prstGeom prst="rect">
            <a:avLst/>
          </a:prstGeom>
          <a:solidFill>
            <a:srgbClr val="0A7E8C"/>
          </a:solidFill>
          <a:ln w="12700">
            <a:solidFill>
              <a:srgbClr val="0A7E8C"/>
            </a:solidFill>
            <a:prstDash val="solid"/>
          </a:ln>
        </p:spPr>
      </p:sp>
      <p:sp>
        <p:nvSpPr>
          <p:cNvPr id="4" name="Text 2"/>
          <p:cNvSpPr/>
          <p:nvPr/>
        </p:nvSpPr>
        <p:spPr>
          <a:xfrm>
            <a:off x="347472" y="749808"/>
            <a:ext cx="8412480" cy="256032"/>
          </a:xfrm>
          <a:prstGeom prst="rect">
            <a:avLst/>
          </a:prstGeom>
          <a:noFill/>
          <a:ln/>
        </p:spPr>
        <p:txBody>
          <a:bodyPr wrap="square"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ANALYTICAL OBSERVATIONS FROM ACTUAL DATA</a:t>
            </a:r>
            <a:endParaRPr lang="en-US" sz="950" dirty="0"/>
          </a:p>
        </p:txBody>
      </p:sp>
      <p:graphicFrame>
        <p:nvGraphicFramePr>
          <p:cNvPr id="5" name="Chart 0"/>
          <p:cNvGraphicFramePr/>
          <p:nvPr/>
        </p:nvGraphicFramePr>
        <p:xfrm>
          <a:off x="228600" y="1115568"/>
          <a:ext cx="530352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15000" y="1115568"/>
            <a:ext cx="3200400" cy="3337560"/>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7" name="Shape 4"/>
          <p:cNvSpPr/>
          <p:nvPr/>
        </p:nvSpPr>
        <p:spPr>
          <a:xfrm>
            <a:off x="5715000" y="1115568"/>
            <a:ext cx="3200400" cy="310896"/>
          </a:xfrm>
          <a:prstGeom prst="rect">
            <a:avLst/>
          </a:prstGeom>
          <a:solidFill>
            <a:srgbClr val="1B4F72"/>
          </a:solidFill>
          <a:ln w="12700">
            <a:solidFill>
              <a:srgbClr val="1B4F72"/>
            </a:solidFill>
            <a:prstDash val="solid"/>
          </a:ln>
        </p:spPr>
      </p:sp>
      <p:sp>
        <p:nvSpPr>
          <p:cNvPr id="8" name="Text 5"/>
          <p:cNvSpPr/>
          <p:nvPr/>
        </p:nvSpPr>
        <p:spPr>
          <a:xfrm>
            <a:off x="5806440" y="1115568"/>
            <a:ext cx="301752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Key Dataset Insights</a:t>
            </a:r>
            <a:endParaRPr lang="en-US" sz="1100" dirty="0"/>
          </a:p>
        </p:txBody>
      </p:sp>
      <p:sp>
        <p:nvSpPr>
          <p:cNvPr id="9" name="Text 6"/>
          <p:cNvSpPr/>
          <p:nvPr/>
        </p:nvSpPr>
        <p:spPr>
          <a:xfrm>
            <a:off x="5806440" y="1499616"/>
            <a:ext cx="1828800" cy="274320"/>
          </a:xfrm>
          <a:prstGeom prst="rect">
            <a:avLst/>
          </a:prstGeom>
          <a:noFill/>
          <a:ln/>
        </p:spPr>
        <p:txBody>
          <a:bodyPr wrap="square" rtlCol="0" anchor="ctr"/>
          <a:lstStyle/>
          <a:p>
            <a:pPr marL="0" indent="0">
              <a:buNone/>
            </a:pPr>
            <a:r>
              <a:rPr lang="en-US" sz="950" b="1" dirty="0">
                <a:solidFill>
                  <a:srgbClr val="0F1923"/>
                </a:solidFill>
                <a:latin typeface="Calibri" pitchFamily="34" charset="0"/>
                <a:ea typeface="Calibri" pitchFamily="34" charset="-122"/>
                <a:cs typeface="Calibri" pitchFamily="34" charset="-120"/>
              </a:rPr>
              <a:t>Total Accounts:</a:t>
            </a:r>
            <a:endParaRPr lang="en-US" sz="950" dirty="0"/>
          </a:p>
        </p:txBody>
      </p:sp>
      <p:sp>
        <p:nvSpPr>
          <p:cNvPr id="10" name="Text 7"/>
          <p:cNvSpPr/>
          <p:nvPr/>
        </p:nvSpPr>
        <p:spPr>
          <a:xfrm>
            <a:off x="7635240" y="1499616"/>
            <a:ext cx="1170432" cy="274320"/>
          </a:xfrm>
          <a:prstGeom prst="rect">
            <a:avLst/>
          </a:prstGeom>
          <a:noFill/>
          <a:ln/>
        </p:spPr>
        <p:txBody>
          <a:bodyPr wrap="square" rtlCol="0" anchor="ctr"/>
          <a:lstStyle/>
          <a:p>
            <a:pPr marL="0" indent="0" algn="r">
              <a:buNone/>
            </a:pPr>
            <a:r>
              <a:rPr lang="en-US" sz="950" b="1" dirty="0">
                <a:solidFill>
                  <a:srgbClr val="0A7E8C"/>
                </a:solidFill>
                <a:latin typeface="Calibri" pitchFamily="34" charset="0"/>
                <a:ea typeface="Calibri" pitchFamily="34" charset="-122"/>
                <a:cs typeface="Calibri" pitchFamily="34" charset="-120"/>
              </a:rPr>
              <a:t>29 records</a:t>
            </a:r>
            <a:endParaRPr lang="en-US" sz="950" dirty="0"/>
          </a:p>
        </p:txBody>
      </p:sp>
      <p:sp>
        <p:nvSpPr>
          <p:cNvPr id="11" name="Shape 8"/>
          <p:cNvSpPr/>
          <p:nvPr/>
        </p:nvSpPr>
        <p:spPr>
          <a:xfrm>
            <a:off x="5806440" y="1773936"/>
            <a:ext cx="2999232" cy="9144"/>
          </a:xfrm>
          <a:prstGeom prst="rect">
            <a:avLst/>
          </a:prstGeom>
          <a:solidFill>
            <a:srgbClr val="CDD5DF"/>
          </a:solidFill>
          <a:ln w="12700">
            <a:solidFill>
              <a:srgbClr val="CDD5DF"/>
            </a:solidFill>
            <a:prstDash val="solid"/>
          </a:ln>
        </p:spPr>
      </p:sp>
      <p:sp>
        <p:nvSpPr>
          <p:cNvPr id="12" name="Text 9"/>
          <p:cNvSpPr/>
          <p:nvPr/>
        </p:nvSpPr>
        <p:spPr>
          <a:xfrm>
            <a:off x="5806440" y="1819656"/>
            <a:ext cx="1828800" cy="274320"/>
          </a:xfrm>
          <a:prstGeom prst="rect">
            <a:avLst/>
          </a:prstGeom>
          <a:noFill/>
          <a:ln/>
        </p:spPr>
        <p:txBody>
          <a:bodyPr wrap="square" rtlCol="0" anchor="ctr"/>
          <a:lstStyle/>
          <a:p>
            <a:pPr marL="0" indent="0">
              <a:buNone/>
            </a:pPr>
            <a:r>
              <a:rPr lang="en-US" sz="950" b="1" dirty="0">
                <a:solidFill>
                  <a:srgbClr val="0F1923"/>
                </a:solidFill>
                <a:latin typeface="Calibri" pitchFamily="34" charset="0"/>
                <a:ea typeface="Calibri" pitchFamily="34" charset="-122"/>
                <a:cs typeface="Calibri" pitchFamily="34" charset="-120"/>
              </a:rPr>
              <a:t>Active Accounts:</a:t>
            </a:r>
            <a:endParaRPr lang="en-US" sz="950" dirty="0"/>
          </a:p>
        </p:txBody>
      </p:sp>
      <p:sp>
        <p:nvSpPr>
          <p:cNvPr id="13" name="Text 10"/>
          <p:cNvSpPr/>
          <p:nvPr/>
        </p:nvSpPr>
        <p:spPr>
          <a:xfrm>
            <a:off x="7635240" y="1819656"/>
            <a:ext cx="1170432" cy="274320"/>
          </a:xfrm>
          <a:prstGeom prst="rect">
            <a:avLst/>
          </a:prstGeom>
          <a:noFill/>
          <a:ln/>
        </p:spPr>
        <p:txBody>
          <a:bodyPr wrap="square" rtlCol="0" anchor="ctr"/>
          <a:lstStyle/>
          <a:p>
            <a:pPr marL="0" indent="0" algn="r">
              <a:buNone/>
            </a:pPr>
            <a:r>
              <a:rPr lang="en-US" sz="950" b="1" dirty="0">
                <a:solidFill>
                  <a:srgbClr val="1A7A4A"/>
                </a:solidFill>
                <a:latin typeface="Calibri" pitchFamily="34" charset="0"/>
                <a:ea typeface="Calibri" pitchFamily="34" charset="-122"/>
                <a:cs typeface="Calibri" pitchFamily="34" charset="-120"/>
              </a:rPr>
              <a:t>28 (96.6%)</a:t>
            </a:r>
            <a:endParaRPr lang="en-US" sz="950" dirty="0"/>
          </a:p>
        </p:txBody>
      </p:sp>
      <p:sp>
        <p:nvSpPr>
          <p:cNvPr id="14" name="Shape 11"/>
          <p:cNvSpPr/>
          <p:nvPr/>
        </p:nvSpPr>
        <p:spPr>
          <a:xfrm>
            <a:off x="5806440" y="2093976"/>
            <a:ext cx="2999232" cy="9144"/>
          </a:xfrm>
          <a:prstGeom prst="rect">
            <a:avLst/>
          </a:prstGeom>
          <a:solidFill>
            <a:srgbClr val="CDD5DF"/>
          </a:solidFill>
          <a:ln w="12700">
            <a:solidFill>
              <a:srgbClr val="CDD5DF"/>
            </a:solidFill>
            <a:prstDash val="solid"/>
          </a:ln>
        </p:spPr>
      </p:sp>
      <p:sp>
        <p:nvSpPr>
          <p:cNvPr id="15" name="Text 12"/>
          <p:cNvSpPr/>
          <p:nvPr/>
        </p:nvSpPr>
        <p:spPr>
          <a:xfrm>
            <a:off x="5806440" y="2139696"/>
            <a:ext cx="1828800" cy="274320"/>
          </a:xfrm>
          <a:prstGeom prst="rect">
            <a:avLst/>
          </a:prstGeom>
          <a:noFill/>
          <a:ln/>
        </p:spPr>
        <p:txBody>
          <a:bodyPr wrap="square" rtlCol="0" anchor="ctr"/>
          <a:lstStyle/>
          <a:p>
            <a:pPr marL="0" indent="0">
              <a:buNone/>
            </a:pPr>
            <a:r>
              <a:rPr lang="en-US" sz="950" b="1" dirty="0">
                <a:solidFill>
                  <a:srgbClr val="0F1923"/>
                </a:solidFill>
                <a:latin typeface="Calibri" pitchFamily="34" charset="0"/>
                <a:ea typeface="Calibri" pitchFamily="34" charset="-122"/>
                <a:cs typeface="Calibri" pitchFamily="34" charset="-120"/>
              </a:rPr>
              <a:t>Inactive Accounts:</a:t>
            </a:r>
            <a:endParaRPr lang="en-US" sz="950" dirty="0"/>
          </a:p>
        </p:txBody>
      </p:sp>
      <p:sp>
        <p:nvSpPr>
          <p:cNvPr id="16" name="Text 13"/>
          <p:cNvSpPr/>
          <p:nvPr/>
        </p:nvSpPr>
        <p:spPr>
          <a:xfrm>
            <a:off x="7635240" y="2139696"/>
            <a:ext cx="1170432" cy="274320"/>
          </a:xfrm>
          <a:prstGeom prst="rect">
            <a:avLst/>
          </a:prstGeom>
          <a:noFill/>
          <a:ln/>
        </p:spPr>
        <p:txBody>
          <a:bodyPr wrap="square" rtlCol="0" anchor="ctr"/>
          <a:lstStyle/>
          <a:p>
            <a:pPr marL="0" indent="0" algn="r">
              <a:buNone/>
            </a:pPr>
            <a:r>
              <a:rPr lang="en-US" sz="950" b="1" dirty="0">
                <a:solidFill>
                  <a:srgbClr val="A93226"/>
                </a:solidFill>
                <a:latin typeface="Calibri" pitchFamily="34" charset="0"/>
                <a:ea typeface="Calibri" pitchFamily="34" charset="-122"/>
                <a:cs typeface="Calibri" pitchFamily="34" charset="-120"/>
              </a:rPr>
              <a:t>1 (CID-1006)</a:t>
            </a:r>
            <a:endParaRPr lang="en-US" sz="950" dirty="0"/>
          </a:p>
        </p:txBody>
      </p:sp>
      <p:sp>
        <p:nvSpPr>
          <p:cNvPr id="17" name="Shape 14"/>
          <p:cNvSpPr/>
          <p:nvPr/>
        </p:nvSpPr>
        <p:spPr>
          <a:xfrm>
            <a:off x="5806440" y="2414016"/>
            <a:ext cx="2999232" cy="9144"/>
          </a:xfrm>
          <a:prstGeom prst="rect">
            <a:avLst/>
          </a:prstGeom>
          <a:solidFill>
            <a:srgbClr val="CDD5DF"/>
          </a:solidFill>
          <a:ln w="12700">
            <a:solidFill>
              <a:srgbClr val="CDD5DF"/>
            </a:solidFill>
            <a:prstDash val="solid"/>
          </a:ln>
        </p:spPr>
      </p:sp>
      <p:sp>
        <p:nvSpPr>
          <p:cNvPr id="18" name="Text 15"/>
          <p:cNvSpPr/>
          <p:nvPr/>
        </p:nvSpPr>
        <p:spPr>
          <a:xfrm>
            <a:off x="5806440" y="2459736"/>
            <a:ext cx="1828800" cy="274320"/>
          </a:xfrm>
          <a:prstGeom prst="rect">
            <a:avLst/>
          </a:prstGeom>
          <a:noFill/>
          <a:ln/>
        </p:spPr>
        <p:txBody>
          <a:bodyPr wrap="square" rtlCol="0" anchor="ctr"/>
          <a:lstStyle/>
          <a:p>
            <a:pPr marL="0" indent="0">
              <a:buNone/>
            </a:pPr>
            <a:r>
              <a:rPr lang="en-US" sz="950" b="1" dirty="0">
                <a:solidFill>
                  <a:srgbClr val="0F1923"/>
                </a:solidFill>
                <a:latin typeface="Calibri" pitchFamily="34" charset="0"/>
                <a:ea typeface="Calibri" pitchFamily="34" charset="-122"/>
                <a:cs typeface="Calibri" pitchFamily="34" charset="-120"/>
              </a:rPr>
              <a:t>Savings Accounts:</a:t>
            </a:r>
            <a:endParaRPr lang="en-US" sz="950" dirty="0"/>
          </a:p>
        </p:txBody>
      </p:sp>
      <p:sp>
        <p:nvSpPr>
          <p:cNvPr id="19" name="Text 16"/>
          <p:cNvSpPr/>
          <p:nvPr/>
        </p:nvSpPr>
        <p:spPr>
          <a:xfrm>
            <a:off x="7635240" y="2459736"/>
            <a:ext cx="1170432" cy="274320"/>
          </a:xfrm>
          <a:prstGeom prst="rect">
            <a:avLst/>
          </a:prstGeom>
          <a:noFill/>
          <a:ln/>
        </p:spPr>
        <p:txBody>
          <a:bodyPr wrap="square" rtlCol="0" anchor="ctr"/>
          <a:lstStyle/>
          <a:p>
            <a:pPr marL="0" indent="0" algn="r">
              <a:buNone/>
            </a:pPr>
            <a:r>
              <a:rPr lang="en-US" sz="950" b="1" dirty="0">
                <a:solidFill>
                  <a:srgbClr val="0A7E8C"/>
                </a:solidFill>
                <a:latin typeface="Calibri" pitchFamily="34" charset="0"/>
                <a:ea typeface="Calibri" pitchFamily="34" charset="-122"/>
                <a:cs typeface="Calibri" pitchFamily="34" charset="-120"/>
              </a:rPr>
              <a:t>21 (72.4%)</a:t>
            </a:r>
            <a:endParaRPr lang="en-US" sz="950" dirty="0"/>
          </a:p>
        </p:txBody>
      </p:sp>
      <p:sp>
        <p:nvSpPr>
          <p:cNvPr id="20" name="Shape 17"/>
          <p:cNvSpPr/>
          <p:nvPr/>
        </p:nvSpPr>
        <p:spPr>
          <a:xfrm>
            <a:off x="5806440" y="2734056"/>
            <a:ext cx="2999232" cy="9144"/>
          </a:xfrm>
          <a:prstGeom prst="rect">
            <a:avLst/>
          </a:prstGeom>
          <a:solidFill>
            <a:srgbClr val="CDD5DF"/>
          </a:solidFill>
          <a:ln w="12700">
            <a:solidFill>
              <a:srgbClr val="CDD5DF"/>
            </a:solidFill>
            <a:prstDash val="solid"/>
          </a:ln>
        </p:spPr>
      </p:sp>
      <p:sp>
        <p:nvSpPr>
          <p:cNvPr id="21" name="Text 18"/>
          <p:cNvSpPr/>
          <p:nvPr/>
        </p:nvSpPr>
        <p:spPr>
          <a:xfrm>
            <a:off x="5806440" y="2779776"/>
            <a:ext cx="1828800" cy="274320"/>
          </a:xfrm>
          <a:prstGeom prst="rect">
            <a:avLst/>
          </a:prstGeom>
          <a:noFill/>
          <a:ln/>
        </p:spPr>
        <p:txBody>
          <a:bodyPr wrap="square" rtlCol="0" anchor="ctr"/>
          <a:lstStyle/>
          <a:p>
            <a:pPr marL="0" indent="0">
              <a:buNone/>
            </a:pPr>
            <a:r>
              <a:rPr lang="en-US" sz="950" b="1" dirty="0">
                <a:solidFill>
                  <a:srgbClr val="0F1923"/>
                </a:solidFill>
                <a:latin typeface="Calibri" pitchFamily="34" charset="0"/>
                <a:ea typeface="Calibri" pitchFamily="34" charset="-122"/>
                <a:cs typeface="Calibri" pitchFamily="34" charset="-120"/>
              </a:rPr>
              <a:t>Current Accounts:</a:t>
            </a:r>
            <a:endParaRPr lang="en-US" sz="950" dirty="0"/>
          </a:p>
        </p:txBody>
      </p:sp>
      <p:sp>
        <p:nvSpPr>
          <p:cNvPr id="22" name="Text 19"/>
          <p:cNvSpPr/>
          <p:nvPr/>
        </p:nvSpPr>
        <p:spPr>
          <a:xfrm>
            <a:off x="7635240" y="2779776"/>
            <a:ext cx="1170432" cy="274320"/>
          </a:xfrm>
          <a:prstGeom prst="rect">
            <a:avLst/>
          </a:prstGeom>
          <a:noFill/>
          <a:ln/>
        </p:spPr>
        <p:txBody>
          <a:bodyPr wrap="square" rtlCol="0" anchor="ctr"/>
          <a:lstStyle/>
          <a:p>
            <a:pPr marL="0" indent="0" algn="r">
              <a:buNone/>
            </a:pPr>
            <a:r>
              <a:rPr lang="en-US" sz="950" b="1" dirty="0">
                <a:solidFill>
                  <a:srgbClr val="1B4F72"/>
                </a:solidFill>
                <a:latin typeface="Calibri" pitchFamily="34" charset="0"/>
                <a:ea typeface="Calibri" pitchFamily="34" charset="-122"/>
                <a:cs typeface="Calibri" pitchFamily="34" charset="-120"/>
              </a:rPr>
              <a:t>8 (27.6%)</a:t>
            </a:r>
            <a:endParaRPr lang="en-US" sz="950" dirty="0"/>
          </a:p>
        </p:txBody>
      </p:sp>
      <p:sp>
        <p:nvSpPr>
          <p:cNvPr id="23" name="Shape 20"/>
          <p:cNvSpPr/>
          <p:nvPr/>
        </p:nvSpPr>
        <p:spPr>
          <a:xfrm>
            <a:off x="5806440" y="3054096"/>
            <a:ext cx="2999232" cy="9144"/>
          </a:xfrm>
          <a:prstGeom prst="rect">
            <a:avLst/>
          </a:prstGeom>
          <a:solidFill>
            <a:srgbClr val="CDD5DF"/>
          </a:solidFill>
          <a:ln w="12700">
            <a:solidFill>
              <a:srgbClr val="CDD5DF"/>
            </a:solidFill>
            <a:prstDash val="solid"/>
          </a:ln>
        </p:spPr>
      </p:sp>
      <p:sp>
        <p:nvSpPr>
          <p:cNvPr id="24" name="Text 21"/>
          <p:cNvSpPr/>
          <p:nvPr/>
        </p:nvSpPr>
        <p:spPr>
          <a:xfrm>
            <a:off x="5806440" y="3099816"/>
            <a:ext cx="1828800" cy="274320"/>
          </a:xfrm>
          <a:prstGeom prst="rect">
            <a:avLst/>
          </a:prstGeom>
          <a:noFill/>
          <a:ln/>
        </p:spPr>
        <p:txBody>
          <a:bodyPr wrap="square" rtlCol="0" anchor="ctr"/>
          <a:lstStyle/>
          <a:p>
            <a:pPr marL="0" indent="0">
              <a:buNone/>
            </a:pPr>
            <a:r>
              <a:rPr lang="en-US" sz="950" b="1" dirty="0">
                <a:solidFill>
                  <a:srgbClr val="0F1923"/>
                </a:solidFill>
                <a:latin typeface="Calibri" pitchFamily="34" charset="0"/>
                <a:ea typeface="Calibri" pitchFamily="34" charset="-122"/>
                <a:cs typeface="Calibri" pitchFamily="34" charset="-120"/>
              </a:rPr>
              <a:t>Total Deposits:</a:t>
            </a:r>
            <a:endParaRPr lang="en-US" sz="950" dirty="0"/>
          </a:p>
        </p:txBody>
      </p:sp>
      <p:sp>
        <p:nvSpPr>
          <p:cNvPr id="25" name="Text 22"/>
          <p:cNvSpPr/>
          <p:nvPr/>
        </p:nvSpPr>
        <p:spPr>
          <a:xfrm>
            <a:off x="7635240" y="3099816"/>
            <a:ext cx="1170432" cy="274320"/>
          </a:xfrm>
          <a:prstGeom prst="rect">
            <a:avLst/>
          </a:prstGeom>
          <a:noFill/>
          <a:ln/>
        </p:spPr>
        <p:txBody>
          <a:bodyPr wrap="square" rtlCol="0" anchor="ctr"/>
          <a:lstStyle/>
          <a:p>
            <a:pPr marL="0" indent="0" algn="r">
              <a:buNone/>
            </a:pPr>
            <a:r>
              <a:rPr lang="en-US" sz="950" b="1" dirty="0">
                <a:solidFill>
                  <a:srgbClr val="C8922A"/>
                </a:solidFill>
                <a:latin typeface="Calibri" pitchFamily="34" charset="0"/>
                <a:ea typeface="Calibri" pitchFamily="34" charset="-122"/>
                <a:cs typeface="Calibri" pitchFamily="34" charset="-120"/>
              </a:rPr>
              <a:t>~$183,000</a:t>
            </a:r>
            <a:endParaRPr lang="en-US" sz="950" dirty="0"/>
          </a:p>
        </p:txBody>
      </p:sp>
      <p:sp>
        <p:nvSpPr>
          <p:cNvPr id="26" name="Shape 23"/>
          <p:cNvSpPr/>
          <p:nvPr/>
        </p:nvSpPr>
        <p:spPr>
          <a:xfrm>
            <a:off x="5806440" y="3374136"/>
            <a:ext cx="2999232" cy="9144"/>
          </a:xfrm>
          <a:prstGeom prst="rect">
            <a:avLst/>
          </a:prstGeom>
          <a:solidFill>
            <a:srgbClr val="CDD5DF"/>
          </a:solidFill>
          <a:ln w="12700">
            <a:solidFill>
              <a:srgbClr val="CDD5DF"/>
            </a:solidFill>
            <a:prstDash val="solid"/>
          </a:ln>
        </p:spPr>
      </p:sp>
      <p:sp>
        <p:nvSpPr>
          <p:cNvPr id="27" name="Text 24"/>
          <p:cNvSpPr/>
          <p:nvPr/>
        </p:nvSpPr>
        <p:spPr>
          <a:xfrm>
            <a:off x="5806440" y="3419856"/>
            <a:ext cx="1828800" cy="274320"/>
          </a:xfrm>
          <a:prstGeom prst="rect">
            <a:avLst/>
          </a:prstGeom>
          <a:noFill/>
          <a:ln/>
        </p:spPr>
        <p:txBody>
          <a:bodyPr wrap="square" rtlCol="0" anchor="ctr"/>
          <a:lstStyle/>
          <a:p>
            <a:pPr marL="0" indent="0">
              <a:buNone/>
            </a:pPr>
            <a:r>
              <a:rPr lang="en-US" sz="950" b="1" dirty="0">
                <a:solidFill>
                  <a:srgbClr val="0F1923"/>
                </a:solidFill>
                <a:latin typeface="Calibri" pitchFamily="34" charset="0"/>
                <a:ea typeface="Calibri" pitchFamily="34" charset="-122"/>
                <a:cs typeface="Calibri" pitchFamily="34" charset="-120"/>
              </a:rPr>
              <a:t>Average Balance:</a:t>
            </a:r>
            <a:endParaRPr lang="en-US" sz="950" dirty="0"/>
          </a:p>
        </p:txBody>
      </p:sp>
      <p:sp>
        <p:nvSpPr>
          <p:cNvPr id="28" name="Text 25"/>
          <p:cNvSpPr/>
          <p:nvPr/>
        </p:nvSpPr>
        <p:spPr>
          <a:xfrm>
            <a:off x="7635240" y="3419856"/>
            <a:ext cx="1170432" cy="274320"/>
          </a:xfrm>
          <a:prstGeom prst="rect">
            <a:avLst/>
          </a:prstGeom>
          <a:noFill/>
          <a:ln/>
        </p:spPr>
        <p:txBody>
          <a:bodyPr wrap="square" rtlCol="0" anchor="ctr"/>
          <a:lstStyle/>
          <a:p>
            <a:pPr marL="0" indent="0" algn="r">
              <a:buNone/>
            </a:pPr>
            <a:r>
              <a:rPr lang="en-US" sz="950" b="1" dirty="0">
                <a:solidFill>
                  <a:srgbClr val="6C3483"/>
                </a:solidFill>
                <a:latin typeface="Calibri" pitchFamily="34" charset="0"/>
                <a:ea typeface="Calibri" pitchFamily="34" charset="-122"/>
                <a:cs typeface="Calibri" pitchFamily="34" charset="-120"/>
              </a:rPr>
              <a:t>~$6,312</a:t>
            </a:r>
            <a:endParaRPr lang="en-US" sz="950" dirty="0"/>
          </a:p>
        </p:txBody>
      </p:sp>
      <p:sp>
        <p:nvSpPr>
          <p:cNvPr id="29" name="Shape 26"/>
          <p:cNvSpPr/>
          <p:nvPr/>
        </p:nvSpPr>
        <p:spPr>
          <a:xfrm>
            <a:off x="5806440" y="3694176"/>
            <a:ext cx="2999232" cy="9144"/>
          </a:xfrm>
          <a:prstGeom prst="rect">
            <a:avLst/>
          </a:prstGeom>
          <a:solidFill>
            <a:srgbClr val="CDD5DF"/>
          </a:solidFill>
          <a:ln w="12700">
            <a:solidFill>
              <a:srgbClr val="CDD5DF"/>
            </a:solidFill>
            <a:prstDash val="solid"/>
          </a:ln>
        </p:spPr>
      </p:sp>
      <p:sp>
        <p:nvSpPr>
          <p:cNvPr id="30" name="Text 27"/>
          <p:cNvSpPr/>
          <p:nvPr/>
        </p:nvSpPr>
        <p:spPr>
          <a:xfrm>
            <a:off x="5806440" y="3739896"/>
            <a:ext cx="1828800" cy="274320"/>
          </a:xfrm>
          <a:prstGeom prst="rect">
            <a:avLst/>
          </a:prstGeom>
          <a:noFill/>
          <a:ln/>
        </p:spPr>
        <p:txBody>
          <a:bodyPr wrap="square" rtlCol="0" anchor="ctr"/>
          <a:lstStyle/>
          <a:p>
            <a:pPr marL="0" indent="0">
              <a:buNone/>
            </a:pPr>
            <a:r>
              <a:rPr lang="en-US" sz="950" b="1" dirty="0">
                <a:solidFill>
                  <a:srgbClr val="0F1923"/>
                </a:solidFill>
                <a:latin typeface="Calibri" pitchFamily="34" charset="0"/>
                <a:ea typeface="Calibri" pitchFamily="34" charset="-122"/>
                <a:cs typeface="Calibri" pitchFamily="34" charset="-120"/>
              </a:rPr>
              <a:t>Highest Balance:</a:t>
            </a:r>
            <a:endParaRPr lang="en-US" sz="950" dirty="0"/>
          </a:p>
        </p:txBody>
      </p:sp>
      <p:sp>
        <p:nvSpPr>
          <p:cNvPr id="31" name="Text 28"/>
          <p:cNvSpPr/>
          <p:nvPr/>
        </p:nvSpPr>
        <p:spPr>
          <a:xfrm>
            <a:off x="7635240" y="3739896"/>
            <a:ext cx="1170432" cy="274320"/>
          </a:xfrm>
          <a:prstGeom prst="rect">
            <a:avLst/>
          </a:prstGeom>
          <a:noFill/>
          <a:ln/>
        </p:spPr>
        <p:txBody>
          <a:bodyPr wrap="square" rtlCol="0" anchor="ctr"/>
          <a:lstStyle/>
          <a:p>
            <a:pPr marL="0" indent="0" algn="r">
              <a:buNone/>
            </a:pPr>
            <a:r>
              <a:rPr lang="en-US" sz="950" b="1" dirty="0">
                <a:solidFill>
                  <a:srgbClr val="1A7A4A"/>
                </a:solidFill>
                <a:latin typeface="Calibri" pitchFamily="34" charset="0"/>
                <a:ea typeface="Calibri" pitchFamily="34" charset="-122"/>
                <a:cs typeface="Calibri" pitchFamily="34" charset="-120"/>
              </a:rPr>
              <a:t>$22,000 (C-1019)</a:t>
            </a:r>
            <a:endParaRPr lang="en-US" sz="950" dirty="0"/>
          </a:p>
        </p:txBody>
      </p:sp>
      <p:sp>
        <p:nvSpPr>
          <p:cNvPr id="32" name="Shape 29"/>
          <p:cNvSpPr/>
          <p:nvPr/>
        </p:nvSpPr>
        <p:spPr>
          <a:xfrm>
            <a:off x="5806440" y="4014216"/>
            <a:ext cx="2999232" cy="9144"/>
          </a:xfrm>
          <a:prstGeom prst="rect">
            <a:avLst/>
          </a:prstGeom>
          <a:solidFill>
            <a:srgbClr val="CDD5DF"/>
          </a:solidFill>
          <a:ln w="12700">
            <a:solidFill>
              <a:srgbClr val="CDD5DF"/>
            </a:solidFill>
            <a:prstDash val="solid"/>
          </a:ln>
        </p:spPr>
      </p:sp>
      <p:sp>
        <p:nvSpPr>
          <p:cNvPr id="33" name="Text 30"/>
          <p:cNvSpPr/>
          <p:nvPr/>
        </p:nvSpPr>
        <p:spPr>
          <a:xfrm>
            <a:off x="5806440" y="4059936"/>
            <a:ext cx="1828800" cy="274320"/>
          </a:xfrm>
          <a:prstGeom prst="rect">
            <a:avLst/>
          </a:prstGeom>
          <a:noFill/>
          <a:ln/>
        </p:spPr>
        <p:txBody>
          <a:bodyPr wrap="square" rtlCol="0" anchor="ctr"/>
          <a:lstStyle/>
          <a:p>
            <a:pPr marL="0" indent="0">
              <a:buNone/>
            </a:pPr>
            <a:r>
              <a:rPr lang="en-US" sz="950" b="1" dirty="0">
                <a:solidFill>
                  <a:srgbClr val="0F1923"/>
                </a:solidFill>
                <a:latin typeface="Calibri" pitchFamily="34" charset="0"/>
                <a:ea typeface="Calibri" pitchFamily="34" charset="-122"/>
                <a:cs typeface="Calibri" pitchFamily="34" charset="-120"/>
              </a:rPr>
              <a:t>Lowest Balance:</a:t>
            </a:r>
            <a:endParaRPr lang="en-US" sz="950" dirty="0"/>
          </a:p>
        </p:txBody>
      </p:sp>
      <p:sp>
        <p:nvSpPr>
          <p:cNvPr id="34" name="Text 31"/>
          <p:cNvSpPr/>
          <p:nvPr/>
        </p:nvSpPr>
        <p:spPr>
          <a:xfrm>
            <a:off x="7635240" y="4059936"/>
            <a:ext cx="1170432" cy="274320"/>
          </a:xfrm>
          <a:prstGeom prst="rect">
            <a:avLst/>
          </a:prstGeom>
          <a:noFill/>
          <a:ln/>
        </p:spPr>
        <p:txBody>
          <a:bodyPr wrap="square" rtlCol="0" anchor="ctr"/>
          <a:lstStyle/>
          <a:p>
            <a:pPr marL="0" indent="0" algn="r">
              <a:buNone/>
            </a:pPr>
            <a:r>
              <a:rPr lang="en-US" sz="950" b="1" dirty="0">
                <a:solidFill>
                  <a:srgbClr val="A93226"/>
                </a:solidFill>
                <a:latin typeface="Calibri" pitchFamily="34" charset="0"/>
                <a:ea typeface="Calibri" pitchFamily="34" charset="-122"/>
                <a:cs typeface="Calibri" pitchFamily="34" charset="-120"/>
              </a:rPr>
              <a:t>$25.00 (C-1009)</a:t>
            </a:r>
            <a:endParaRPr lang="en-US" sz="950" dirty="0"/>
          </a:p>
        </p:txBody>
      </p:sp>
      <p:sp>
        <p:nvSpPr>
          <p:cNvPr id="35" name="Shape 32"/>
          <p:cNvSpPr/>
          <p:nvPr/>
        </p:nvSpPr>
        <p:spPr>
          <a:xfrm>
            <a:off x="228600" y="4553712"/>
            <a:ext cx="8686800" cy="292608"/>
          </a:xfrm>
          <a:prstGeom prst="rect">
            <a:avLst/>
          </a:prstGeom>
          <a:solidFill>
            <a:srgbClr val="EAF4FB"/>
          </a:solidFill>
          <a:ln w="5080">
            <a:solidFill>
              <a:srgbClr val="CDD5DF"/>
            </a:solidFill>
            <a:prstDash val="solid"/>
          </a:ln>
          <a:effectLst>
            <a:outerShdw blurRad="101600" dist="38100" dir="8100000" algn="bl" rotWithShape="0">
              <a:srgbClr val="000000">
                <a:alpha val="18000"/>
              </a:srgbClr>
            </a:outerShdw>
          </a:effectLst>
        </p:spPr>
      </p:sp>
      <p:sp>
        <p:nvSpPr>
          <p:cNvPr id="36" name="Text 33"/>
          <p:cNvSpPr/>
          <p:nvPr/>
        </p:nvSpPr>
        <p:spPr>
          <a:xfrm>
            <a:off x="320040" y="4553712"/>
            <a:ext cx="8503920" cy="292608"/>
          </a:xfrm>
          <a:prstGeom prst="rect">
            <a:avLst/>
          </a:prstGeom>
          <a:noFill/>
          <a:ln/>
        </p:spPr>
        <p:txBody>
          <a:bodyPr wrap="square" rtlCol="0" anchor="ctr"/>
          <a:lstStyle/>
          <a:p>
            <a:pPr marL="0" indent="0">
              <a:buNone/>
            </a:pPr>
            <a:r>
              <a:rPr lang="en-US" sz="920" b="1" dirty="0">
                <a:solidFill>
                  <a:srgbClr val="1B4F72"/>
                </a:solidFill>
                <a:latin typeface="Calibri" pitchFamily="34" charset="0"/>
                <a:ea typeface="Calibri" pitchFamily="34" charset="-122"/>
                <a:cs typeface="Calibri" pitchFamily="34" charset="-120"/>
              </a:rPr>
              <a:t>Observation: </a:t>
            </a:r>
            <a:r>
              <a:rPr lang="en-US" sz="920" dirty="0">
                <a:solidFill>
                  <a:srgbClr val="0F1923"/>
                </a:solidFill>
                <a:latin typeface="Calibri" pitchFamily="34" charset="0"/>
                <a:ea typeface="Calibri" pitchFamily="34" charset="-122"/>
                <a:cs typeface="Calibri" pitchFamily="34" charset="-120"/>
              </a:rPr>
              <a:t>The dataset shows a healthy 96.6% account activity rate. The $25 minimum balance (CID-1009) likely reflects a micro-savings customer — a common segment in Ugandan banking that requires low-minimum-balance products. The gap at account 10012015 should be investigated as a potential data integrity issue.</a:t>
            </a:r>
            <a:endParaRPr lang="en-US" sz="920" dirty="0"/>
          </a:p>
        </p:txBody>
      </p:sp>
      <p:sp>
        <p:nvSpPr>
          <p:cNvPr id="37" name="Shape 34"/>
          <p:cNvSpPr/>
          <p:nvPr/>
        </p:nvSpPr>
        <p:spPr>
          <a:xfrm>
            <a:off x="0" y="4892040"/>
            <a:ext cx="9144000" cy="251460"/>
          </a:xfrm>
          <a:prstGeom prst="rect">
            <a:avLst/>
          </a:prstGeom>
          <a:solidFill>
            <a:srgbClr val="0F1923"/>
          </a:solidFill>
          <a:ln w="12700">
            <a:solidFill>
              <a:srgbClr val="0F1923"/>
            </a:solidFill>
            <a:prstDash val="solid"/>
          </a:ln>
        </p:spPr>
      </p:sp>
      <p:sp>
        <p:nvSpPr>
          <p:cNvPr id="38" name="Text 35"/>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39" name="Text 36"/>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2F5F9"/>
        </a:solidFill>
        <a:effectLst/>
      </p:bgPr>
    </p:bg>
    <p:spTree>
      <p:nvGrpSpPr>
        <p:cNvPr id="1" name=""/>
        <p:cNvGrpSpPr/>
        <p:nvPr/>
      </p:nvGrpSpPr>
      <p:grpSpPr>
        <a:xfrm>
          <a:off x="0" y="0"/>
          <a:ext cx="0" cy="0"/>
          <a:chOff x="0" y="0"/>
          <a:chExt cx="0" cy="0"/>
        </a:xfrm>
      </p:grpSpPr>
      <p:sp>
        <p:nvSpPr>
          <p:cNvPr id="2" name="Text 0"/>
          <p:cNvSpPr/>
          <p:nvPr/>
        </p:nvSpPr>
        <p:spPr>
          <a:xfrm>
            <a:off x="228600" y="137160"/>
            <a:ext cx="8686800" cy="530352"/>
          </a:xfrm>
          <a:prstGeom prst="rect">
            <a:avLst/>
          </a:prstGeom>
          <a:noFill/>
          <a:ln/>
        </p:spPr>
        <p:txBody>
          <a:bodyPr wrap="square" rtlCol="0" anchor="ctr"/>
          <a:lstStyle/>
          <a:p>
            <a:pPr marL="0" indent="0">
              <a:buNone/>
            </a:pPr>
            <a:r>
              <a:rPr lang="en-US" sz="2700" b="1" dirty="0">
                <a:solidFill>
                  <a:srgbClr val="0F1923"/>
                </a:solidFill>
                <a:latin typeface="Calibri" pitchFamily="34" charset="0"/>
                <a:ea typeface="Calibri" pitchFamily="34" charset="-122"/>
                <a:cs typeface="Calibri" pitchFamily="34" charset="-120"/>
              </a:rPr>
              <a:t>System Limitations &amp; Future Enhancements</a:t>
            </a:r>
            <a:endParaRPr lang="en-US" sz="2700" dirty="0"/>
          </a:p>
        </p:txBody>
      </p:sp>
      <p:sp>
        <p:nvSpPr>
          <p:cNvPr id="3" name="Shape 1"/>
          <p:cNvSpPr/>
          <p:nvPr/>
        </p:nvSpPr>
        <p:spPr>
          <a:xfrm>
            <a:off x="228600" y="749808"/>
            <a:ext cx="8686800" cy="256032"/>
          </a:xfrm>
          <a:prstGeom prst="rect">
            <a:avLst/>
          </a:prstGeom>
          <a:solidFill>
            <a:srgbClr val="0A7E8C"/>
          </a:solidFill>
          <a:ln w="12700">
            <a:solidFill>
              <a:srgbClr val="0A7E8C"/>
            </a:solidFill>
            <a:prstDash val="solid"/>
          </a:ln>
        </p:spPr>
      </p:sp>
      <p:sp>
        <p:nvSpPr>
          <p:cNvPr id="4" name="Text 2"/>
          <p:cNvSpPr/>
          <p:nvPr/>
        </p:nvSpPr>
        <p:spPr>
          <a:xfrm>
            <a:off x="347472" y="749808"/>
            <a:ext cx="8412480" cy="256032"/>
          </a:xfrm>
          <a:prstGeom prst="rect">
            <a:avLst/>
          </a:prstGeom>
          <a:noFill/>
          <a:ln/>
        </p:spPr>
        <p:txBody>
          <a:bodyPr wrap="square" rtlCol="0" anchor="ctr"/>
          <a:lstStyle/>
          <a:p>
            <a:pPr marL="0" indent="0">
              <a:buNone/>
            </a:pPr>
            <a:r>
              <a:rPr lang="en-US" sz="950" b="1" kern="0" spc="150" dirty="0">
                <a:solidFill>
                  <a:srgbClr val="FFFFFF"/>
                </a:solidFill>
                <a:latin typeface="Calibri" pitchFamily="34" charset="0"/>
                <a:ea typeface="Calibri" pitchFamily="34" charset="-122"/>
                <a:cs typeface="Calibri" pitchFamily="34" charset="-120"/>
              </a:rPr>
              <a:t>HONEST ASSESSMENT  ·  PRODUCTION ROADMAP</a:t>
            </a:r>
            <a:endParaRPr lang="en-US" sz="950" dirty="0"/>
          </a:p>
        </p:txBody>
      </p:sp>
      <p:sp>
        <p:nvSpPr>
          <p:cNvPr id="7" name="Text 5"/>
          <p:cNvSpPr/>
          <p:nvPr/>
        </p:nvSpPr>
        <p:spPr>
          <a:xfrm>
            <a:off x="228600" y="1499616"/>
            <a:ext cx="402336" cy="402336"/>
          </a:xfrm>
          <a:prstGeom prst="rect">
            <a:avLst/>
          </a:prstGeom>
          <a:noFill/>
          <a:ln/>
        </p:spPr>
        <p:txBody>
          <a:bodyPr wrap="square" lIns="0" tIns="0" rIns="0" bIns="0" rtlCol="0" anchor="ctr"/>
          <a:lstStyle/>
          <a:p>
            <a:pPr marL="0" indent="0" algn="ctr">
              <a:buNone/>
            </a:pPr>
            <a:endParaRPr lang="en-US" sz="1300" dirty="0"/>
          </a:p>
        </p:txBody>
      </p:sp>
      <p:sp>
        <p:nvSpPr>
          <p:cNvPr id="9" name="Text 7"/>
          <p:cNvSpPr/>
          <p:nvPr/>
        </p:nvSpPr>
        <p:spPr>
          <a:xfrm>
            <a:off x="338328" y="1536192"/>
            <a:ext cx="4005072" cy="676656"/>
          </a:xfrm>
          <a:prstGeom prst="rect">
            <a:avLst/>
          </a:prstGeom>
          <a:noFill/>
          <a:ln/>
        </p:spPr>
        <p:txBody>
          <a:bodyPr wrap="square" rtlCol="0" anchor="ctr"/>
          <a:lstStyle/>
          <a:p>
            <a:pPr marL="0" indent="0">
              <a:buNone/>
            </a:pPr>
            <a:endParaRPr lang="en-US" sz="920" dirty="0"/>
          </a:p>
        </p:txBody>
      </p:sp>
      <p:sp>
        <p:nvSpPr>
          <p:cNvPr id="10" name="Shape 8"/>
          <p:cNvSpPr/>
          <p:nvPr/>
        </p:nvSpPr>
        <p:spPr>
          <a:xfrm>
            <a:off x="4663440" y="1115568"/>
            <a:ext cx="4206240" cy="1170432"/>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1" name="Shape 9"/>
          <p:cNvSpPr/>
          <p:nvPr/>
        </p:nvSpPr>
        <p:spPr>
          <a:xfrm>
            <a:off x="4663440" y="1499616"/>
            <a:ext cx="402336" cy="402336"/>
          </a:xfrm>
          <a:prstGeom prst="rect">
            <a:avLst/>
          </a:prstGeom>
          <a:solidFill>
            <a:srgbClr val="C87722"/>
          </a:solidFill>
          <a:ln w="12700">
            <a:solidFill>
              <a:srgbClr val="C87722"/>
            </a:solidFill>
            <a:prstDash val="solid"/>
          </a:ln>
        </p:spPr>
      </p:sp>
      <p:sp>
        <p:nvSpPr>
          <p:cNvPr id="12" name="Text 10"/>
          <p:cNvSpPr/>
          <p:nvPr/>
        </p:nvSpPr>
        <p:spPr>
          <a:xfrm>
            <a:off x="4663440" y="14996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L2</a:t>
            </a:r>
            <a:endParaRPr lang="en-US" sz="1300" dirty="0"/>
          </a:p>
        </p:txBody>
      </p:sp>
      <p:sp>
        <p:nvSpPr>
          <p:cNvPr id="13" name="Text 11"/>
          <p:cNvSpPr/>
          <p:nvPr/>
        </p:nvSpPr>
        <p:spPr>
          <a:xfrm>
            <a:off x="5193792" y="1188720"/>
            <a:ext cx="3566160"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No Password / Auth Layer</a:t>
            </a:r>
            <a:endParaRPr lang="en-US" sz="1150" dirty="0"/>
          </a:p>
        </p:txBody>
      </p:sp>
      <p:sp>
        <p:nvSpPr>
          <p:cNvPr id="14" name="Text 12"/>
          <p:cNvSpPr/>
          <p:nvPr/>
        </p:nvSpPr>
        <p:spPr>
          <a:xfrm>
            <a:off x="4773168" y="1536192"/>
            <a:ext cx="4005072" cy="676656"/>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customer_bio stores no login credentials, PIN, or 2FA data. A production system requires a separate auth table with hashed passwords (bcrypt), failed_attempts counter, and session token management.</a:t>
            </a:r>
            <a:endParaRPr lang="en-US" sz="920" dirty="0"/>
          </a:p>
        </p:txBody>
      </p:sp>
      <p:sp>
        <p:nvSpPr>
          <p:cNvPr id="15" name="Shape 13"/>
          <p:cNvSpPr/>
          <p:nvPr/>
        </p:nvSpPr>
        <p:spPr>
          <a:xfrm>
            <a:off x="237744" y="1143000"/>
            <a:ext cx="4206240" cy="1170432"/>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16" name="Shape 14"/>
          <p:cNvSpPr/>
          <p:nvPr/>
        </p:nvSpPr>
        <p:spPr>
          <a:xfrm>
            <a:off x="174389" y="1395113"/>
            <a:ext cx="402336" cy="402336"/>
          </a:xfrm>
          <a:prstGeom prst="rect">
            <a:avLst/>
          </a:prstGeom>
          <a:solidFill>
            <a:srgbClr val="6C3483"/>
          </a:solidFill>
          <a:ln w="12700">
            <a:solidFill>
              <a:srgbClr val="6C3483"/>
            </a:solidFill>
            <a:prstDash val="solid"/>
          </a:ln>
        </p:spPr>
        <p:txBody>
          <a:bodyPr/>
          <a:lstStyle/>
          <a:p>
            <a:r>
              <a:rPr lang="en-US" dirty="0">
                <a:solidFill>
                  <a:schemeClr val="bg1"/>
                </a:solidFill>
              </a:rPr>
              <a:t>L1</a:t>
            </a:r>
          </a:p>
        </p:txBody>
      </p:sp>
      <p:sp>
        <p:nvSpPr>
          <p:cNvPr id="17" name="Text 15"/>
          <p:cNvSpPr/>
          <p:nvPr/>
        </p:nvSpPr>
        <p:spPr>
          <a:xfrm>
            <a:off x="228600" y="276148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L3</a:t>
            </a:r>
            <a:endParaRPr lang="en-US" sz="1300" dirty="0"/>
          </a:p>
        </p:txBody>
      </p:sp>
      <p:sp>
        <p:nvSpPr>
          <p:cNvPr id="18" name="Text 16"/>
          <p:cNvSpPr/>
          <p:nvPr/>
        </p:nvSpPr>
        <p:spPr>
          <a:xfrm>
            <a:off x="630936" y="1184148"/>
            <a:ext cx="3566160"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Missing National ID Field</a:t>
            </a:r>
            <a:endParaRPr lang="en-US" sz="1150" dirty="0"/>
          </a:p>
        </p:txBody>
      </p:sp>
      <p:sp>
        <p:nvSpPr>
          <p:cNvPr id="19" name="Text 17"/>
          <p:cNvSpPr/>
          <p:nvPr/>
        </p:nvSpPr>
        <p:spPr>
          <a:xfrm>
            <a:off x="411480" y="1536192"/>
            <a:ext cx="4005072" cy="676656"/>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The national_id field is absent from customer_bio, yet Bank of Uganda's KYC requirements mandate it. Without it, identity verification at account opening cannot be enforced at the database level.</a:t>
            </a:r>
            <a:endParaRPr lang="en-US" sz="920" dirty="0"/>
          </a:p>
        </p:txBody>
      </p:sp>
      <p:sp>
        <p:nvSpPr>
          <p:cNvPr id="20" name="Shape 18"/>
          <p:cNvSpPr/>
          <p:nvPr/>
        </p:nvSpPr>
        <p:spPr>
          <a:xfrm>
            <a:off x="4663440" y="2377440"/>
            <a:ext cx="4206240" cy="1170432"/>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21" name="Shape 19"/>
          <p:cNvSpPr/>
          <p:nvPr/>
        </p:nvSpPr>
        <p:spPr>
          <a:xfrm>
            <a:off x="4663440" y="2761488"/>
            <a:ext cx="402336" cy="402336"/>
          </a:xfrm>
          <a:prstGeom prst="rect">
            <a:avLst/>
          </a:prstGeom>
          <a:solidFill>
            <a:srgbClr val="1B4F72"/>
          </a:solidFill>
          <a:ln w="12700">
            <a:solidFill>
              <a:srgbClr val="1B4F72"/>
            </a:solidFill>
            <a:prstDash val="solid"/>
          </a:ln>
        </p:spPr>
      </p:sp>
      <p:sp>
        <p:nvSpPr>
          <p:cNvPr id="22" name="Text 20"/>
          <p:cNvSpPr/>
          <p:nvPr/>
        </p:nvSpPr>
        <p:spPr>
          <a:xfrm>
            <a:off x="4663440" y="276148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L4</a:t>
            </a:r>
            <a:endParaRPr lang="en-US" sz="1300" dirty="0"/>
          </a:p>
        </p:txBody>
      </p:sp>
      <p:sp>
        <p:nvSpPr>
          <p:cNvPr id="23" name="Text 21"/>
          <p:cNvSpPr/>
          <p:nvPr/>
        </p:nvSpPr>
        <p:spPr>
          <a:xfrm>
            <a:off x="5193792" y="2450592"/>
            <a:ext cx="3566160"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No Audit Log Table</a:t>
            </a:r>
            <a:endParaRPr lang="en-US" sz="1150" dirty="0"/>
          </a:p>
        </p:txBody>
      </p:sp>
      <p:sp>
        <p:nvSpPr>
          <p:cNvPr id="24" name="Text 22"/>
          <p:cNvSpPr/>
          <p:nvPr/>
        </p:nvSpPr>
        <p:spPr>
          <a:xfrm>
            <a:off x="4773168" y="2798064"/>
            <a:ext cx="4005072" cy="676656"/>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Changes to customer data (address updates, email changes, status changes) are not tracked. A production system requires an Audit_Log table recording table_name, record_id, action, old_value, new_value, changed_by, and timestamp.</a:t>
            </a:r>
            <a:endParaRPr lang="en-US" sz="920" dirty="0"/>
          </a:p>
        </p:txBody>
      </p:sp>
      <p:sp>
        <p:nvSpPr>
          <p:cNvPr id="25" name="Shape 23"/>
          <p:cNvSpPr/>
          <p:nvPr/>
        </p:nvSpPr>
        <p:spPr>
          <a:xfrm>
            <a:off x="173736" y="2542032"/>
            <a:ext cx="4206240" cy="1170432"/>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26" name="Shape 24"/>
          <p:cNvSpPr/>
          <p:nvPr/>
        </p:nvSpPr>
        <p:spPr>
          <a:xfrm>
            <a:off x="0" y="2807208"/>
            <a:ext cx="402336" cy="402336"/>
          </a:xfrm>
          <a:prstGeom prst="rect">
            <a:avLst/>
          </a:prstGeom>
          <a:solidFill>
            <a:srgbClr val="0A7E8C"/>
          </a:solidFill>
          <a:ln w="12700">
            <a:solidFill>
              <a:srgbClr val="0A7E8C"/>
            </a:solidFill>
            <a:prstDash val="solid"/>
          </a:ln>
        </p:spPr>
        <p:txBody>
          <a:bodyPr/>
          <a:lstStyle/>
          <a:p>
            <a:r>
              <a:rPr lang="en-US" dirty="0">
                <a:solidFill>
                  <a:schemeClr val="bg1"/>
                </a:solidFill>
              </a:rPr>
              <a:t>L3</a:t>
            </a:r>
          </a:p>
        </p:txBody>
      </p:sp>
      <p:sp>
        <p:nvSpPr>
          <p:cNvPr id="27" name="Text 25"/>
          <p:cNvSpPr/>
          <p:nvPr/>
        </p:nvSpPr>
        <p:spPr>
          <a:xfrm>
            <a:off x="228600" y="40233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L3</a:t>
            </a:r>
            <a:endParaRPr lang="en-US" sz="1300" dirty="0"/>
          </a:p>
        </p:txBody>
      </p:sp>
      <p:sp>
        <p:nvSpPr>
          <p:cNvPr id="28" name="Text 26"/>
          <p:cNvSpPr/>
          <p:nvPr/>
        </p:nvSpPr>
        <p:spPr>
          <a:xfrm>
            <a:off x="529046" y="2702705"/>
            <a:ext cx="3566160"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Single Currency Only</a:t>
            </a:r>
            <a:endParaRPr lang="en-US" sz="1150" dirty="0"/>
          </a:p>
        </p:txBody>
      </p:sp>
      <p:sp>
        <p:nvSpPr>
          <p:cNvPr id="29" name="Text 27"/>
          <p:cNvSpPr/>
          <p:nvPr/>
        </p:nvSpPr>
        <p:spPr>
          <a:xfrm>
            <a:off x="228600" y="2940449"/>
            <a:ext cx="4005072" cy="676656"/>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All accounts are in USD, with no currency_id FK to a Currency reference table. A real bank serving Ugandan customers would need UGX as the base currency, with multi-currency support for USD and KES accounts.</a:t>
            </a:r>
            <a:endParaRPr lang="en-US" sz="920" dirty="0"/>
          </a:p>
        </p:txBody>
      </p:sp>
      <p:sp>
        <p:nvSpPr>
          <p:cNvPr id="30" name="Shape 28"/>
          <p:cNvSpPr/>
          <p:nvPr/>
        </p:nvSpPr>
        <p:spPr>
          <a:xfrm>
            <a:off x="4663440" y="3639312"/>
            <a:ext cx="4206240" cy="1170432"/>
          </a:xfrm>
          <a:prstGeom prst="rect">
            <a:avLst/>
          </a:prstGeom>
          <a:solidFill>
            <a:srgbClr val="FFFFFF"/>
          </a:solidFill>
          <a:ln w="5080">
            <a:solidFill>
              <a:srgbClr val="CDD5DF"/>
            </a:solidFill>
            <a:prstDash val="solid"/>
          </a:ln>
          <a:effectLst>
            <a:outerShdw blurRad="101600" dist="38100" dir="8100000" algn="bl" rotWithShape="0">
              <a:srgbClr val="000000">
                <a:alpha val="18000"/>
              </a:srgbClr>
            </a:outerShdw>
          </a:effectLst>
        </p:spPr>
      </p:sp>
      <p:sp>
        <p:nvSpPr>
          <p:cNvPr id="31" name="Shape 29"/>
          <p:cNvSpPr/>
          <p:nvPr/>
        </p:nvSpPr>
        <p:spPr>
          <a:xfrm>
            <a:off x="4663440" y="4023360"/>
            <a:ext cx="402336" cy="402336"/>
          </a:xfrm>
          <a:prstGeom prst="rect">
            <a:avLst/>
          </a:prstGeom>
          <a:solidFill>
            <a:srgbClr val="1A7A4A"/>
          </a:solidFill>
          <a:ln w="12700">
            <a:solidFill>
              <a:srgbClr val="1A7A4A"/>
            </a:solidFill>
            <a:prstDash val="solid"/>
          </a:ln>
        </p:spPr>
      </p:sp>
      <p:sp>
        <p:nvSpPr>
          <p:cNvPr id="32" name="Text 30"/>
          <p:cNvSpPr/>
          <p:nvPr/>
        </p:nvSpPr>
        <p:spPr>
          <a:xfrm>
            <a:off x="4663440" y="40233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L5</a:t>
            </a:r>
            <a:endParaRPr lang="en-US" sz="1300" dirty="0"/>
          </a:p>
        </p:txBody>
      </p:sp>
      <p:sp>
        <p:nvSpPr>
          <p:cNvPr id="33" name="Text 31"/>
          <p:cNvSpPr/>
          <p:nvPr/>
        </p:nvSpPr>
        <p:spPr>
          <a:xfrm>
            <a:off x="5193792" y="3712464"/>
            <a:ext cx="3566160" cy="274320"/>
          </a:xfrm>
          <a:prstGeom prst="rect">
            <a:avLst/>
          </a:prstGeom>
          <a:noFill/>
          <a:ln/>
        </p:spPr>
        <p:txBody>
          <a:bodyPr wrap="square" lIns="0" tIns="0" rIns="0" bIns="0" rtlCol="0" anchor="ctr"/>
          <a:lstStyle/>
          <a:p>
            <a:pPr marL="0" indent="0">
              <a:buNone/>
            </a:pPr>
            <a:r>
              <a:rPr lang="en-US" sz="1150" b="1" dirty="0">
                <a:solidFill>
                  <a:srgbClr val="0F1923"/>
                </a:solidFill>
                <a:latin typeface="Calibri" pitchFamily="34" charset="0"/>
                <a:ea typeface="Calibri" pitchFamily="34" charset="-122"/>
                <a:cs typeface="Calibri" pitchFamily="34" charset="-120"/>
              </a:rPr>
              <a:t>No Branch Table</a:t>
            </a:r>
            <a:endParaRPr lang="en-US" sz="1150" dirty="0"/>
          </a:p>
        </p:txBody>
      </p:sp>
      <p:sp>
        <p:nvSpPr>
          <p:cNvPr id="34" name="Text 32"/>
          <p:cNvSpPr/>
          <p:nvPr/>
        </p:nvSpPr>
        <p:spPr>
          <a:xfrm>
            <a:off x="4773168" y="4059936"/>
            <a:ext cx="4005072" cy="676656"/>
          </a:xfrm>
          <a:prstGeom prst="rect">
            <a:avLst/>
          </a:prstGeom>
          <a:noFill/>
          <a:ln/>
        </p:spPr>
        <p:txBody>
          <a:bodyPr wrap="square" rtlCol="0" anchor="ctr"/>
          <a:lstStyle/>
          <a:p>
            <a:pPr marL="0" indent="0">
              <a:buNone/>
            </a:pPr>
            <a:r>
              <a:rPr lang="en-US" sz="920" dirty="0">
                <a:solidFill>
                  <a:srgbClr val="0F1923"/>
                </a:solidFill>
                <a:latin typeface="Calibri" pitchFamily="34" charset="0"/>
                <a:ea typeface="Calibri" pitchFamily="34" charset="-122"/>
                <a:cs typeface="Calibri" pitchFamily="34" charset="-120"/>
              </a:rPr>
              <a:t>branch_id in account_details references a branch that doesn't exist as a table in the current schema. This FK relationship is implied but not enforced, creating a dangling reference.</a:t>
            </a:r>
            <a:endParaRPr lang="en-US" sz="920" dirty="0"/>
          </a:p>
        </p:txBody>
      </p:sp>
      <p:sp>
        <p:nvSpPr>
          <p:cNvPr id="35" name="Shape 33"/>
          <p:cNvSpPr/>
          <p:nvPr/>
        </p:nvSpPr>
        <p:spPr>
          <a:xfrm>
            <a:off x="0" y="4892040"/>
            <a:ext cx="9144000" cy="251460"/>
          </a:xfrm>
          <a:prstGeom prst="rect">
            <a:avLst/>
          </a:prstGeom>
          <a:solidFill>
            <a:srgbClr val="0F1923"/>
          </a:solidFill>
          <a:ln w="12700">
            <a:solidFill>
              <a:srgbClr val="0F1923"/>
            </a:solidFill>
            <a:prstDash val="solid"/>
          </a:ln>
        </p:spPr>
      </p:sp>
      <p:sp>
        <p:nvSpPr>
          <p:cNvPr id="36" name="Text 34"/>
          <p:cNvSpPr/>
          <p:nvPr/>
        </p:nvSpPr>
        <p:spPr>
          <a:xfrm>
            <a:off x="274320" y="4892040"/>
            <a:ext cx="6858000" cy="251460"/>
          </a:xfrm>
          <a:prstGeom prst="rect">
            <a:avLst/>
          </a:prstGeom>
          <a:noFill/>
          <a:ln/>
        </p:spPr>
        <p:txBody>
          <a:bodyPr wrap="square" rtlCol="0" anchor="ctr"/>
          <a:lstStyle/>
          <a:p>
            <a:pPr marL="0" indent="0">
              <a:buNone/>
            </a:pPr>
            <a:r>
              <a:rPr lang="en-US" sz="850" dirty="0">
                <a:solidFill>
                  <a:srgbClr val="CDD5DF"/>
                </a:solidFill>
                <a:latin typeface="Calibri" pitchFamily="34" charset="0"/>
                <a:ea typeface="Calibri" pitchFamily="34" charset="-122"/>
                <a:cs typeface="Calibri" pitchFamily="34" charset="-120"/>
              </a:rPr>
              <a:t>Customer Details Management System  ·  Database Systems Project</a:t>
            </a:r>
            <a:endParaRPr lang="en-US" sz="850" dirty="0"/>
          </a:p>
        </p:txBody>
      </p:sp>
      <p:sp>
        <p:nvSpPr>
          <p:cNvPr id="37" name="Text 35"/>
          <p:cNvSpPr/>
          <p:nvPr/>
        </p:nvSpPr>
        <p:spPr>
          <a:xfrm>
            <a:off x="8046720" y="4892040"/>
            <a:ext cx="822960" cy="251460"/>
          </a:xfrm>
          <a:prstGeom prst="rect">
            <a:avLst/>
          </a:prstGeom>
          <a:noFill/>
          <a:ln/>
        </p:spPr>
        <p:txBody>
          <a:bodyPr wrap="square" rtlCol="0" anchor="ctr"/>
          <a:lstStyle/>
          <a:p>
            <a:pPr marL="0" indent="0" algn="r">
              <a:buNone/>
            </a:pPr>
            <a:r>
              <a:rPr lang="en-US" sz="900" b="1" dirty="0">
                <a:solidFill>
                  <a:srgbClr val="C8922A"/>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A7E8C"/>
          </a:solidFill>
          <a:ln w="12700">
            <a:solidFill>
              <a:srgbClr val="0A7E8C"/>
            </a:solidFill>
            <a:prstDash val="solid"/>
          </a:ln>
        </p:spPr>
      </p:sp>
      <p:sp>
        <p:nvSpPr>
          <p:cNvPr id="3" name="Shape 1"/>
          <p:cNvSpPr/>
          <p:nvPr/>
        </p:nvSpPr>
        <p:spPr>
          <a:xfrm>
            <a:off x="0" y="5061204"/>
            <a:ext cx="9144000" cy="82296"/>
          </a:xfrm>
          <a:prstGeom prst="rect">
            <a:avLst/>
          </a:prstGeom>
          <a:solidFill>
            <a:srgbClr val="0A7E8C"/>
          </a:solidFill>
          <a:ln w="12700">
            <a:solidFill>
              <a:srgbClr val="0A7E8C"/>
            </a:solidFill>
            <a:prstDash val="solid"/>
          </a:ln>
        </p:spPr>
      </p:sp>
      <p:sp>
        <p:nvSpPr>
          <p:cNvPr id="4" name="Shape 2"/>
          <p:cNvSpPr/>
          <p:nvPr/>
        </p:nvSpPr>
        <p:spPr>
          <a:xfrm>
            <a:off x="320040" y="274320"/>
            <a:ext cx="54864" cy="4480560"/>
          </a:xfrm>
          <a:prstGeom prst="rect">
            <a:avLst/>
          </a:prstGeom>
          <a:solidFill>
            <a:srgbClr val="C8922A"/>
          </a:solidFill>
          <a:ln w="12700">
            <a:solidFill>
              <a:srgbClr val="C8922A"/>
            </a:solidFill>
            <a:prstDash val="solid"/>
          </a:ln>
        </p:spPr>
      </p:sp>
      <p:sp>
        <p:nvSpPr>
          <p:cNvPr id="5" name="Text 3"/>
          <p:cNvSpPr/>
          <p:nvPr/>
        </p:nvSpPr>
        <p:spPr>
          <a:xfrm>
            <a:off x="548640" y="182880"/>
            <a:ext cx="8229600" cy="566928"/>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 &amp; Takeaways</a:t>
            </a:r>
            <a:endParaRPr lang="en-US" sz="3200" dirty="0"/>
          </a:p>
        </p:txBody>
      </p:sp>
      <p:sp>
        <p:nvSpPr>
          <p:cNvPr id="6" name="Shape 4"/>
          <p:cNvSpPr/>
          <p:nvPr/>
        </p:nvSpPr>
        <p:spPr>
          <a:xfrm>
            <a:off x="365760" y="932688"/>
            <a:ext cx="2743200" cy="3474720"/>
          </a:xfrm>
          <a:prstGeom prst="rect">
            <a:avLst/>
          </a:prstGeom>
          <a:solidFill>
            <a:srgbClr val="0A7E8C"/>
          </a:solidFill>
          <a:ln w="12700">
            <a:solidFill>
              <a:srgbClr val="0A7E8C"/>
            </a:solidFill>
            <a:prstDash val="solid"/>
          </a:ln>
          <a:effectLst>
            <a:outerShdw blurRad="101600" dist="38100" dir="8100000" algn="bl" rotWithShape="0">
              <a:srgbClr val="000000">
                <a:alpha val="18000"/>
              </a:srgbClr>
            </a:outerShdw>
          </a:effectLst>
        </p:spPr>
      </p:sp>
      <p:pic>
        <p:nvPicPr>
          <p:cNvPr id="7" name="Image 0" descr="preencoded.png"/>
          <p:cNvPicPr>
            <a:picLocks noChangeAspect="1"/>
          </p:cNvPicPr>
          <p:nvPr/>
        </p:nvPicPr>
        <p:blipFill>
          <a:blip r:embed="rId3"/>
          <a:stretch>
            <a:fillRect/>
          </a:stretch>
        </p:blipFill>
        <p:spPr>
          <a:xfrm>
            <a:off x="1417320" y="1042416"/>
            <a:ext cx="594360" cy="594360"/>
          </a:xfrm>
          <a:prstGeom prst="rect">
            <a:avLst/>
          </a:prstGeom>
        </p:spPr>
      </p:pic>
      <p:sp>
        <p:nvSpPr>
          <p:cNvPr id="8" name="Text 5"/>
          <p:cNvSpPr/>
          <p:nvPr/>
        </p:nvSpPr>
        <p:spPr>
          <a:xfrm>
            <a:off x="475488" y="1737360"/>
            <a:ext cx="2523744" cy="34747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What Was Built</a:t>
            </a:r>
            <a:endParaRPr lang="en-US" sz="1350" dirty="0"/>
          </a:p>
        </p:txBody>
      </p:sp>
      <p:sp>
        <p:nvSpPr>
          <p:cNvPr id="9" name="Shape 6"/>
          <p:cNvSpPr/>
          <p:nvPr/>
        </p:nvSpPr>
        <p:spPr>
          <a:xfrm>
            <a:off x="1325880" y="2121408"/>
            <a:ext cx="822960" cy="36576"/>
          </a:xfrm>
          <a:prstGeom prst="rect">
            <a:avLst/>
          </a:prstGeom>
          <a:solidFill>
            <a:srgbClr val="F5C842"/>
          </a:solidFill>
          <a:ln w="12700">
            <a:solidFill>
              <a:srgbClr val="F5C842"/>
            </a:solidFill>
            <a:prstDash val="solid"/>
          </a:ln>
        </p:spPr>
      </p:sp>
      <p:sp>
        <p:nvSpPr>
          <p:cNvPr id="10" name="Text 7"/>
          <p:cNvSpPr/>
          <p:nvPr/>
        </p:nvSpPr>
        <p:spPr>
          <a:xfrm>
            <a:off x="502920" y="2212848"/>
            <a:ext cx="2468880" cy="2084832"/>
          </a:xfrm>
          <a:prstGeom prst="rect">
            <a:avLst/>
          </a:prstGeom>
          <a:noFill/>
          <a:ln/>
        </p:spPr>
        <p:txBody>
          <a:bodyPr wrap="square" rtlCol="0" anchor="t"/>
          <a:lstStyle/>
          <a:p>
            <a:pPr marL="0" indent="0" algn="ctr">
              <a:buNone/>
            </a:pPr>
            <a:r>
              <a:rPr lang="en-US" sz="1000" dirty="0">
                <a:solidFill>
                  <a:srgbClr val="D6EAF8"/>
                </a:solidFill>
                <a:latin typeface="Calibri" pitchFamily="34" charset="0"/>
                <a:ea typeface="Calibri" pitchFamily="34" charset="-122"/>
                <a:cs typeface="Calibri" pitchFamily="34" charset="-120"/>
              </a:rPr>
              <a:t>A fully normalised MySQL relational database with two production-grade tables — customer_bio and account_details — linked via a foreign key. The schema enforces data integrity through PKs, FKs, ENUMs, CHECK constraints, and UNIQUE fields, making it a robust foundation for a real banking system.</a:t>
            </a:r>
            <a:endParaRPr lang="en-US" sz="1000" dirty="0"/>
          </a:p>
        </p:txBody>
      </p:sp>
      <p:sp>
        <p:nvSpPr>
          <p:cNvPr id="11" name="Shape 8"/>
          <p:cNvSpPr/>
          <p:nvPr/>
        </p:nvSpPr>
        <p:spPr>
          <a:xfrm>
            <a:off x="3246120" y="932688"/>
            <a:ext cx="2743200" cy="3474720"/>
          </a:xfrm>
          <a:prstGeom prst="rect">
            <a:avLst/>
          </a:prstGeom>
          <a:solidFill>
            <a:srgbClr val="1B4F72"/>
          </a:solidFill>
          <a:ln w="12700">
            <a:solidFill>
              <a:srgbClr val="1B4F72"/>
            </a:solidFill>
            <a:prstDash val="solid"/>
          </a:ln>
          <a:effectLst>
            <a:outerShdw blurRad="101600" dist="38100" dir="8100000" algn="bl" rotWithShape="0">
              <a:srgbClr val="000000">
                <a:alpha val="18000"/>
              </a:srgbClr>
            </a:outerShdw>
          </a:effectLst>
        </p:spPr>
      </p:sp>
      <p:pic>
        <p:nvPicPr>
          <p:cNvPr id="12" name="Image 1" descr="preencoded.png"/>
          <p:cNvPicPr>
            <a:picLocks noChangeAspect="1"/>
          </p:cNvPicPr>
          <p:nvPr/>
        </p:nvPicPr>
        <p:blipFill>
          <a:blip r:embed="rId4"/>
          <a:stretch>
            <a:fillRect/>
          </a:stretch>
        </p:blipFill>
        <p:spPr>
          <a:xfrm>
            <a:off x="4297680" y="1042416"/>
            <a:ext cx="594360" cy="594360"/>
          </a:xfrm>
          <a:prstGeom prst="rect">
            <a:avLst/>
          </a:prstGeom>
        </p:spPr>
      </p:pic>
      <p:sp>
        <p:nvSpPr>
          <p:cNvPr id="13" name="Text 9"/>
          <p:cNvSpPr/>
          <p:nvPr/>
        </p:nvSpPr>
        <p:spPr>
          <a:xfrm>
            <a:off x="3355848" y="1737360"/>
            <a:ext cx="2523744" cy="34747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What It Solves</a:t>
            </a:r>
            <a:endParaRPr lang="en-US" sz="1350" dirty="0"/>
          </a:p>
        </p:txBody>
      </p:sp>
      <p:sp>
        <p:nvSpPr>
          <p:cNvPr id="14" name="Shape 10"/>
          <p:cNvSpPr/>
          <p:nvPr/>
        </p:nvSpPr>
        <p:spPr>
          <a:xfrm>
            <a:off x="4206240" y="2121408"/>
            <a:ext cx="822960" cy="36576"/>
          </a:xfrm>
          <a:prstGeom prst="rect">
            <a:avLst/>
          </a:prstGeom>
          <a:solidFill>
            <a:srgbClr val="F5C842"/>
          </a:solidFill>
          <a:ln w="12700">
            <a:solidFill>
              <a:srgbClr val="F5C842"/>
            </a:solidFill>
            <a:prstDash val="solid"/>
          </a:ln>
        </p:spPr>
      </p:sp>
      <p:sp>
        <p:nvSpPr>
          <p:cNvPr id="15" name="Text 11"/>
          <p:cNvSpPr/>
          <p:nvPr/>
        </p:nvSpPr>
        <p:spPr>
          <a:xfrm>
            <a:off x="3383280" y="2212848"/>
            <a:ext cx="2468880" cy="2084832"/>
          </a:xfrm>
          <a:prstGeom prst="rect">
            <a:avLst/>
          </a:prstGeom>
          <a:noFill/>
          <a:ln/>
        </p:spPr>
        <p:txBody>
          <a:bodyPr wrap="square" rtlCol="0" anchor="t"/>
          <a:lstStyle/>
          <a:p>
            <a:pPr marL="0" indent="0" algn="ctr">
              <a:buNone/>
            </a:pPr>
            <a:r>
              <a:rPr lang="en-US" sz="1000" dirty="0">
                <a:solidFill>
                  <a:srgbClr val="D6EAF8"/>
                </a:solidFill>
                <a:latin typeface="Calibri" pitchFamily="34" charset="0"/>
                <a:ea typeface="Calibri" pitchFamily="34" charset="-122"/>
                <a:cs typeface="Calibri" pitchFamily="34" charset="-120"/>
              </a:rPr>
              <a:t>The system eliminates the fragmentation, duplication, and unqueryability of manual customer data management. It provides instant, accurate retrieval of customer profiles, enables management analytics via SQL aggregations, and creates a structured platform for KYC compliance and digital banking services.</a:t>
            </a:r>
            <a:endParaRPr lang="en-US" sz="1000" dirty="0"/>
          </a:p>
        </p:txBody>
      </p:sp>
      <p:sp>
        <p:nvSpPr>
          <p:cNvPr id="16" name="Shape 12"/>
          <p:cNvSpPr/>
          <p:nvPr/>
        </p:nvSpPr>
        <p:spPr>
          <a:xfrm>
            <a:off x="6126480" y="932688"/>
            <a:ext cx="2743200" cy="3474720"/>
          </a:xfrm>
          <a:prstGeom prst="rect">
            <a:avLst/>
          </a:prstGeom>
          <a:solidFill>
            <a:srgbClr val="1A7A4A"/>
          </a:solidFill>
          <a:ln w="12700">
            <a:solidFill>
              <a:srgbClr val="1A7A4A"/>
            </a:solidFill>
            <a:prstDash val="solid"/>
          </a:ln>
          <a:effectLst>
            <a:outerShdw blurRad="101600" dist="38100" dir="8100000" algn="bl" rotWithShape="0">
              <a:srgbClr val="000000">
                <a:alpha val="18000"/>
              </a:srgbClr>
            </a:outerShdw>
          </a:effectLst>
        </p:spPr>
      </p:sp>
      <p:pic>
        <p:nvPicPr>
          <p:cNvPr id="17" name="Image 2" descr="preencoded.png"/>
          <p:cNvPicPr>
            <a:picLocks noChangeAspect="1"/>
          </p:cNvPicPr>
          <p:nvPr/>
        </p:nvPicPr>
        <p:blipFill>
          <a:blip r:embed="rId5"/>
          <a:stretch>
            <a:fillRect/>
          </a:stretch>
        </p:blipFill>
        <p:spPr>
          <a:xfrm>
            <a:off x="7178040" y="1042416"/>
            <a:ext cx="594360" cy="594360"/>
          </a:xfrm>
          <a:prstGeom prst="rect">
            <a:avLst/>
          </a:prstGeom>
        </p:spPr>
      </p:pic>
      <p:sp>
        <p:nvSpPr>
          <p:cNvPr id="18" name="Text 13"/>
          <p:cNvSpPr/>
          <p:nvPr/>
        </p:nvSpPr>
        <p:spPr>
          <a:xfrm>
            <a:off x="6236208" y="1737360"/>
            <a:ext cx="2523744" cy="34747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What Was Learned</a:t>
            </a:r>
            <a:endParaRPr lang="en-US" sz="1350" dirty="0"/>
          </a:p>
        </p:txBody>
      </p:sp>
      <p:sp>
        <p:nvSpPr>
          <p:cNvPr id="19" name="Shape 14"/>
          <p:cNvSpPr/>
          <p:nvPr/>
        </p:nvSpPr>
        <p:spPr>
          <a:xfrm>
            <a:off x="7086600" y="2121408"/>
            <a:ext cx="822960" cy="36576"/>
          </a:xfrm>
          <a:prstGeom prst="rect">
            <a:avLst/>
          </a:prstGeom>
          <a:solidFill>
            <a:srgbClr val="F5C842"/>
          </a:solidFill>
          <a:ln w="12700">
            <a:solidFill>
              <a:srgbClr val="F5C842"/>
            </a:solidFill>
            <a:prstDash val="solid"/>
          </a:ln>
        </p:spPr>
      </p:sp>
      <p:sp>
        <p:nvSpPr>
          <p:cNvPr id="20" name="Text 15"/>
          <p:cNvSpPr/>
          <p:nvPr/>
        </p:nvSpPr>
        <p:spPr>
          <a:xfrm>
            <a:off x="6263640" y="2212848"/>
            <a:ext cx="2468880" cy="2084832"/>
          </a:xfrm>
          <a:prstGeom prst="rect">
            <a:avLst/>
          </a:prstGeom>
          <a:noFill/>
          <a:ln/>
        </p:spPr>
        <p:txBody>
          <a:bodyPr wrap="square" rtlCol="0" anchor="t"/>
          <a:lstStyle/>
          <a:p>
            <a:pPr marL="0" indent="0" algn="ctr">
              <a:buNone/>
            </a:pPr>
            <a:r>
              <a:rPr lang="en-US" sz="1000" dirty="0">
                <a:solidFill>
                  <a:srgbClr val="D6EAF8"/>
                </a:solidFill>
                <a:latin typeface="Calibri" pitchFamily="34" charset="0"/>
                <a:ea typeface="Calibri" pitchFamily="34" charset="-122"/>
                <a:cs typeface="Calibri" pitchFamily="34" charset="-120"/>
              </a:rPr>
              <a:t>Building this system demonstrated that database design is not just about storing data — it is about encoding business rules, relationships, and constraints directly into the schema. The five SQL errors found in the raw INSERT data illustrate that data quality at entry is as critical as schema design.</a:t>
            </a:r>
            <a:endParaRPr lang="en-US" sz="1000" dirty="0"/>
          </a:p>
        </p:txBody>
      </p:sp>
      <p:sp>
        <p:nvSpPr>
          <p:cNvPr id="21" name="Text 16"/>
          <p:cNvSpPr/>
          <p:nvPr/>
        </p:nvSpPr>
        <p:spPr>
          <a:xfrm>
            <a:off x="457200" y="4553712"/>
            <a:ext cx="8229600" cy="365760"/>
          </a:xfrm>
          <a:prstGeom prst="rect">
            <a:avLst/>
          </a:prstGeom>
          <a:noFill/>
          <a:ln/>
        </p:spPr>
        <p:txBody>
          <a:bodyPr wrap="square" rtlCol="0" anchor="ctr"/>
          <a:lstStyle/>
          <a:p>
            <a:pPr marL="0" indent="0" algn="ctr">
              <a:buNone/>
            </a:pPr>
            <a:r>
              <a:rPr lang="en-US" sz="1050" i="1" dirty="0">
                <a:solidFill>
                  <a:srgbClr val="CDD5DF"/>
                </a:solidFill>
                <a:latin typeface="Calibri" pitchFamily="34" charset="0"/>
                <a:ea typeface="Calibri" pitchFamily="34" charset="-122"/>
                <a:cs typeface="Calibri" pitchFamily="34" charset="-120"/>
              </a:rPr>
              <a:t>The Customer Details Management System demonstrates that a well-designed relational database is the backbone of every banking operation — from a single teller query to enterprise-level compliance reporting.</a:t>
            </a:r>
            <a:endParaRPr lang="en-US" sz="1050" dirty="0"/>
          </a:p>
        </p:txBody>
      </p:sp>
      <p:sp>
        <p:nvSpPr>
          <p:cNvPr id="22" name="Text 17"/>
          <p:cNvSpPr/>
          <p:nvPr/>
        </p:nvSpPr>
        <p:spPr>
          <a:xfrm>
            <a:off x="457200" y="4919472"/>
            <a:ext cx="8229600" cy="182880"/>
          </a:xfrm>
          <a:prstGeom prst="rect">
            <a:avLst/>
          </a:prstGeom>
          <a:noFill/>
          <a:ln/>
        </p:spPr>
        <p:txBody>
          <a:bodyPr wrap="square" rtlCol="0" anchor="ctr"/>
          <a:lstStyle/>
          <a:p>
            <a:pPr marL="0" indent="0" algn="ctr">
              <a:buNone/>
            </a:pPr>
            <a:r>
              <a:rPr lang="en-US" sz="900" dirty="0">
                <a:solidFill>
                  <a:srgbClr val="C8922A"/>
                </a:solidFill>
                <a:latin typeface="Calibri" pitchFamily="34" charset="0"/>
                <a:ea typeface="Calibri" pitchFamily="34" charset="-122"/>
                <a:cs typeface="Calibri" pitchFamily="34" charset="-120"/>
              </a:rPr>
              <a:t>[Your Name]  ·  [Reg. Number]  ·  Database Systems  ·  May 2025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DE7E0D-4564-48B5-7D61-11FD1309FF5F}"/>
              </a:ext>
            </a:extLst>
          </p:cNvPr>
          <p:cNvPicPr>
            <a:picLocks noChangeAspect="1"/>
          </p:cNvPicPr>
          <p:nvPr/>
        </p:nvPicPr>
        <p:blipFill>
          <a:blip r:embed="rId2"/>
          <a:stretch>
            <a:fillRect/>
          </a:stretch>
        </p:blipFill>
        <p:spPr>
          <a:xfrm>
            <a:off x="791936" y="767443"/>
            <a:ext cx="7249885" cy="4376056"/>
          </a:xfrm>
          <a:prstGeom prst="rect">
            <a:avLst/>
          </a:prstGeom>
        </p:spPr>
      </p:pic>
      <p:sp>
        <p:nvSpPr>
          <p:cNvPr id="6" name="Title 5">
            <a:extLst>
              <a:ext uri="{FF2B5EF4-FFF2-40B4-BE49-F238E27FC236}">
                <a16:creationId xmlns:a16="http://schemas.microsoft.com/office/drawing/2014/main" id="{F1064E56-7F57-DAFD-FDA6-95B474632E54}"/>
              </a:ext>
            </a:extLst>
          </p:cNvPr>
          <p:cNvSpPr>
            <a:spLocks noGrp="1"/>
          </p:cNvSpPr>
          <p:nvPr>
            <p:ph type="title" idx="4294967295"/>
          </p:nvPr>
        </p:nvSpPr>
        <p:spPr>
          <a:xfrm>
            <a:off x="0" y="274638"/>
            <a:ext cx="7886700" cy="993775"/>
          </a:xfrm>
          <a:prstGeom prst="rect">
            <a:avLst/>
          </a:prstGeom>
        </p:spPr>
        <p:txBody>
          <a:bodyPr/>
          <a:lstStyle/>
          <a:p>
            <a:r>
              <a:rPr lang="en-US" sz="1600" b="1" u="sng" dirty="0"/>
              <a:t>ER DIAGRAM FOR A CUSTOMER DETAILS DATABASE  MANAGEMENT SYSTEM</a:t>
            </a:r>
          </a:p>
        </p:txBody>
      </p:sp>
    </p:spTree>
    <p:extLst>
      <p:ext uri="{BB962C8B-B14F-4D97-AF65-F5344CB8AC3E}">
        <p14:creationId xmlns:p14="http://schemas.microsoft.com/office/powerpoint/2010/main" val="1214228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978</TotalTime>
  <Words>3464</Words>
  <Application>Microsoft Office PowerPoint</Application>
  <PresentationFormat>On-screen Show (16:9)</PresentationFormat>
  <Paragraphs>303</Paragraphs>
  <Slides>16</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 DIAGRAM FOR A CUSTOMER DETAILS DATABASE  MANAGEMENT SYSTEM</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Details Management System</dc:title>
  <dc:subject>PptxGenJS Presentation</dc:subject>
  <dc:creator>PptxGenJS</dc:creator>
  <cp:lastModifiedBy>emmanuel joshua</cp:lastModifiedBy>
  <cp:revision>3</cp:revision>
  <dcterms:created xsi:type="dcterms:W3CDTF">2026-05-05T23:15:31Z</dcterms:created>
  <dcterms:modified xsi:type="dcterms:W3CDTF">2026-05-06T21:19:37Z</dcterms:modified>
</cp:coreProperties>
</file>