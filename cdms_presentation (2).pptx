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822960"/>
            <a:ext cx="73152" cy="3291840"/>
          </a:xfrm>
          <a:prstGeom prst="rect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86868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 CUSTOMER DETAILS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SYSTEM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77240" y="21488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Sub-System of the Banking Database Management System (BDMS)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5943600" cy="0"/>
          </a:xfrm>
          <a:prstGeom prst="line">
            <a:avLst/>
          </a:prstGeom>
          <a:noFill/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834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Murungi Emmanuel Joshua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1546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 No: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2025/BCS/128/PS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347472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Systems  |  Lecturer: Mr. Baguma Kenneth  |  May 2025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spc="100" kern="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MBARARA UNIVERSITY OF SCIENCE AND TECHNOLOGY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42062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BCDMS and why does it matter?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97280"/>
            <a:ext cx="8321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Banking Customer Details Management System (BCDMS)</a:t>
            </a:r>
            <a:pPr indent="0" marL="0">
              <a:buNone/>
            </a:pPr>
            <a:r>
              <a:rPr lang="en-US" sz="12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a specialized sub-system of the broader Banking Database Management System (BDMS) designed to manage the complete lifecycle of customer data — from onboarding and KYC capture to account linkage and transaction auditing.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2024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20240"/>
            <a:ext cx="64008" cy="1188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26771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Ugandan SACCOs and microfinance institutions still use paper or spreadsheet-based records, causing data duplication and compliance risks.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92024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920240"/>
            <a:ext cx="64008" cy="1188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0116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19472" y="226771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centralized MySQL relational database — inspired by the Finacle Core Banking System used at Stanbic Bank Uganda — providing a single 'golden record' per customer.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24612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46120"/>
            <a:ext cx="64008" cy="1188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0352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30352" y="359359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and commercial banking environments across East Africa, designed to handle 100–500 transactions per day per branch.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246120"/>
            <a:ext cx="402336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46120"/>
            <a:ext cx="64008" cy="11887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33375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19472" y="3593592"/>
            <a:ext cx="37490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six normalized tables with referential integrity, supporting a complete digital banking backend including mobile, internet, and API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and operational drivers for the BCDMS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347472" cy="34747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097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09728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Data Fragmentation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29000" y="10972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single 'golden record' per customer, preventing duplicate entries and linking all accounts and interactions.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08760"/>
            <a:ext cx="8412480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874520"/>
            <a:ext cx="347472" cy="34747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8745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8745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Customer Service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29000" y="187452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staff to instantly access a complete customer profile, reducing response times and improving retention.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2286000"/>
            <a:ext cx="8412480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51760"/>
            <a:ext cx="347472" cy="34747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651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6517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Efficiency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65176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Automates manual data entry, reducing labour costs and errors associated with physical filing systems.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063240"/>
            <a:ext cx="8412480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429000"/>
            <a:ext cx="347472" cy="34747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4290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342900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(KYC)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429000" y="342900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Know Your Customer requirements and audit trails, reducing compliance risk and fraud exposure.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65760" y="3840480"/>
            <a:ext cx="8412480" cy="0"/>
          </a:xfrm>
          <a:prstGeom prst="line">
            <a:avLst/>
          </a:prstGeom>
          <a:noFill/>
          <a:ln w="7620">
            <a:solidFill>
              <a:srgbClr val="E8E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206240"/>
            <a:ext cx="347472" cy="34747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206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420624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29000" y="42062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Provides the essential backend for mobile banking, internet banking, and API-based financial services.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Domain &amp; User Groups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across all system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43000"/>
          <a:ext cx="8412480" cy="3749040"/>
        </p:xfrm>
        <a:graphic>
          <a:graphicData uri="http://schemas.openxmlformats.org/drawingml/2006/table">
            <a:tbl>
              <a:tblPr/>
              <a:tblGrid>
                <a:gridCol w="2011680"/>
                <a:gridCol w="1554480"/>
                <a:gridCol w="48463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Group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&amp; Responsibilities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Bank Tellers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Read/Write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Capture onboarding data; update contact info. No deletion of KYC.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CRM Managers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Read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Access full customer profiles and histories to tailor banking products.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Compliance Officers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Write (Status)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Review/Approve KYC documents; flag suspicious profiles.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Managers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Supervisory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Oversee branch-specific records; approve account openings.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/ DBAs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Level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 integrity and backups. No access to personal data.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/ 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Only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Review logs and anomaly reports across all tables.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009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structure, normalization, and the six core database tables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657600" cy="0"/>
          </a:xfrm>
          <a:prstGeom prst="line">
            <a:avLst/>
          </a:prstGeom>
          <a:noFill/>
          <a:ln w="25400">
            <a:solidFill>
              <a:srgbClr val="E29C2A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Design &amp; Normalization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structure and 3NF compliance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 Overview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160020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002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customer_bio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2057400" y="16002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personal attributes (Identity &amp; KYC)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210312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1031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account_details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2057400" y="21031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financial attributes (accounts)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02920" y="260604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060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customer_contact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2057400" y="26060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numbers and residential address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02920" y="310896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08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loan_records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2057400" y="31089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history and credit products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" y="361188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118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transaction_history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2057400" y="36118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deposits and withdrawals per account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4114800"/>
            <a:ext cx="1463040" cy="27432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14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branch_details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57400" y="41148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branch information and manager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709160" y="1097280"/>
            <a:ext cx="4069080" cy="35661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46320" y="1188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(3NF)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46320" y="1600200"/>
            <a:ext cx="411480" cy="411480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46320" y="16002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1NF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49240" y="160020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attributes are atomic. First name and last name are stored separately, phone numbers in a dedicated contact table.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46320" y="2606040"/>
            <a:ext cx="411480" cy="411480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2606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2NF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349240" y="260604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non-key attributes are fully dependent on the primary key. No partial dependency exists in any table.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46320" y="3611880"/>
            <a:ext cx="411480" cy="411480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4632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3NF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349240" y="3611880"/>
            <a:ext cx="3291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transitive dependencies. Branch details are referenced via branch_id — the address is never repeated across account rows.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1 &amp; 2: customer_bio &amp; account_details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identity and financial entities (1:M relationship)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customer_bio  —  Primary identity record (PK: customer_id / NIN)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18288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 (NIN)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last_name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date_of_birth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CHAR(1)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('M' or 'F')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051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account_details  —  Financial accounts linked to customers (PK: account_number)</a:t>
            </a:r>
            <a:endParaRPr lang="en-US" sz="10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60520" cy="1828800"/>
        </p:xfrm>
        <a:graphic>
          <a:graphicData uri="http://schemas.openxmlformats.org/drawingml/2006/table">
            <a:tbl>
              <a:tblPr/>
              <a:tblGrid>
                <a:gridCol w="1417320"/>
                <a:gridCol w="1280160"/>
                <a:gridCol w="1463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VARCHAR(16)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 → customer_bio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'savings', 'current'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DECIMAL(15,2)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currency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'USD'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'Active'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291840"/>
            <a:ext cx="8412480" cy="1508760"/>
          </a:xfrm>
          <a:prstGeom prst="rect">
            <a:avLst/>
          </a:prstGeom>
          <a:solidFill>
            <a:srgbClr val="EBF5F6"/>
          </a:solidFill>
          <a:ln w="10160">
            <a:solidFill>
              <a:srgbClr val="83C5B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383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Relationship: One-to-Many (1:M)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48640" y="3675888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Logic: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customer may own multiple accounts (e.g. Savings, Current, Fixed Deposit) simultaneously. The customer_id foreign key in account_details ensures referential integrity — no account can exist without a valid corresponding customer. This enables instant aggregation of total liquidity across all accounts held by one individual.
</a:t>
            </a:r>
            <a:pPr indent="0" marL="0">
              <a:buNone/>
            </a:pPr>
            <a:r>
              <a:rPr lang="en-US" sz="10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Choices: </a:t>
            </a:r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BIGINT for account_number (large numeric sequences); DECIMAL(15,2) for balance (precision, no rounding errors); ENUM for account_type (restricts invalid values).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3 &amp; 4: customer_contact &amp; loan_records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separation and credit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customer_contact  —  Address and communication details (1:1 with customer_bio)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16002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32588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contact_id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Auto Increment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customer_bio, 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NULL, UNIQUE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home_address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051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loan_records  —  Credit products and loan history (1:M with customer_bio)</a:t>
            </a:r>
            <a:endParaRPr lang="en-US" sz="10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60520" cy="141732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41732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NOT NULL, UNIQUE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customer_bio, 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DECIMAL(15,2)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NULL, Default 0.00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loan_status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 ('Active','Cleared','None')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063240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009FAD"/>
          </a:solidFill>
          <a:ln w="12700">
            <a:solidFill>
              <a:srgbClr val="009FA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 Relationship — Identity vs. Contact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3401568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Separating contact data from bio data enhances security. Personal identifiers remain in customer_bio, while frequently changing data (phone, address) are isolated in customer_contact. This prevents duplicate communication profiles and simplifies updates.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2834640"/>
            <a:ext cx="41605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2834640"/>
            <a:ext cx="64008" cy="1965960"/>
          </a:xfrm>
          <a:prstGeom prst="rect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Relationship — Customer Loans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318211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customer can hold multiple loan products over time (mortgage, auto loan, personal credit). This structure is vital for calculating debt-to-income ratio and assessing creditworthiness during new loan applications.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5 &amp; 6: transaction_history &amp; branch_details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auditing and physical branch management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51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transaction_history  —  Every deposit and withdrawal per account (1:M with account_details)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325880"/>
          <a:ext cx="4160520" cy="160020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Auto Increment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account_details, 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trans_type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'Deposit', 'Withdrawal'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DECIMAL(15,2)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trans_date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 CURRENT_TIMESTAMP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105156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branch_details  —  Physical branch network, linked to accounts (1:M with account_details)</a:t>
            </a:r>
            <a:endParaRPr lang="en-US" sz="10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325880"/>
          <a:ext cx="4160520" cy="1417320"/>
        </p:xfrm>
        <a:graphic>
          <a:graphicData uri="http://schemas.openxmlformats.org/drawingml/2006/table">
            <a:tbl>
              <a:tblPr/>
              <a:tblGrid>
                <a:gridCol w="1417320"/>
                <a:gridCol w="1371600"/>
                <a:gridCol w="13716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NOT NULL, UNIQUE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branch_name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branch_manager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VARCHAR(50)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365760" y="3063240"/>
            <a:ext cx="4160520" cy="1737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65760" y="3063240"/>
            <a:ext cx="64008" cy="1737360"/>
          </a:xfrm>
          <a:prstGeom prst="rect">
            <a:avLst/>
          </a:prstGeom>
          <a:solidFill>
            <a:srgbClr val="009FAD"/>
          </a:solidFill>
          <a:ln w="12700">
            <a:solidFill>
              <a:srgbClr val="009FAD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312724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Relationship — Account Ledger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3401568"/>
            <a:ext cx="37490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an account record is relatively static, it generates hundreds of transactions. Linking via account_number creates a permanent 'ledger' — every deposit, withdrawal, and transfer is traceable to its originating account for full audit compliance. CURRENT_TIMESTAMP auto-records the transaction time.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663440" y="2834640"/>
            <a:ext cx="4160520" cy="196596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38100" dist="12700" dir="8100000">
              <a:srgbClr val="000000">
                <a:alpha val="7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63440" y="2834640"/>
            <a:ext cx="64008" cy="1965960"/>
          </a:xfrm>
          <a:prstGeom prst="rect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46320" y="290779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1:M Relationship — Branch Network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846320" y="3182112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branch manages a vast portfolio of accounts. This design enables localized reports — showing which branches perform best in account acquisition and total deposits. The branch_id in account_details enables 3NF compliance by eliminating repeated branch addresses.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Architecture — All Six Tables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referential integrity map across the system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97280"/>
          <a:ext cx="8412480" cy="3657600"/>
        </p:xfrm>
        <a:graphic>
          <a:graphicData uri="http://schemas.openxmlformats.org/drawingml/2006/table">
            <a:tbl>
              <a:tblPr/>
              <a:tblGrid>
                <a:gridCol w="1691640"/>
                <a:gridCol w="1691640"/>
                <a:gridCol w="640080"/>
                <a:gridCol w="1280160"/>
                <a:gridCol w="3108960"/>
              </a:tblGrid>
              <a:tr h="594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Parent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Link Key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Business Logic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customer_bio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customer_contact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9C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customer ↔ one contact record. Separates static identity from mutable contact info.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customer_bio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customer may own multiple accounts (savings, current, fixed deposit).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customer_bio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loan_records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customer may hold multiple loan products over time.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branch_id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branch manages many customer accounts; enables localized branch reporting.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account_details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A23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transaction_history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1:M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9FA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i="1" dirty="0">
                          <a:solidFill>
                            <a:srgbClr val="006D7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account_number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account generates hundreds of transactions — the core financial ledger.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38100" marB="381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280160"/>
            <a:ext cx="7680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500" kern="0" dirty="0">
                <a:solidFill>
                  <a:srgbClr val="E29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Implementation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A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examples, results, views, and data integrity enforcement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154680"/>
            <a:ext cx="3657600" cy="0"/>
          </a:xfrm>
          <a:prstGeom prst="line">
            <a:avLst/>
          </a:prstGeom>
          <a:noFill/>
          <a:ln w="25400">
            <a:solidFill>
              <a:srgbClr val="006D77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Examples 1 &amp; 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across tables and aggregate functions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64592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1:  JOIN — Customer Names + Account Balances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138160" cy="1170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cb.first_name, cb.last_name, ad.account_type, ad.balance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customer_bio cb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INNER JOIN account_details ad ON cb.customer_id = ad.customer_id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ad.balance DESC;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816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Produces a ranked list of all customers with their account type and current balance, linking customer_bio and account_details via the foreign key customer_id.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273552"/>
            <a:ext cx="8412480" cy="14630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31927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2:  Aggregate — Average Balance by Gender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21024"/>
            <a:ext cx="8138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cb.gender, COUNT(*) AS num_customers,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SUM(ad.balance) AS total_balance,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AVG(ad.balance) AS avg_balance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customer_bio cb JOIN account_details ad ON cb.customer_id = ad.customer_id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cb.gender;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478231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Uses SUM, COUNT and AVG to produce the total and average balance segmented by gender — useful for demographic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Examples 3 &amp; 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customers and live balance update after transaction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4630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3:  Filter — Customers with Balance &gt; $10,000 (High-Value Segment)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138160" cy="987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cb.first_name, cb.last_name, ad.account_number, ad.balance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customer_bio cb JOIN account_details ad ON cb.customer_id = ad.customer_id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ad.balance &gt; 10000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ad.balance DESC;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2432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Identifies premium customers instantly — useful for credit card eligibility screening and targeted banking product offers.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2999232"/>
            <a:ext cx="8412480" cy="169164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449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4:  UPDATE — Process a $500 Withdrawal for James Smith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355848"/>
            <a:ext cx="8138160" cy="1216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1: Update the balance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account_details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balance = balance - 500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customer_id = 'CM001';   -- James Smith's NIN-based ID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Step 2: Record the transaction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transaction_history (account_number, trans_type, amount)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 (100001, 'Withdrawal', 500.00);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727448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Demonstrates atomic data modification — the balance is updated without touching any other row, and the transaction is permanently logged.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Examples 5 &amp; 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Referential integrity enforcement and role-based security views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8412480" cy="16002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4300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5:  Referential Integrity — Block deletion of customers with active accounts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444752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Attempting to delete an active customer FAILS: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customer_bio WHERE customer_id = 'CM001';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ERROR 1451: Cannot delete or update a parent row: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 foreign key constraint fails (account_details.customer_id)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Safe delete only after all accounts are closed/soft-deleted first.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65760" y="276148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The FK constraint between account_details and customer_bio prevents orphaned account records. Data integrity is enforced at the database engine level.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127248"/>
            <a:ext cx="8412480" cy="1600200"/>
          </a:xfrm>
          <a:prstGeom prst="rect">
            <a:avLst/>
          </a:prstGeom>
          <a:solidFill>
            <a:srgbClr val="1A2B3C"/>
          </a:solidFill>
          <a:ln w="12700">
            <a:solidFill>
              <a:srgbClr val="1A2B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72968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6:  CREATE VIEW — Teller View (restricted access, no sensitive data)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493008"/>
            <a:ext cx="8138160" cy="11155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VIEW teller_view AS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cb.customer_id, cb.first_name, cb.last_name,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ad.account_number, ad.account_type, ad.balance, ad.status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customer_bio cb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D8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account_details ad ON cb.customer_id = ad.customer_id;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Tellers can only see account-relevant data. Fields like date_of_birth, email, home_address, and password hashes are hidden — enforcing the principle of least privilege.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Benefit-Cost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Quantifiable ROI and strategic value for financial institutions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920240" cy="1005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min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time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(down from 45 min)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14600" y="1097280"/>
            <a:ext cx="1920240" cy="1005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1460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UGX 1.2M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51460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savings in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correction labour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663440" y="1097280"/>
            <a:ext cx="1920240" cy="1005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break-even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812280" y="1097280"/>
            <a:ext cx="1920240" cy="100584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11704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UGX 120M+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12280" y="1627632"/>
            <a:ext cx="1920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efficiency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3C5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" y="2286000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Implementation Costs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578608"/>
          <a:ext cx="4023360" cy="1737360"/>
        </p:xfrm>
        <a:graphic>
          <a:graphicData uri="http://schemas.openxmlformats.org/drawingml/2006/table">
            <a:tbl>
              <a:tblPr/>
              <a:tblGrid>
                <a:gridCol w="219456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Estimate (UGX)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D7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&amp; Infrastructure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21,000,000 – 33,000,000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Development &amp; Migration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20,000,000 – 42,000,000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(3–5 staff/branch)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1,500,000 per person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Maintenance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2B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4,000,000 – 6,000,000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25400" marB="25400">
                    <a:lnL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5D8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6"/>
                    </a:solidFill>
                  </a:tcPr>
                </a:tc>
              </a:tr>
            </a:tbl>
          </a:graphicData>
        </a:graphic>
      </p:graphicFrame>
      <p:sp>
        <p:nvSpPr>
          <p:cNvPr id="20" name="Text 17"/>
          <p:cNvSpPr/>
          <p:nvPr/>
        </p:nvSpPr>
        <p:spPr>
          <a:xfrm>
            <a:off x="4709160" y="2286000"/>
            <a:ext cx="4069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Intangible Benefits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709160" y="2606040"/>
            <a:ext cx="164592" cy="16459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83480" y="25877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customer experience via personalized service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2953512"/>
            <a:ext cx="164592" cy="16459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83480" y="293522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strategic decisions through data analytics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4709160" y="3300984"/>
            <a:ext cx="164592" cy="16459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83480" y="32826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fraud risk through automated KYC checks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4709160" y="3648456"/>
            <a:ext cx="164592" cy="16459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83480" y="36301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 compliance (Bank of Uganda requirements)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4709160" y="3995928"/>
            <a:ext cx="164592" cy="164592"/>
          </a:xfrm>
          <a:prstGeom prst="ellipse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83480" y="397764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foundation for mobile and internet banking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28600"/>
            <a:ext cx="64008" cy="47548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Design &amp; Security Constraints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6858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60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choices, primary keys, foreign keys, and access controls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0"/>
          </a:xfrm>
          <a:prstGeom prst="line">
            <a:avLst/>
          </a:prstGeom>
          <a:noFill/>
          <a:ln w="15240">
            <a:solidFill>
              <a:srgbClr val="83C5B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406908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887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 Selection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572768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BIGINT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828800" y="1572768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numbers — accommodates large numeric sequences without overflow.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02920" y="2103120"/>
            <a:ext cx="37490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94560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DECIMAL(15,2)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828800" y="21945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Balances and loan amounts — mathematical precision; avoids FLOAT rounding errors.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02920" y="2724912"/>
            <a:ext cx="37490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16352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828800" y="28163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account_type, trans_type — restricts input to defined values, ensuring consistency.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02920" y="3346704"/>
            <a:ext cx="37490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3438144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VARCHAR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828800" y="3438144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Names, emails, addresses — flexible string storage to save disk space vs CHAR.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02920" y="3968496"/>
            <a:ext cx="374904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59936"/>
            <a:ext cx="12344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A23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TIMESTAMP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828800" y="4059936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dates — auto-captured with CURRENT_TIMESTAMP for audit accuracy.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1097280"/>
            <a:ext cx="4160520" cy="3749040"/>
          </a:xfrm>
          <a:prstGeom prst="rect">
            <a:avLst/>
          </a:prstGeom>
          <a:solidFill>
            <a:srgbClr val="FFFFFF"/>
          </a:solidFill>
          <a:ln w="10160">
            <a:solidFill>
              <a:srgbClr val="D0DDE5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00600" y="118872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D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Constraints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0600" y="1591056"/>
            <a:ext cx="1188720" cy="2286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1591056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080760" y="1572768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customer_id and account_number uniquely identify every record. Prevents duplicate entries.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800600" y="2121408"/>
            <a:ext cx="384048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2212848"/>
            <a:ext cx="1188720" cy="2286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221284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KEY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080760" y="21945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account_details.customer_id references customer_bio. All child tables reference valid parent records.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00600" y="2743200"/>
            <a:ext cx="384048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2834640"/>
            <a:ext cx="1188720" cy="2286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83464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6080760" y="2816352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email and phone_number — prevents duplicate registrations across the system.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364992"/>
            <a:ext cx="384048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00600" y="3456432"/>
            <a:ext cx="1188720" cy="2286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345643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080760" y="3438144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fields (name, NIN, phone) cannot be left empty. Enforces data completeness at entry.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800600" y="3986784"/>
            <a:ext cx="3840480" cy="0"/>
          </a:xfrm>
          <a:prstGeom prst="line">
            <a:avLst/>
          </a:prstGeom>
          <a:noFill/>
          <a:ln w="6350">
            <a:solidFill>
              <a:srgbClr val="E8EC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800600" y="4078224"/>
            <a:ext cx="1188720" cy="2286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407822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Delete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6080760" y="4059936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are marked 'Inactive' rather than deleted. Preserves audit trail for regulatory compliance.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4300"/>
          </a:xfrm>
          <a:prstGeom prst="rect">
            <a:avLst/>
          </a:prstGeom>
          <a:solidFill>
            <a:srgbClr val="006D77"/>
          </a:solidFill>
          <a:ln w="12700">
            <a:solidFill>
              <a:srgbClr val="006D7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914400"/>
            <a:ext cx="3200400" cy="0"/>
          </a:xfrm>
          <a:prstGeom prst="line">
            <a:avLst/>
          </a:prstGeom>
          <a:noFill/>
          <a:ln w="25400">
            <a:solidFill>
              <a:srgbClr val="E29C2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05156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CDD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BCDMS is a high-value, low-risk solution to the data fragmentation plaguing many Ugandan financial institutions. By replacing disconnected manual processes with a centralized six-table relational database, the system ensures: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737360"/>
            <a:ext cx="201168" cy="201168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1907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regulatory compliance through enforced KYC and audit-trail logging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240280"/>
            <a:ext cx="201168" cy="201168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22199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referential integrity — no orphaned accounts, transactions, or contacts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743200"/>
            <a:ext cx="201168" cy="201168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272491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 protecting sensitive customer data from unauthorized access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01168" cy="201168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278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scalable foundation for mobile banking, internet banking, and third-party API integration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48640" y="3749040"/>
            <a:ext cx="201168" cy="201168"/>
          </a:xfrm>
          <a:prstGeom prst="ellipse">
            <a:avLst/>
          </a:prstGeom>
          <a:solidFill>
            <a:srgbClr val="E29C2A"/>
          </a:solidFill>
          <a:ln w="12700">
            <a:solidFill>
              <a:srgbClr val="E29C2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307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break-even within 12–18 months through documented efficiency gains of UGX 120M+ annually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4800600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AA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by Murungi Emmanuel Joshua  |  Reg: 2025/BCS/128/PS  |  MUST  |  May 2025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Customer Details Management System</dc:title>
  <dc:subject>PptxGenJS Presentation</dc:subject>
  <dc:creator>Murungi Emmanuel Joshua</dc:creator>
  <cp:lastModifiedBy>Murungi Emmanuel Joshua</cp:lastModifiedBy>
  <cp:revision>1</cp:revision>
  <dcterms:created xsi:type="dcterms:W3CDTF">2026-05-13T20:33:41Z</dcterms:created>
  <dcterms:modified xsi:type="dcterms:W3CDTF">2026-05-13T20:33:41Z</dcterms:modified>
</cp:coreProperties>
</file>